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78aa04256df4e04" /><Relationship Type="http://schemas.openxmlformats.org/officeDocument/2006/relationships/extended-properties" Target="/docProps/app.xml" Id="R8eca5df11a5145e0" /><Relationship Type="http://schemas.openxmlformats.org/officeDocument/2006/relationships/officeDocument" Target="/ppt/presentation.xml" Id="R9db31a6232914c67" /></Relationships>
</file>

<file path=ppt/presentation.xml><?xml version="1.0" encoding="utf-8"?>
<p:presentation xmlns:p="http://schemas.openxmlformats.org/presentationml/2006/main">
  <p:sldMasterIdLst>
    <p:sldMasterId xmlns:r="http://schemas.openxmlformats.org/officeDocument/2006/relationships" id="2147483648" r:id="Rc134d8dcff9443e6"/>
  </p:sldMasterIdLst>
  <p:notesMasterIdLst>
    <p:notesMasterId xmlns:r="http://schemas.openxmlformats.org/officeDocument/2006/relationships" r:id="Rda6294f57f604ed2"/>
  </p:notesMasterIdLst>
  <p:sldIdLst>
    <p:sldId xmlns:r="http://schemas.openxmlformats.org/officeDocument/2006/relationships" id="256" r:id="Rd2b4f8d937124206"/>
    <p:sldId xmlns:r="http://schemas.openxmlformats.org/officeDocument/2006/relationships" id="257" r:id="R74010b1db5cf45a2"/>
    <p:sldId xmlns:r="http://schemas.openxmlformats.org/officeDocument/2006/relationships" id="258" r:id="Rfeb8f5b97ead492d"/>
    <p:sldId xmlns:r="http://schemas.openxmlformats.org/officeDocument/2006/relationships" id="259" r:id="R8841948e55df408a"/>
    <p:sldId xmlns:r="http://schemas.openxmlformats.org/officeDocument/2006/relationships" id="260" r:id="R6debeb53aad54acb"/>
    <p:sldId xmlns:r="http://schemas.openxmlformats.org/officeDocument/2006/relationships" id="261" r:id="R115b2e3ace8b4430"/>
    <p:sldId xmlns:r="http://schemas.openxmlformats.org/officeDocument/2006/relationships" id="262" r:id="Rd958ae7a11014375"/>
    <p:sldId xmlns:r="http://schemas.openxmlformats.org/officeDocument/2006/relationships" id="263" r:id="R1348d0c0adfa4e4a"/>
    <p:sldId xmlns:r="http://schemas.openxmlformats.org/officeDocument/2006/relationships" id="264" r:id="Rae496c2f9c14486f"/>
    <p:sldId xmlns:r="http://schemas.openxmlformats.org/officeDocument/2006/relationships" id="265" r:id="Re06e3c0f6b5a47d3"/>
    <p:sldId xmlns:r="http://schemas.openxmlformats.org/officeDocument/2006/relationships" id="266" r:id="R569bb1e77a59478f"/>
    <p:sldId xmlns:r="http://schemas.openxmlformats.org/officeDocument/2006/relationships" id="267" r:id="R871abc7e4b5d4d2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683dca4cf8449bc" /><Relationship Type="http://schemas.openxmlformats.org/officeDocument/2006/relationships/slideMaster" Target="/ppt/slideMasters/slideMaster1.xml" Id="Rc134d8dcff9443e6" /><Relationship Type="http://schemas.openxmlformats.org/officeDocument/2006/relationships/notesMaster" Target="/ppt/notesMasters/notesMaster1.xml" Id="Rda6294f57f604ed2" /><Relationship Type="http://schemas.openxmlformats.org/officeDocument/2006/relationships/presProps" Target="/ppt/presProps.xml" Id="Rb1f6c3b5ae9f44e8" /><Relationship Type="http://schemas.openxmlformats.org/officeDocument/2006/relationships/tableStyles" Target="/ppt/tableStyles.xml" Id="R29ac3953df3f4a3e" /><Relationship Type="http://schemas.openxmlformats.org/officeDocument/2006/relationships/slide" Target="/ppt/slides/slide1.xml" Id="Rd2b4f8d937124206" /><Relationship Type="http://schemas.openxmlformats.org/officeDocument/2006/relationships/slide" Target="/ppt/slides/slide2.xml" Id="R74010b1db5cf45a2" /><Relationship Type="http://schemas.openxmlformats.org/officeDocument/2006/relationships/slide" Target="/ppt/slides/slide3.xml" Id="Rfeb8f5b97ead492d" /><Relationship Type="http://schemas.openxmlformats.org/officeDocument/2006/relationships/slide" Target="/ppt/slides/slide4.xml" Id="R8841948e55df408a" /><Relationship Type="http://schemas.openxmlformats.org/officeDocument/2006/relationships/slide" Target="/ppt/slides/slide5.xml" Id="R6debeb53aad54acb" /><Relationship Type="http://schemas.openxmlformats.org/officeDocument/2006/relationships/slide" Target="/ppt/slides/slide6.xml" Id="R115b2e3ace8b4430" /><Relationship Type="http://schemas.openxmlformats.org/officeDocument/2006/relationships/slide" Target="/ppt/slides/slide7.xml" Id="Rd958ae7a11014375" /><Relationship Type="http://schemas.openxmlformats.org/officeDocument/2006/relationships/slide" Target="/ppt/slides/slide8.xml" Id="R1348d0c0adfa4e4a" /><Relationship Type="http://schemas.openxmlformats.org/officeDocument/2006/relationships/slide" Target="/ppt/slides/slide9.xml" Id="Rae496c2f9c14486f" /><Relationship Type="http://schemas.openxmlformats.org/officeDocument/2006/relationships/slide" Target="/ppt/slides/slide10.xml" Id="Re06e3c0f6b5a47d3" /><Relationship Type="http://schemas.openxmlformats.org/officeDocument/2006/relationships/slide" Target="/ppt/slides/slide11.xml" Id="R569bb1e77a59478f" /><Relationship Type="http://schemas.openxmlformats.org/officeDocument/2006/relationships/slide" Target="/ppt/slides/slide12.xml" Id="R871abc7e4b5d4d2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cc56c3fa11f412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26d603531c04178" /><Relationship Type="http://schemas.openxmlformats.org/officeDocument/2006/relationships/notesMaster" Target="/ppt/notesMasters/notesMaster1.xml" Id="Rc68005e95ef1446d" /></Relationships>
</file>

<file path=ppt/notesSlides/_rels/notesSlide2.xml.rels>&#65279;<?xml version="1.0" encoding="utf-8"?><Relationships xmlns="http://schemas.openxmlformats.org/package/2006/relationships"><Relationship Type="http://schemas.openxmlformats.org/officeDocument/2006/relationships/slide" Target="/ppt/slides/slide2.xml" Id="Rf3fee9a745984a4c" /><Relationship Type="http://schemas.openxmlformats.org/officeDocument/2006/relationships/notesMaster" Target="/ppt/notesMasters/notesMaster1.xml" Id="Ref7a82634e604e31" /></Relationships>
</file>

<file path=ppt/notesSlides/_rels/notesSlide3.xml.rels>&#65279;<?xml version="1.0" encoding="utf-8"?><Relationships xmlns="http://schemas.openxmlformats.org/package/2006/relationships"><Relationship Type="http://schemas.openxmlformats.org/officeDocument/2006/relationships/slide" Target="/ppt/slides/slide3.xml" Id="R20aa212035a8497d" /><Relationship Type="http://schemas.openxmlformats.org/officeDocument/2006/relationships/notesMaster" Target="/ppt/notesMasters/notesMaster1.xml" Id="Rca859aaf493f4b72" /></Relationships>
</file>

<file path=ppt/notesSlides/_rels/notesSlide4.xml.rels>&#65279;<?xml version="1.0" encoding="utf-8"?><Relationships xmlns="http://schemas.openxmlformats.org/package/2006/relationships"><Relationship Type="http://schemas.openxmlformats.org/officeDocument/2006/relationships/slide" Target="/ppt/slides/slide4.xml" Id="Rb74ef35c518743d4" /><Relationship Type="http://schemas.openxmlformats.org/officeDocument/2006/relationships/notesMaster" Target="/ppt/notesMasters/notesMaster1.xml" Id="Refebe305cebc48d7" /></Relationships>
</file>

<file path=ppt/notesSlides/_rels/notesSlide5.xml.rels>&#65279;<?xml version="1.0" encoding="utf-8"?><Relationships xmlns="http://schemas.openxmlformats.org/package/2006/relationships"><Relationship Type="http://schemas.openxmlformats.org/officeDocument/2006/relationships/slide" Target="/ppt/slides/slide5.xml" Id="Rb7928f5ef49c4e97" /><Relationship Type="http://schemas.openxmlformats.org/officeDocument/2006/relationships/notesMaster" Target="/ppt/notesMasters/notesMaster1.xml" Id="Re6adffdcdd774605" /></Relationships>
</file>

<file path=ppt/notesSlides/_rels/notesSlide6.xml.rels>&#65279;<?xml version="1.0" encoding="utf-8"?><Relationships xmlns="http://schemas.openxmlformats.org/package/2006/relationships"><Relationship Type="http://schemas.openxmlformats.org/officeDocument/2006/relationships/slide" Target="/ppt/slides/slide6.xml" Id="R0c4e24e272734692" /><Relationship Type="http://schemas.openxmlformats.org/officeDocument/2006/relationships/notesMaster" Target="/ppt/notesMasters/notesMaster1.xml" Id="R05867a7037c345cb" /></Relationships>
</file>

<file path=ppt/notesSlides/_rels/notesSlide7.xml.rels>&#65279;<?xml version="1.0" encoding="utf-8"?><Relationships xmlns="http://schemas.openxmlformats.org/package/2006/relationships"><Relationship Type="http://schemas.openxmlformats.org/officeDocument/2006/relationships/slide" Target="/ppt/slides/slide7.xml" Id="Rfe10e0d0859a4d47" /><Relationship Type="http://schemas.openxmlformats.org/officeDocument/2006/relationships/notesMaster" Target="/ppt/notesMasters/notesMaster1.xml" Id="R815e186fb7ac41ae" /></Relationships>
</file>

<file path=ppt/notesSlides/_rels/notesSlide8.xml.rels>&#65279;<?xml version="1.0" encoding="utf-8"?><Relationships xmlns="http://schemas.openxmlformats.org/package/2006/relationships"><Relationship Type="http://schemas.openxmlformats.org/officeDocument/2006/relationships/slide" Target="/ppt/slides/slide8.xml" Id="Rf581a63747a44385" /><Relationship Type="http://schemas.openxmlformats.org/officeDocument/2006/relationships/notesMaster" Target="/ppt/notesMasters/notesMaster1.xml" Id="R94b9c3bac3044e5d" /></Relationships>
</file>

<file path=ppt/notesSlides/_rels/notesSlide9.xml.rels>&#65279;<?xml version="1.0" encoding="utf-8"?><Relationships xmlns="http://schemas.openxmlformats.org/package/2006/relationships"><Relationship Type="http://schemas.openxmlformats.org/officeDocument/2006/relationships/slide" Target="/ppt/slides/slide9.xml" Id="R6536a343f8a84726" /><Relationship Type="http://schemas.openxmlformats.org/officeDocument/2006/relationships/notesMaster" Target="/ppt/notesMasters/notesMaster1.xml" Id="Rfa704bc891eb40c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64d6517fe654fcc" /><Relationship Type="http://schemas.openxmlformats.org/officeDocument/2006/relationships/notesMaster" Target="/ppt/notesMasters/notesMaster1.xml" Id="R586db75d8b9445e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ba472a4b70143cc" /><Relationship Type="http://schemas.openxmlformats.org/officeDocument/2006/relationships/notesMaster" Target="/ppt/notesMasters/notesMaster1.xml" Id="R76a317357ef244b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4bdd6909ee14add" /><Relationship Type="http://schemas.openxmlformats.org/officeDocument/2006/relationships/notesMaster" Target="/ppt/notesMasters/notesMaster1.xml" Id="R1c302326149040b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Vaibhavi Sharma</a:t>
            </a:r>
          </a:p>
          <a:p xmlns:a="http://schemas.openxmlformats.org/drawingml/2006/main">
            <a:r>
              <a:t>Slide 1 · Introduction · 20 seconds</a:t>
            </a:r>
          </a:p>
          <a:p xmlns:a="http://schemas.openxmlformats.org/drawingml/2006/main">
            <a:r>
              <a:t>“Hello everyone. We are The Semicolons from SRMIST, Chennai: Vaibhavi Sharma, Kottadi Lakshmi and Vivek Vaddipalli. Our Theme Two project is Smart Guided Troubleshooting. It converts a device complaint into structured guidance using the supplied SIIS reference and deeplink catalog.”</a:t>
            </a:r>
          </a:p>
          <a:p xmlns:a="http://schemas.openxmlformats.org/drawingml/2006/main">
            <a:r>
              <a:t/>
            </a:r>
          </a:p>
          <a:p xmlns:a="http://schemas.openxmlformats.org/drawingml/2006/main">
            <a:r>
              <a:t>Evidence: supplied Samsung PRISM Theme 2 guide and submission template. Local results: docs/benchmark.json; docs/model_smoke.json (one synthetic source, Qwen2.5-0.5B Q4_K_M, llama.cpp b11388 CPU). Engine baseline timing excludes HTTP/network, startup and model inference. Unseen and screen accuracy unmeasured. Catalog URIs masked. Official model: https://huggingface.co/Qwen/Qwen2.5-0.5B-Instruct-GGUF.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Vaibhavi Sharma</a:t>
            </a:r>
          </a:p>
          <a:p xmlns:a="http://schemas.openxmlformats.org/drawingml/2006/main">
            <a:r>
              <a:t>Slide 2 · Problem · 25 seconds</a:t>
            </a:r>
          </a:p>
          <a:p xmlns:a="http://schemas.openxmlformats.org/drawingml/2006/main">
            <a:r>
              <a:t>“A customer describes a symptom, but a support agent still has to find the relevant article and organise its instructions. Our goal is to make that preparation easier. The prototype keeps the reference as the source of the steps, separates manual guidance from mapped actions, and places critical actions last.”</a:t>
            </a:r>
          </a:p>
          <a:p xmlns:a="http://schemas.openxmlformats.org/drawingml/2006/main">
            <a:r>
              <a:t/>
            </a:r>
          </a:p>
          <a:p xmlns:a="http://schemas.openxmlformats.org/drawingml/2006/main">
            <a:r>
              <a:t>Evidence: supplied Samsung PRISM Theme 2 guide and submission template. Local results: docs/benchmark.json; docs/model_smoke.json (one synthetic source, Qwen2.5-0.5B Q4_K_M, llama.cpp b11388 CPU). Engine baseline timing excludes HTTP/network, startup and model inference. Unseen and screen accuracy unmeasured. Catalog URIs masked. Official model: https://huggingface.co/Qwen/Qwen2.5-0.5B-Instruct-GGUF.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Vaibhavi Sharma</a:t>
            </a:r>
          </a:p>
          <a:p xmlns:a="http://schemas.openxmlformats.org/drawingml/2006/main">
            <a:r>
              <a:t>Slide 3 · Existing solutions · 20 seconds</a:t>
            </a:r>
          </a:p>
          <a:p xmlns:a="http://schemas.openxmlformats.org/drawingml/2006/main">
            <a:r>
              <a:t>“An article gives an agent information, while a general model can generate an answer. Our approach adds explicit source selection, catalog checks and structured JSON. These are design distinctions, not measured competitor results. Lakshmi will explain how this works.”</a:t>
            </a:r>
          </a:p>
          <a:p xmlns:a="http://schemas.openxmlformats.org/drawingml/2006/main">
            <a:r>
              <a:t/>
            </a:r>
          </a:p>
          <a:p xmlns:a="http://schemas.openxmlformats.org/drawingml/2006/main">
            <a:r>
              <a:t>Evidence: supplied Samsung PRISM Theme 2 guide and submission template. Local results: docs/benchmark.json; docs/model_smoke.json (one synthetic source, Qwen2.5-0.5B Q4_K_M, llama.cpp b11388 CPU). Engine baseline timing excludes HTTP/network, startup and model inference. Unseen and screen accuracy unmeasured. Catalog URIs masked. Official model: https://huggingface.co/Qwen/Qwen2.5-0.5B-Instruct-GGUF.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Kottadi Lakshmi</a:t>
            </a:r>
          </a:p>
          <a:p xmlns:a="http://schemas.openxmlformats.org/drawingml/2006/main">
            <a:r>
              <a:t>Slide 4 · Architecture · 30 seconds</a:t>
            </a:r>
          </a:p>
          <a:p xmlns:a="http://schemas.openxmlformats.org/drawingml/2006/main">
            <a:r>
              <a:t>“The engine normalises the complaint and retrieves a reference. A valid cache hit returns the stored plan. For a model request, stage one selects source line IDs and stage two selects catalog IDs. Code reconstructs the source steps and checks mappings and the response schema. The offline baseline provides a reproducible path when a model endpoint is unavailable.”</a:t>
            </a:r>
          </a:p>
          <a:p xmlns:a="http://schemas.openxmlformats.org/drawingml/2006/main">
            <a:r>
              <a:t/>
            </a:r>
          </a:p>
          <a:p xmlns:a="http://schemas.openxmlformats.org/drawingml/2006/main">
            <a:r>
              <a:t>Evidence: supplied Samsung PRISM Theme 2 guide and submission template. Local results: docs/benchmark.json; docs/model_smoke.json (one synthetic source, Qwen2.5-0.5B Q4_K_M, llama.cpp b11388 CPU). Engine baseline timing excludes HTTP/network, startup and model inference. Unseen and screen accuracy unmeasured. Catalog URIs masked. Official model: https://huggingface.co/Qwen/Qwen2.5-0.5B-Instruct-GGUF.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Kottadi Lakshmi</a:t>
            </a:r>
          </a:p>
          <a:p xmlns:a="http://schemas.openxmlformats.org/drawingml/2006/main">
            <a:r>
              <a:t>Slide 5 · Live demo · 45 seconds, including clicks</a:t>
            </a:r>
          </a:p>
          <a:p xmlns:a="http://schemas.openxmlformats.org/drawingml/2006/main">
            <a:r>
              <a:t>“Here is the actual dashboard. I select the supplied touchscreen scenario and generate a plan. We can inspect the source instructions and expand a confirmed catalog mapping. The URIs are masked evaluation placeholders; this demo does not execute phone actions. Repeating the complaint shows a cache hit. An unrelated bread-baking question returns no validated plan instead of invented troubleshooting.”</a:t>
            </a:r>
          </a:p>
          <a:p xmlns:a="http://schemas.openxmlformats.org/drawingml/2006/main">
            <a:r>
              <a:t/>
            </a:r>
          </a:p>
          <a:p xmlns:a="http://schemas.openxmlformats.org/drawingml/2006/main">
            <a:r>
              <a:t>**Click sequence:** select `row_21 — Touchscreen issues on a smartphone or tablet` → **Generate plan** → expand one **Confirmed catalog mapping** → generate again → **Test an unknown issue** → generate. Show the actual execution-mode label; say **offline baseline** if that is what it shows. Switch back to slide 6. Do not wait for a cold local model request during this short demonstration.</a:t>
            </a:r>
          </a:p>
          <a:p xmlns:a="http://schemas.openxmlformats.org/drawingml/2006/main">
            <a:r>
              <a:t/>
            </a:r>
          </a:p>
          <a:p xmlns:a="http://schemas.openxmlformats.org/drawingml/2006/main">
            <a:r>
              <a:t>Evidence: supplied Samsung PRISM Theme 2 guide and submission template. Local results: docs/benchmark.json; docs/model_smoke.json (one synthetic source, Qwen2.5-0.5B Q4_K_M, llama.cpp b11388 CPU). Engine baseline timing excludes HTTP/network, startup and model inference. Unseen and screen accuracy unmeasured. Catalog URIs masked. Official model: https://huggingface.co/Qwen/Qwen2.5-0.5B-Instruct-GGUF.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Kottadi Lakshmi</a:t>
            </a:r>
          </a:p>
          <a:p xmlns:a="http://schemas.openxmlformats.org/drawingml/2006/main">
            <a:r>
              <a:t>Slide 6 · Technology · 25 seconds</a:t>
            </a:r>
          </a:p>
          <a:p xmlns:a="http://schemas.openxmlformats.org/drawingml/2006/main">
            <a:r>
              <a:t>“We use Python, FastAPI, Pydantic and SQLite. Default retrieval uses TF-IDF with synonyms. The supplied dataset has twenty queries and five hundred seventy-eight catalog entries. We also tested one two-stage request with a local Qwen half-billion-parameter model through llama.cpp on CPU. Docker packaging is included but remains unverified. Vivek will cover the evidence and next steps.”</a:t>
            </a:r>
          </a:p>
          <a:p xmlns:a="http://schemas.openxmlformats.org/drawingml/2006/main">
            <a:r>
              <a:t/>
            </a:r>
          </a:p>
          <a:p xmlns:a="http://schemas.openxmlformats.org/drawingml/2006/main">
            <a:r>
              <a:t>Evidence: supplied Samsung PRISM Theme 2 guide and submission template. Local results: docs/benchmark.json; docs/model_smoke.json (one synthetic source, Qwen2.5-0.5B Q4_K_M, llama.cpp b11388 CPU). Engine baseline timing excludes HTTP/network, startup and model inference. Unseen and screen accuracy unmeasured. Catalog URIs masked. Official model: https://huggingface.co/Qwen/Qwen2.5-0.5B-Instruct-GGUF.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Vivek Vaddipalli</a:t>
            </a:r>
          </a:p>
          <a:p xmlns:a="http://schemas.openxmlformats.org/drawingml/2006/main">
            <a:r>
              <a:t>Slide 7 · Impact · 20 seconds</a:t>
            </a:r>
          </a:p>
          <a:p xmlns:a="http://schemas.openxmlformats.org/drawingml/2006/main">
            <a:r>
              <a:t>“Support agents can review an ordered plan and its mappings in one workspace. Repeated requests can reuse cached JSON without another inference call. These benefits motivate a support pilot, but we have not measured agent time savings or customer outcomes. Device integration is still needed for the masked destinations.”</a:t>
            </a:r>
          </a:p>
          <a:p xmlns:a="http://schemas.openxmlformats.org/drawingml/2006/main">
            <a:r>
              <a:t/>
            </a:r>
          </a:p>
          <a:p xmlns:a="http://schemas.openxmlformats.org/drawingml/2006/main">
            <a:r>
              <a:t>Evidence: supplied Samsung PRISM Theme 2 guide and submission template. Local results: docs/benchmark.json; docs/model_smoke.json (one synthetic source, Qwen2.5-0.5B Q4_K_M, llama.cpp b11388 CPU). Engine baseline timing excludes HTTP/network, startup and model inference. Unseen and screen accuracy unmeasured. Catalog URIs masked. Official model: https://huggingface.co/Qwen/Qwen2.5-0.5B-Instruct-GGUF.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Vivek Vaddipalli</a:t>
            </a:r>
          </a:p>
          <a:p xmlns:a="http://schemas.openxmlformats.org/drawingml/2006/main">
            <a:r>
              <a:t>Slide 8 · Results and limits · 35 seconds</a:t>
            </a:r>
          </a:p>
          <a:p xmlns:a="http://schemas.openxmlformats.org/drawingml/2006/main">
            <a:r>
              <a:t>“All twenty supplied queries produced schema-valid, nonempty baseline responses, with zero web URL leaks in the steps. Cached engine P95 was zero point eight three three milliseconds; this excludes HTTP, startup and model inference. The recorded cold local model smoke request took nine point four three seconds, exceeding the eight-second target. Unseen paraphrase accuracy and exact-screen accuracy remain unmeasured. Source conditions and screen grouping also need further review.”</a:t>
            </a:r>
          </a:p>
          <a:p xmlns:a="http://schemas.openxmlformats.org/drawingml/2006/main">
            <a:r>
              <a:t/>
            </a:r>
          </a:p>
          <a:p xmlns:a="http://schemas.openxmlformats.org/drawingml/2006/main">
            <a:r>
              <a:t>Evidence: supplied Samsung PRISM Theme 2 guide and submission template. Local results: docs/benchmark.json; docs/model_smoke.json (one synthetic source, Qwen2.5-0.5B Q4_K_M, llama.cpp b11388 CPU). Engine baseline timing excludes HTTP/network, startup and model inference. Unseen and screen accuracy unmeasured. Catalog URIs masked. Official model: https://huggingface.co/Qwen/Qwen2.5-0.5B-Instruct-GGUF.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Vivek Vaddipalli</a:t>
            </a:r>
          </a:p>
          <a:p xmlns:a="http://schemas.openxmlformats.org/drawingml/2006/main">
            <a:r>
              <a:t>Slide 9 · Roadmap · 20 seconds</a:t>
            </a:r>
          </a:p>
          <a:p xmlns:a="http://schemas.openxmlformats.org/drawingml/2006/main">
            <a:r>
              <a:t>“Next, we will review conditional context and screen grouping, evaluate the model across all supplied scenarios, and add unseen paraphrase tests. We then plan broader domain and scale testing. Ten thousand scenarios is a future target, not a demonstrated deployment.”</a:t>
            </a:r>
          </a:p>
          <a:p xmlns:a="http://schemas.openxmlformats.org/drawingml/2006/main">
            <a:r>
              <a:t/>
            </a:r>
          </a:p>
          <a:p xmlns:a="http://schemas.openxmlformats.org/drawingml/2006/main">
            <a:r>
              <a:t>Evidence: supplied Samsung PRISM Theme 2 guide and submission template. Local results: docs/benchmark.json; docs/model_smoke.json (one synthetic source, Qwen2.5-0.5B Q4_K_M, llama.cpp b11388 CPU). Engine baseline timing excludes HTTP/network, startup and model inference. Unseen and screen accuracy unmeasured. Catalog URIs masked. Official model: https://huggingface.co/Qwen/Qwen2.5-0.5B-Instruct-GGUF.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Vivek Vaddipalli</a:t>
            </a:r>
          </a:p>
          <a:p xmlns:a="http://schemas.openxmlformats.org/drawingml/2006/main">
            <a:r>
              <a:t>Slide 10 · Reliability · 20 seconds</a:t>
            </a:r>
          </a:p>
          <a:p xmlns:a="http://schemas.openxmlformats.org/drawingml/2006/main">
            <a:r>
              <a:t>“Our distinguishing feature is the combination of source selection and code checks. The model chooses IDs rather than writing destination URIs. Invalid selections fail closed, and cache identity includes the source. Nine automated tests pass. A full model-versus-baseline ablation remains future work.”</a:t>
            </a:r>
          </a:p>
          <a:p xmlns:a="http://schemas.openxmlformats.org/drawingml/2006/main">
            <a:r>
              <a:t/>
            </a:r>
          </a:p>
          <a:p xmlns:a="http://schemas.openxmlformats.org/drawingml/2006/main">
            <a:r>
              <a:t>Evidence: supplied Samsung PRISM Theme 2 guide and submission template. Local results: docs/benchmark.json; docs/model_smoke.json (one synthetic source, Qwen2.5-0.5B Q4_K_M, llama.cpp b11388 CPU). Engine baseline timing excludes HTTP/network, startup and model inference. Unseen and screen accuracy unmeasured. Catalog URIs masked. Official model: https://huggingface.co/Qwen/Qwen2.5-0.5B-Instruct-GGUF.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Vivek Vaddipalli</a:t>
            </a:r>
          </a:p>
          <a:p xmlns:a="http://schemas.openxmlformats.org/drawingml/2006/main">
            <a:r>
              <a:t>Slide 11 · Submission · 15 seconds</a:t>
            </a:r>
          </a:p>
          <a:p xmlns:a="http://schemas.openxmlformats.org/drawingml/2006/main">
            <a:r>
              <a:t>“The public repository includes the prototype, setup instructions, tests and this presentation. The video link is currently a placeholder. We will add the accessible recording link before the final release tag and complete the required disclosure signoff.”</a:t>
            </a:r>
          </a:p>
          <a:p xmlns:a="http://schemas.openxmlformats.org/drawingml/2006/main">
            <a:r>
              <a:t/>
            </a:r>
          </a:p>
          <a:p xmlns:a="http://schemas.openxmlformats.org/drawingml/2006/main">
            <a:r>
              <a:t>Evidence: supplied Samsung PRISM Theme 2 guide and submission template. Local results: docs/benchmark.json; docs/model_smoke.json (one synthetic source, Qwen2.5-0.5B Q4_K_M, llama.cpp b11388 CPU). Engine baseline timing excludes HTTP/network, startup and model inference. Unseen and screen accuracy unmeasured. Catalog URIs masked. Official model: https://huggingface.co/Qwen/Qwen2.5-0.5B-Instruct-GGUF.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Vivek Vaddipalli</a:t>
            </a:r>
          </a:p>
          <a:p xmlns:a="http://schemas.openxmlformats.org/drawingml/2006/main">
            <a:r>
              <a:t>Slide 12 · Closing · 10 seconds</a:t>
            </a:r>
          </a:p>
          <a:p xmlns:a="http://schemas.openxmlformats.org/drawingml/2006/main">
            <a:r>
              <a:t>“Thank you. Our repository is linked on the slide. We welcome questions about source grounding, catalog matching and the evaluation plan.”</a:t>
            </a:r>
          </a:p>
          <a:p xmlns:a="http://schemas.openxmlformats.org/drawingml/2006/main">
            <a:r>
              <a:t/>
            </a:r>
          </a:p>
          <a:p xmlns:a="http://schemas.openxmlformats.org/drawingml/2006/main">
            <a:r>
              <a:t>Evidence: supplied Samsung PRISM Theme 2 guide and submission template. Local results: docs/benchmark.json; docs/model_smoke.json (one synthetic source, Qwen2.5-0.5B Q4_K_M, llama.cpp b11388 CPU). Engine baseline timing excludes HTTP/network, startup and model inference. Unseen and screen accuracy unmeasured. Catalog URIs masked. Official model: https://huggingface.co/Qwen/Qwen2.5-0.5B-Instruct-GGUF.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d4da038d3ff462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82596338de3489c" /><Relationship Type="http://schemas.openxmlformats.org/officeDocument/2006/relationships/slideLayout" Target="/ppt/slideLayouts/slideLayout1.xml" Id="Re1ef0e04446e430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1ef0e04446e430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198eb8b4e2349f9" /><Relationship Type="http://schemas.openxmlformats.org/officeDocument/2006/relationships/notesSlide" Target="/ppt/notesSlides/notesSlide1.xml" Id="R6e8c597edf204ba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7402cb11f2a4c62" /><Relationship Type="http://schemas.openxmlformats.org/officeDocument/2006/relationships/notesSlide" Target="/ppt/notesSlides/notesSlide2.xml" Id="R379324dd37ff4fb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5fab67fcd3b4d9c" /><Relationship Type="http://schemas.openxmlformats.org/officeDocument/2006/relationships/notesSlide" Target="/ppt/notesSlides/notesSlide3.xml" Id="R9cc0f63be02a459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84571be14fd4f29" /><Relationship Type="http://schemas.openxmlformats.org/officeDocument/2006/relationships/notesSlide" Target="/ppt/notesSlides/notesSlide4.xml" Id="Rf52e4eedac3d47c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20e86c45b9c40c6" /><Relationship Type="http://schemas.openxmlformats.org/officeDocument/2006/relationships/image" Target="/ppt/media/image.jpeg" Id="R6f043835ec1c4c3c" /><Relationship Type="http://schemas.openxmlformats.org/officeDocument/2006/relationships/notesSlide" Target="/ppt/notesSlides/notesSlide5.xml" Id="Rfa98449c479c4d9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c670d6996a741f7" /><Relationship Type="http://schemas.openxmlformats.org/officeDocument/2006/relationships/notesSlide" Target="/ppt/notesSlides/notesSlide6.xml" Id="R1ecc9712867a4e3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e959a85c73d4d14" /><Relationship Type="http://schemas.openxmlformats.org/officeDocument/2006/relationships/notesSlide" Target="/ppt/notesSlides/notesSlide7.xml" Id="Re8ad791a36ce411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dd37ba30dd74b32" /><Relationship Type="http://schemas.openxmlformats.org/officeDocument/2006/relationships/notesSlide" Target="/ppt/notesSlides/notesSlide8.xml" Id="R1129fe70632b480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32aed8d2e1646cb" /><Relationship Type="http://schemas.openxmlformats.org/officeDocument/2006/relationships/notesSlide" Target="/ppt/notesSlides/notesSlide9.xml" Id="R9b2620bcabf8467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dd54f34810446ca" /><Relationship Type="http://schemas.openxmlformats.org/officeDocument/2006/relationships/notesSlide" Target="/ppt/notesSlides/notesSlide10.xml" Id="R39c2477fb9e44cd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c6c7158559c47b1" /><Relationship Type="http://schemas.openxmlformats.org/officeDocument/2006/relationships/notesSlide" Target="/ppt/notesSlides/notesSlide11.xml" Id="Rc83ef146a9604b4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2b1e0ce24134b21" /><Relationship Type="http://schemas.openxmlformats.org/officeDocument/2006/relationships/notesSlide" Target="/ppt/notesSlides/notesSlide12.xml" Id="Rf4f228a1869b4abe" /></Relationships>
</file>

<file path=ppt/slides/slide1.xml><?xml version="1.0" encoding="utf-8"?>
<p:sld xmlns:p="http://schemas.openxmlformats.org/presentationml/2006/main">
  <p:cSld>
    <p:bg>
      <p:bgPr>
        <a:solidFill xmlns:a="http://schemas.openxmlformats.org/drawingml/2006/main">
          <a:srgbClr val="14213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8F876DF-2988-4B6D-A24F-BA39302779B8}"/>
              </a:ext>
            </a:extLst>
          </p:cNvPr>
          <p:cNvSpPr>
            <a:spLocks xmlns:a="http://schemas.openxmlformats.org/drawingml/2006/main" noGrp="1"/>
          </p:cNvSpPr>
          <p:nvPr/>
        </p:nvSpPr>
        <p:spPr>
          <a:xfrm xmlns:a="http://schemas.openxmlformats.org/drawingml/2006/main">
            <a:off x="609600" y="28575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8CE5CB"/>
                </a:solidFill>
                <a:latin typeface="Aptos"/>
                <a:ea typeface="Aptos"/>
                <a:cs typeface="Aptos"/>
              </a:defRPr>
            </a:pPr>
            <a:r>
              <a:rPr sz="1125" b="1">
                <a:solidFill>
                  <a:srgbClr val="8CE5CB"/>
                </a:solidFill>
                <a:latin typeface="Aptos"/>
                <a:ea typeface="Aptos"/>
                <a:cs typeface="Aptos"/>
              </a:rPr>
              <a:t>SAMSUNG PRISM   /   THE SEMICOLONS   /   THEME 02</a:t>
            </a:r>
          </a:p>
        </p:txBody>
      </p:sp>
      <p:sp>
        <p:nvSpPr>
          <p:cNvPr id="2" name="">
            <a:extLst xmlns:a="http://schemas.openxmlformats.org/drawingml/2006/main">
              <a:ext uri="{FF2B5EF4-FFF2-40B4-BE49-F238E27FC236}">
                <a16:creationId xmlns:a16="http://schemas.microsoft.com/office/drawing/2014/main" id="{056D9B91-E84E-47E0-B9CA-2B606BAF8862}"/>
              </a:ext>
            </a:extLst>
          </p:cNvPr>
          <p:cNvSpPr>
            <a:spLocks xmlns:a="http://schemas.openxmlformats.org/drawingml/2006/main" noGrp="1"/>
          </p:cNvSpPr>
          <p:nvPr/>
        </p:nvSpPr>
        <p:spPr>
          <a:xfrm xmlns:a="http://schemas.openxmlformats.org/drawingml/2006/main">
            <a:off x="609600" y="642937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AAB7CC"/>
                </a:solidFill>
                <a:latin typeface="Aptos"/>
                <a:ea typeface="Aptos"/>
                <a:cs typeface="Aptos"/>
              </a:defRPr>
            </a:pPr>
            <a:r>
              <a:rPr sz="1050" b="0">
                <a:solidFill>
                  <a:srgbClr val="AAB7CC"/>
                </a:solidFill>
                <a:latin typeface="Aptos"/>
                <a:ea typeface="Aptos"/>
                <a:cs typeface="Aptos"/>
              </a:rPr>
              <a:t>SRMIST, Chennai · Smart Guided Troubleshooting</a:t>
            </a:r>
          </a:p>
        </p:txBody>
      </p:sp>
      <p:sp>
        <p:nvSpPr>
          <p:cNvPr id="3" name="">
            <a:extLst xmlns:a="http://schemas.openxmlformats.org/drawingml/2006/main">
              <a:ext uri="{FF2B5EF4-FFF2-40B4-BE49-F238E27FC236}">
                <a16:creationId xmlns:a16="http://schemas.microsoft.com/office/drawing/2014/main" id="{2F8371D7-4625-41F4-BDD6-C89AB74E064C}"/>
              </a:ext>
            </a:extLst>
          </p:cNvPr>
          <p:cNvSpPr>
            <a:spLocks xmlns:a="http://schemas.openxmlformats.org/drawingml/2006/main" noGrp="1"/>
          </p:cNvSpPr>
          <p:nvPr/>
        </p:nvSpPr>
        <p:spPr>
          <a:xfrm xmlns:a="http://schemas.openxmlformats.org/drawingml/2006/main">
            <a:off x="11049000" y="6429375"/>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AAB7CC"/>
                </a:solidFill>
                <a:latin typeface="Aptos"/>
                <a:ea typeface="Aptos"/>
                <a:cs typeface="Aptos"/>
              </a:defRPr>
            </a:pPr>
            <a:r>
              <a:rPr sz="1050" b="0">
                <a:solidFill>
                  <a:srgbClr val="AAB7CC"/>
                </a:solidFill>
                <a:latin typeface="Aptos"/>
                <a:ea typeface="Aptos"/>
                <a:cs typeface="Aptos"/>
              </a:rPr>
              <a:t>01</a:t>
            </a:r>
          </a:p>
        </p:txBody>
      </p:sp>
      <p:sp>
        <p:nvSpPr>
          <p:cNvPr id="4" name="">
            <a:extLst xmlns:a="http://schemas.openxmlformats.org/drawingml/2006/main">
              <a:ext uri="{FF2B5EF4-FFF2-40B4-BE49-F238E27FC236}">
                <a16:creationId xmlns:a16="http://schemas.microsoft.com/office/drawing/2014/main" id="{48694DAB-8BAF-4CEB-999D-824768569CF6}"/>
              </a:ext>
            </a:extLst>
          </p:cNvPr>
          <p:cNvSpPr>
            <a:spLocks xmlns:a="http://schemas.openxmlformats.org/drawingml/2006/main" noGrp="1"/>
          </p:cNvSpPr>
          <p:nvPr/>
        </p:nvSpPr>
        <p:spPr>
          <a:xfrm xmlns:a="http://schemas.openxmlformats.org/drawingml/2006/main">
            <a:off x="609600" y="1333500"/>
            <a:ext cx="10953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950" b="1">
                <a:solidFill>
                  <a:srgbClr val="FFFFFF"/>
                </a:solidFill>
                <a:latin typeface="Aptos"/>
                <a:ea typeface="Aptos"/>
                <a:cs typeface="Aptos"/>
              </a:defRPr>
            </a:pPr>
            <a:r>
              <a:rPr sz="4950" b="1">
                <a:solidFill>
                  <a:srgbClr val="FFFFFF"/>
                </a:solidFill>
                <a:latin typeface="Aptos"/>
                <a:ea typeface="Aptos"/>
                <a:cs typeface="Aptos"/>
              </a:rPr>
              <a:t>Smart Guided</a:t>
            </a:r>
          </a:p>
          <a:p xmlns:a="http://schemas.openxmlformats.org/drawingml/2006/main">
            <a:pPr>
              <a:defRPr sz="4950" b="1">
                <a:solidFill>
                  <a:srgbClr val="FFFFFF"/>
                </a:solidFill>
                <a:latin typeface="Aptos"/>
                <a:ea typeface="Aptos"/>
                <a:cs typeface="Aptos"/>
              </a:defRPr>
            </a:pPr>
            <a:r>
              <a:rPr sz="4950" b="1">
                <a:solidFill>
                  <a:srgbClr val="FFFFFF"/>
                </a:solidFill>
                <a:latin typeface="Aptos"/>
                <a:ea typeface="Aptos"/>
                <a:cs typeface="Aptos"/>
              </a:rPr>
              <a:t>Troubleshooting</a:t>
            </a:r>
          </a:p>
        </p:txBody>
      </p:sp>
      <p:sp>
        <p:nvSpPr>
          <p:cNvPr id="5" name="">
            <a:extLst xmlns:a="http://schemas.openxmlformats.org/drawingml/2006/main">
              <a:ext uri="{FF2B5EF4-FFF2-40B4-BE49-F238E27FC236}">
                <a16:creationId xmlns:a16="http://schemas.microsoft.com/office/drawing/2014/main" id="{7616ACC5-F6C1-4620-830C-A1B19EBF79AA}"/>
              </a:ext>
            </a:extLst>
          </p:cNvPr>
          <p:cNvSpPr>
            <a:spLocks xmlns:a="http://schemas.openxmlformats.org/drawingml/2006/main" noGrp="1"/>
          </p:cNvSpPr>
          <p:nvPr/>
        </p:nvSpPr>
        <p:spPr>
          <a:xfrm xmlns:a="http://schemas.openxmlformats.org/drawingml/2006/main">
            <a:off x="647700" y="333375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8CE5CB"/>
                </a:solidFill>
                <a:latin typeface="Aptos"/>
                <a:ea typeface="Aptos"/>
                <a:cs typeface="Aptos"/>
              </a:defRPr>
            </a:pPr>
            <a:r>
              <a:rPr sz="2175" b="0">
                <a:solidFill>
                  <a:srgbClr val="8CE5CB"/>
                </a:solidFill>
                <a:latin typeface="Aptos"/>
                <a:ea typeface="Aptos"/>
                <a:cs typeface="Aptos"/>
              </a:rPr>
              <a:t>Source instructions. Validated catalog mappings.</a:t>
            </a:r>
          </a:p>
        </p:txBody>
      </p:sp>
      <p:sp>
        <p:nvSpPr>
          <p:cNvPr id="6" name="">
            <a:extLst xmlns:a="http://schemas.openxmlformats.org/drawingml/2006/main">
              <a:ext uri="{FF2B5EF4-FFF2-40B4-BE49-F238E27FC236}">
                <a16:creationId xmlns:a16="http://schemas.microsoft.com/office/drawing/2014/main" id="{3153951E-BF10-4F22-BC9A-154040E7605D}"/>
              </a:ext>
            </a:extLst>
          </p:cNvPr>
          <p:cNvSpPr>
            <a:spLocks xmlns:a="http://schemas.openxmlformats.org/drawingml/2006/main" noGrp="1"/>
          </p:cNvSpPr>
          <p:nvPr/>
        </p:nvSpPr>
        <p:spPr>
          <a:xfrm xmlns:a="http://schemas.openxmlformats.org/drawingml/2006/main">
            <a:off x="647700" y="404812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C8D2E3"/>
                </a:solidFill>
                <a:latin typeface="Aptos"/>
                <a:ea typeface="Aptos"/>
                <a:cs typeface="Aptos"/>
              </a:defRPr>
            </a:pPr>
            <a:r>
              <a:rPr sz="1725" b="0">
                <a:solidFill>
                  <a:srgbClr val="C8D2E3"/>
                </a:solidFill>
                <a:latin typeface="Aptos"/>
                <a:ea typeface="Aptos"/>
                <a:cs typeface="Aptos"/>
              </a:rPr>
              <a:t>Theme 2 · Guided Troubleshooting</a:t>
            </a:r>
          </a:p>
          <a:p xmlns:a="http://schemas.openxmlformats.org/drawingml/2006/main">
            <a:pPr>
              <a:defRPr sz="1725" b="0">
                <a:solidFill>
                  <a:srgbClr val="C8D2E3"/>
                </a:solidFill>
                <a:latin typeface="Aptos"/>
                <a:ea typeface="Aptos"/>
                <a:cs typeface="Aptos"/>
              </a:defRPr>
            </a:pPr>
            <a:r>
              <a:rPr sz="1725" b="0">
                <a:solidFill>
                  <a:srgbClr val="C8D2E3"/>
                </a:solidFill>
                <a:latin typeface="Aptos"/>
                <a:ea typeface="Aptos"/>
                <a:cs typeface="Aptos"/>
              </a:rPr>
              <a:t>SRM Institute of Science and Technology, Chennai</a:t>
            </a:r>
          </a:p>
        </p:txBody>
      </p:sp>
      <p:sp>
        <p:nvSpPr>
          <p:cNvPr id="7" name="">
            <a:extLst xmlns:a="http://schemas.openxmlformats.org/drawingml/2006/main">
              <a:ext uri="{FF2B5EF4-FFF2-40B4-BE49-F238E27FC236}">
                <a16:creationId xmlns:a16="http://schemas.microsoft.com/office/drawing/2014/main" id="{B2FDE7C9-32A5-4BEE-944A-E09C14F171AD}"/>
              </a:ext>
            </a:extLst>
          </p:cNvPr>
          <p:cNvSpPr>
            <a:spLocks xmlns:a="http://schemas.openxmlformats.org/drawingml/2006/main" noGrp="1"/>
          </p:cNvSpPr>
          <p:nvPr/>
        </p:nvSpPr>
        <p:spPr>
          <a:xfrm xmlns:a="http://schemas.openxmlformats.org/drawingml/2006/main">
            <a:off x="647700" y="4905375"/>
            <a:ext cx="66675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FFFFFF"/>
                </a:solidFill>
                <a:latin typeface="Aptos"/>
                <a:ea typeface="Aptos"/>
                <a:cs typeface="Aptos"/>
              </a:defRPr>
            </a:pPr>
            <a:r>
              <a:rPr sz="1575" b="0">
                <a:solidFill>
                  <a:srgbClr val="FFFFFF"/>
                </a:solidFill>
                <a:latin typeface="Aptos"/>
                <a:ea typeface="Aptos"/>
                <a:cs typeface="Aptos"/>
              </a:rPr>
              <a:t>Vaibhavi Sharma · bv5156@srmist.edu.in</a:t>
            </a:r>
          </a:p>
          <a:p xmlns:a="http://schemas.openxmlformats.org/drawingml/2006/main">
            <a:pPr>
              <a:defRPr sz="1575" b="0">
                <a:solidFill>
                  <a:srgbClr val="FFFFFF"/>
                </a:solidFill>
                <a:latin typeface="Aptos"/>
                <a:ea typeface="Aptos"/>
                <a:cs typeface="Aptos"/>
              </a:defRPr>
            </a:pPr>
            <a:r>
              <a:rPr sz="1575" b="0">
                <a:solidFill>
                  <a:srgbClr val="FFFFFF"/>
                </a:solidFill>
                <a:latin typeface="Aptos"/>
                <a:ea typeface="Aptos"/>
                <a:cs typeface="Aptos"/>
              </a:rPr>
              <a:t>Kottadi Lakshmi · lk9601@srmist.edu.in</a:t>
            </a:r>
          </a:p>
          <a:p xmlns:a="http://schemas.openxmlformats.org/drawingml/2006/main">
            <a:pPr>
              <a:defRPr sz="1575" b="0">
                <a:solidFill>
                  <a:srgbClr val="FFFFFF"/>
                </a:solidFill>
                <a:latin typeface="Aptos"/>
                <a:ea typeface="Aptos"/>
                <a:cs typeface="Aptos"/>
              </a:defRPr>
            </a:pPr>
            <a:r>
              <a:rPr sz="1575" b="0">
                <a:solidFill>
                  <a:srgbClr val="FFFFFF"/>
                </a:solidFill>
                <a:latin typeface="Aptos"/>
                <a:ea typeface="Aptos"/>
                <a:cs typeface="Aptos"/>
              </a:rPr>
              <a:t>Vivek Vaddipalli · vv8326@srmist.edu.in</a:t>
            </a:r>
          </a:p>
        </p:txBody>
      </p:sp>
      <p:sp>
        <p:nvSpPr>
          <p:cNvPr id="8" name="">
            <a:extLst xmlns:a="http://schemas.openxmlformats.org/drawingml/2006/main">
              <a:ext uri="{FF2B5EF4-FFF2-40B4-BE49-F238E27FC236}">
                <a16:creationId xmlns:a16="http://schemas.microsoft.com/office/drawing/2014/main" id="{6F671FC6-AFF7-40EC-B66F-8A1C6D467242}"/>
              </a:ext>
            </a:extLst>
          </p:cNvPr>
          <p:cNvSpPr>
            <a:spLocks xmlns:a="http://schemas.openxmlformats.org/drawingml/2006/main" noGrp="1"/>
          </p:cNvSpPr>
          <p:nvPr/>
        </p:nvSpPr>
        <p:spPr>
          <a:xfrm xmlns:a="http://schemas.openxmlformats.org/drawingml/2006/main">
            <a:off x="8239125" y="4981575"/>
            <a:ext cx="323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8CE5CB"/>
                </a:solidFill>
                <a:latin typeface="Aptos"/>
                <a:ea typeface="Aptos"/>
                <a:cs typeface="Aptos"/>
              </a:defRPr>
            </a:pPr>
            <a:r>
              <a:rPr sz="1125" b="1">
                <a:solidFill>
                  <a:srgbClr val="8CE5CB"/>
                </a:solidFill>
                <a:latin typeface="Aptos"/>
                <a:ea typeface="Aptos"/>
                <a:cs typeface="Aptos"/>
              </a:rPr>
              <a:t>PUBLIC REPOSITORY</a:t>
            </a:r>
          </a:p>
        </p:txBody>
      </p:sp>
      <p:sp>
        <p:nvSpPr>
          <p:cNvPr id="9" name="">
            <a:extLst xmlns:a="http://schemas.openxmlformats.org/drawingml/2006/main">
              <a:ext uri="{FF2B5EF4-FFF2-40B4-BE49-F238E27FC236}">
                <a16:creationId xmlns:a16="http://schemas.microsoft.com/office/drawing/2014/main" id="{81862D49-08A5-4845-81F0-5540A741DDC4}"/>
              </a:ext>
            </a:extLst>
          </p:cNvPr>
          <p:cNvSpPr>
            <a:spLocks xmlns:a="http://schemas.openxmlformats.org/drawingml/2006/main" noGrp="1"/>
          </p:cNvSpPr>
          <p:nvPr/>
        </p:nvSpPr>
        <p:spPr>
          <a:xfrm xmlns:a="http://schemas.openxmlformats.org/drawingml/2006/main">
            <a:off x="8239125" y="5324475"/>
            <a:ext cx="3286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FFFFFF"/>
                </a:solidFill>
                <a:latin typeface="Aptos"/>
                <a:ea typeface="Aptos"/>
                <a:cs typeface="Aptos"/>
              </a:defRPr>
            </a:pPr>
            <a:r>
              <a:rPr sz="1650" b="0">
                <a:solidFill>
                  <a:srgbClr val="FFFFFF"/>
                </a:solidFill>
                <a:latin typeface="Aptos"/>
                <a:ea typeface="Aptos"/>
                <a:cs typeface="Aptos"/>
              </a:rPr>
              <a:t>github.com/Lakshmi98496/</a:t>
            </a:r>
          </a:p>
          <a:p xmlns:a="http://schemas.openxmlformats.org/drawingml/2006/main">
            <a:pPr>
              <a:defRPr sz="1650" b="0">
                <a:solidFill>
                  <a:srgbClr val="FFFFFF"/>
                </a:solidFill>
                <a:latin typeface="Aptos"/>
                <a:ea typeface="Aptos"/>
                <a:cs typeface="Aptos"/>
              </a:defRPr>
            </a:pPr>
            <a:r>
              <a:rPr sz="1650" b="0">
                <a:solidFill>
                  <a:srgbClr val="FFFFFF"/>
                </a:solidFill>
                <a:latin typeface="Aptos"/>
                <a:ea typeface="Aptos"/>
                <a:cs typeface="Aptos"/>
              </a:rPr>
              <a:t>samsung-prism</a:t>
            </a:r>
          </a:p>
        </p:txBody>
      </p:sp>
    </p:spTree>
    <p:extLst>
      <p:ext uri="{BB962C8B-B14F-4D97-AF65-F5344CB8AC3E}">
        <p14:creationId xmlns:p14="http://schemas.microsoft.com/office/powerpoint/2010/main" val="633561647"/>
      </p:ext>
    </p:extLst>
  </p:cSld>
</p:sld>
</file>

<file path=ppt/slides/slide2.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D48E13C-8930-4DB3-9E43-DEC6C362EBC1}"/>
              </a:ext>
            </a:extLst>
          </p:cNvPr>
          <p:cNvSpPr>
            <a:spLocks xmlns:a="http://schemas.openxmlformats.org/drawingml/2006/main" noGrp="1"/>
          </p:cNvSpPr>
          <p:nvPr/>
        </p:nvSpPr>
        <p:spPr>
          <a:xfrm xmlns:a="http://schemas.openxmlformats.org/drawingml/2006/main">
            <a:off x="609600" y="28575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3858ED"/>
                </a:solidFill>
                <a:latin typeface="Aptos"/>
                <a:ea typeface="Aptos"/>
                <a:cs typeface="Aptos"/>
              </a:defRPr>
            </a:pPr>
            <a:r>
              <a:rPr sz="1125" b="1">
                <a:solidFill>
                  <a:srgbClr val="3858ED"/>
                </a:solidFill>
                <a:latin typeface="Aptos"/>
                <a:ea typeface="Aptos"/>
                <a:cs typeface="Aptos"/>
              </a:rPr>
              <a:t>SAMSUNG PRISM   /   THE SEMICOLONS   /   THEME 02</a:t>
            </a:r>
          </a:p>
        </p:txBody>
      </p:sp>
      <p:sp>
        <p:nvSpPr>
          <p:cNvPr id="2" name="">
            <a:extLst xmlns:a="http://schemas.openxmlformats.org/drawingml/2006/main">
              <a:ext uri="{FF2B5EF4-FFF2-40B4-BE49-F238E27FC236}">
                <a16:creationId xmlns:a16="http://schemas.microsoft.com/office/drawing/2014/main" id="{2EB1109B-1D2C-489A-AE7E-EEB26409C432}"/>
              </a:ext>
            </a:extLst>
          </p:cNvPr>
          <p:cNvSpPr>
            <a:spLocks xmlns:a="http://schemas.openxmlformats.org/drawingml/2006/main" noGrp="1"/>
          </p:cNvSpPr>
          <p:nvPr/>
        </p:nvSpPr>
        <p:spPr>
          <a:xfrm xmlns:a="http://schemas.openxmlformats.org/drawingml/2006/main">
            <a:off x="609600" y="838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13A"/>
                </a:solidFill>
                <a:latin typeface="Aptos"/>
                <a:ea typeface="Aptos"/>
                <a:cs typeface="Aptos"/>
              </a:defRPr>
            </a:pPr>
            <a:r>
              <a:rPr sz="3225" b="1">
                <a:solidFill>
                  <a:srgbClr val="14213A"/>
                </a:solidFill>
                <a:latin typeface="Aptos"/>
                <a:ea typeface="Aptos"/>
                <a:cs typeface="Aptos"/>
              </a:rPr>
              <a:t>Theme &amp; problem statement</a:t>
            </a:r>
          </a:p>
        </p:txBody>
      </p:sp>
      <p:sp>
        <p:nvSpPr>
          <p:cNvPr id="3" name="">
            <a:extLst xmlns:a="http://schemas.openxmlformats.org/drawingml/2006/main">
              <a:ext uri="{FF2B5EF4-FFF2-40B4-BE49-F238E27FC236}">
                <a16:creationId xmlns:a16="http://schemas.microsoft.com/office/drawing/2014/main" id="{A27ECBA0-6A54-4A4C-8621-B193B442D8FB}"/>
              </a:ext>
            </a:extLst>
          </p:cNvPr>
          <p:cNvSpPr>
            <a:spLocks xmlns:a="http://schemas.openxmlformats.org/drawingml/2006/main" noGrp="1"/>
          </p:cNvSpPr>
          <p:nvPr/>
        </p:nvSpPr>
        <p:spPr>
          <a:xfrm xmlns:a="http://schemas.openxmlformats.org/drawingml/2006/main">
            <a:off x="609600" y="642937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57186"/>
                </a:solidFill>
                <a:latin typeface="Aptos"/>
                <a:ea typeface="Aptos"/>
                <a:cs typeface="Aptos"/>
              </a:defRPr>
            </a:pPr>
            <a:r>
              <a:rPr sz="1050" b="0">
                <a:solidFill>
                  <a:srgbClr val="657186"/>
                </a:solidFill>
                <a:latin typeface="Aptos"/>
                <a:ea typeface="Aptos"/>
                <a:cs typeface="Aptos"/>
              </a:rPr>
              <a:t>SRMIST, Chennai · Smart Guided Troubleshooting</a:t>
            </a:r>
          </a:p>
        </p:txBody>
      </p:sp>
      <p:sp>
        <p:nvSpPr>
          <p:cNvPr id="4" name="">
            <a:extLst xmlns:a="http://schemas.openxmlformats.org/drawingml/2006/main">
              <a:ext uri="{FF2B5EF4-FFF2-40B4-BE49-F238E27FC236}">
                <a16:creationId xmlns:a16="http://schemas.microsoft.com/office/drawing/2014/main" id="{C6C96EC3-0A41-49FD-A777-62CB4B90EE02}"/>
              </a:ext>
            </a:extLst>
          </p:cNvPr>
          <p:cNvSpPr>
            <a:spLocks xmlns:a="http://schemas.openxmlformats.org/drawingml/2006/main" noGrp="1"/>
          </p:cNvSpPr>
          <p:nvPr/>
        </p:nvSpPr>
        <p:spPr>
          <a:xfrm xmlns:a="http://schemas.openxmlformats.org/drawingml/2006/main">
            <a:off x="11049000" y="6429375"/>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57186"/>
                </a:solidFill>
                <a:latin typeface="Aptos"/>
                <a:ea typeface="Aptos"/>
                <a:cs typeface="Aptos"/>
              </a:defRPr>
            </a:pPr>
            <a:r>
              <a:rPr sz="1050" b="0">
                <a:solidFill>
                  <a:srgbClr val="657186"/>
                </a:solidFill>
                <a:latin typeface="Aptos"/>
                <a:ea typeface="Aptos"/>
                <a:cs typeface="Aptos"/>
              </a:rPr>
              <a:t>02</a:t>
            </a:r>
          </a:p>
        </p:txBody>
      </p:sp>
      <p:sp>
        <p:nvSpPr>
          <p:cNvPr id="5" name="">
            <a:extLst xmlns:a="http://schemas.openxmlformats.org/drawingml/2006/main">
              <a:ext uri="{FF2B5EF4-FFF2-40B4-BE49-F238E27FC236}">
                <a16:creationId xmlns:a16="http://schemas.microsoft.com/office/drawing/2014/main" id="{9365A361-7101-438F-A1B7-57A89088300B}"/>
              </a:ext>
            </a:extLst>
          </p:cNvPr>
          <p:cNvSpPr>
            <a:spLocks xmlns:a="http://schemas.openxmlformats.org/drawingml/2006/main" noGrp="1"/>
          </p:cNvSpPr>
          <p:nvPr/>
        </p:nvSpPr>
        <p:spPr>
          <a:xfrm xmlns:a="http://schemas.openxmlformats.org/drawingml/2006/main">
            <a:off x="609600" y="1809750"/>
            <a:ext cx="1038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14213A"/>
                </a:solidFill>
                <a:latin typeface="Aptos"/>
                <a:ea typeface="Aptos"/>
                <a:cs typeface="Aptos"/>
              </a:defRPr>
            </a:pPr>
            <a:r>
              <a:rPr sz="2925" b="1">
                <a:solidFill>
                  <a:srgbClr val="14213A"/>
                </a:solidFill>
                <a:latin typeface="Aptos"/>
                <a:ea typeface="Aptos"/>
                <a:cs typeface="Aptos"/>
              </a:rPr>
              <a:t>A complaint is the start.</a:t>
            </a:r>
          </a:p>
          <a:p xmlns:a="http://schemas.openxmlformats.org/drawingml/2006/main">
            <a:pPr>
              <a:defRPr sz="2925" b="1">
                <a:solidFill>
                  <a:srgbClr val="14213A"/>
                </a:solidFill>
                <a:latin typeface="Aptos"/>
                <a:ea typeface="Aptos"/>
                <a:cs typeface="Aptos"/>
              </a:defRPr>
            </a:pPr>
            <a:r>
              <a:rPr sz="2925" b="1">
                <a:solidFill>
                  <a:srgbClr val="14213A"/>
                </a:solidFill>
                <a:latin typeface="Aptos"/>
                <a:ea typeface="Aptos"/>
                <a:cs typeface="Aptos"/>
              </a:rPr>
              <a:t>An agent still has to prepare the plan.</a:t>
            </a:r>
          </a:p>
        </p:txBody>
      </p:sp>
      <p:sp>
        <p:nvSpPr>
          <p:cNvPr id="6" name="">
            <a:extLst xmlns:a="http://schemas.openxmlformats.org/drawingml/2006/main">
              <a:ext uri="{FF2B5EF4-FFF2-40B4-BE49-F238E27FC236}">
                <a16:creationId xmlns:a16="http://schemas.microsoft.com/office/drawing/2014/main" id="{358C08F7-8EB1-4185-BBDE-9C6B9A41FF50}"/>
              </a:ext>
            </a:extLst>
          </p:cNvPr>
          <p:cNvSpPr>
            <a:spLocks xmlns:a="http://schemas.openxmlformats.org/drawingml/2006/main" noGrp="1"/>
          </p:cNvSpPr>
          <p:nvPr/>
        </p:nvSpPr>
        <p:spPr>
          <a:xfrm xmlns:a="http://schemas.openxmlformats.org/drawingml/2006/main">
            <a:off x="609600" y="3362325"/>
            <a:ext cx="457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3858ED"/>
                </a:solidFill>
                <a:latin typeface="Aptos"/>
                <a:ea typeface="Aptos"/>
                <a:cs typeface="Aptos"/>
              </a:defRPr>
            </a:pPr>
            <a:r>
              <a:rPr sz="1950" b="1">
                <a:solidFill>
                  <a:srgbClr val="3858ED"/>
                </a:solidFill>
                <a:latin typeface="Aptos"/>
                <a:ea typeface="Aptos"/>
                <a:cs typeface="Aptos"/>
              </a:rPr>
              <a:t>Customer complaint</a:t>
            </a:r>
          </a:p>
        </p:txBody>
      </p:sp>
      <p:sp>
        <p:nvSpPr>
          <p:cNvPr id="7" name="">
            <a:extLst xmlns:a="http://schemas.openxmlformats.org/drawingml/2006/main">
              <a:ext uri="{FF2B5EF4-FFF2-40B4-BE49-F238E27FC236}">
                <a16:creationId xmlns:a16="http://schemas.microsoft.com/office/drawing/2014/main" id="{1D42A9C9-3546-459E-B1E6-F9216A501ACD}"/>
              </a:ext>
            </a:extLst>
          </p:cNvPr>
          <p:cNvSpPr>
            <a:spLocks xmlns:a="http://schemas.openxmlformats.org/drawingml/2006/main" noGrp="1"/>
          </p:cNvSpPr>
          <p:nvPr/>
        </p:nvSpPr>
        <p:spPr>
          <a:xfrm xmlns:a="http://schemas.openxmlformats.org/drawingml/2006/main">
            <a:off x="609600" y="3857625"/>
            <a:ext cx="4572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4213A"/>
                </a:solidFill>
                <a:latin typeface="Aptos"/>
                <a:ea typeface="Aptos"/>
                <a:cs typeface="Aptos"/>
              </a:defRPr>
            </a:pPr>
            <a:r>
              <a:rPr sz="1875" b="0">
                <a:solidFill>
                  <a:srgbClr val="14213A"/>
                </a:solidFill>
                <a:latin typeface="Aptos"/>
                <a:ea typeface="Aptos"/>
                <a:cs typeface="Aptos"/>
              </a:rPr>
              <a:t>Everyday symptom descriptions may not match the language of a support article.</a:t>
            </a:r>
          </a:p>
        </p:txBody>
      </p:sp>
      <p:sp>
        <p:nvSpPr>
          <p:cNvPr id="8" name="">
            <a:extLst xmlns:a="http://schemas.openxmlformats.org/drawingml/2006/main">
              <a:ext uri="{FF2B5EF4-FFF2-40B4-BE49-F238E27FC236}">
                <a16:creationId xmlns:a16="http://schemas.microsoft.com/office/drawing/2014/main" id="{CC50164E-8AB0-49B5-A69D-2AED32302185}"/>
              </a:ext>
            </a:extLst>
          </p:cNvPr>
          <p:cNvSpPr>
            <a:spLocks xmlns:a="http://schemas.openxmlformats.org/drawingml/2006/main" noGrp="1"/>
          </p:cNvSpPr>
          <p:nvPr/>
        </p:nvSpPr>
        <p:spPr>
          <a:xfrm xmlns:a="http://schemas.openxmlformats.org/drawingml/2006/main">
            <a:off x="6286500" y="3362325"/>
            <a:ext cx="5000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3858ED"/>
                </a:solidFill>
                <a:latin typeface="Aptos"/>
                <a:ea typeface="Aptos"/>
                <a:cs typeface="Aptos"/>
              </a:defRPr>
            </a:pPr>
            <a:r>
              <a:rPr sz="1950" b="1">
                <a:solidFill>
                  <a:srgbClr val="3858ED"/>
                </a:solidFill>
                <a:latin typeface="Aptos"/>
                <a:ea typeface="Aptos"/>
                <a:cs typeface="Aptos"/>
              </a:rPr>
              <a:t>Support preparation</a:t>
            </a:r>
          </a:p>
        </p:txBody>
      </p:sp>
      <p:sp>
        <p:nvSpPr>
          <p:cNvPr id="9" name="">
            <a:extLst xmlns:a="http://schemas.openxmlformats.org/drawingml/2006/main">
              <a:ext uri="{FF2B5EF4-FFF2-40B4-BE49-F238E27FC236}">
                <a16:creationId xmlns:a16="http://schemas.microsoft.com/office/drawing/2014/main" id="{073FD504-F5D6-44DF-97FB-DFA37D2B49E3}"/>
              </a:ext>
            </a:extLst>
          </p:cNvPr>
          <p:cNvSpPr>
            <a:spLocks xmlns:a="http://schemas.openxmlformats.org/drawingml/2006/main" noGrp="1"/>
          </p:cNvSpPr>
          <p:nvPr/>
        </p:nvSpPr>
        <p:spPr>
          <a:xfrm xmlns:a="http://schemas.openxmlformats.org/drawingml/2006/main">
            <a:off x="6286500" y="3857625"/>
            <a:ext cx="50006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4213A"/>
                </a:solidFill>
                <a:latin typeface="Aptos"/>
                <a:ea typeface="Aptos"/>
                <a:cs typeface="Aptos"/>
              </a:defRPr>
            </a:pPr>
            <a:r>
              <a:rPr sz="1875" b="0">
                <a:solidFill>
                  <a:srgbClr val="14213A"/>
                </a:solidFill>
                <a:latin typeface="Aptos"/>
                <a:ea typeface="Aptos"/>
                <a:cs typeface="Aptos"/>
              </a:rPr>
              <a:t>Find the relevant reference, organise its instructions and identify supported destinations.</a:t>
            </a:r>
          </a:p>
        </p:txBody>
      </p:sp>
      <p:sp>
        <p:nvSpPr>
          <p:cNvPr id="10" name="">
            <a:extLst xmlns:a="http://schemas.openxmlformats.org/drawingml/2006/main">
              <a:ext uri="{FF2B5EF4-FFF2-40B4-BE49-F238E27FC236}">
                <a16:creationId xmlns:a16="http://schemas.microsoft.com/office/drawing/2014/main" id="{16FF3303-BF4E-4D9B-8D80-FA32AD2B6DB7}"/>
              </a:ext>
            </a:extLst>
          </p:cNvPr>
          <p:cNvSpPr>
            <a:spLocks xmlns:a="http://schemas.openxmlformats.org/drawingml/2006/main" noGrp="1"/>
          </p:cNvSpPr>
          <p:nvPr/>
        </p:nvSpPr>
        <p:spPr>
          <a:xfrm xmlns:a="http://schemas.openxmlformats.org/drawingml/2006/main">
            <a:off x="609600" y="5476875"/>
            <a:ext cx="10906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3858ED"/>
                </a:solidFill>
                <a:latin typeface="Aptos"/>
                <a:ea typeface="Aptos"/>
                <a:cs typeface="Aptos"/>
              </a:defRPr>
            </a:pPr>
            <a:r>
              <a:rPr sz="2025" b="1">
                <a:solidFill>
                  <a:srgbClr val="3858ED"/>
                </a:solidFill>
                <a:latin typeface="Aptos"/>
                <a:ea typeface="Aptos"/>
                <a:cs typeface="Aptos"/>
              </a:rPr>
              <a:t>Prototype goal: source-based guidance with critical actions ordered last.</a:t>
            </a:r>
          </a:p>
        </p:txBody>
      </p:sp>
    </p:spTree>
    <p:extLst>
      <p:ext uri="{BB962C8B-B14F-4D97-AF65-F5344CB8AC3E}">
        <p14:creationId xmlns:p14="http://schemas.microsoft.com/office/powerpoint/2010/main" val="1249889089"/>
      </p:ext>
    </p:extLst>
  </p:cSld>
</p:sld>
</file>

<file path=ppt/slides/slide3.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18137D5-01E3-4A22-B4CD-1FAE56789036}"/>
              </a:ext>
            </a:extLst>
          </p:cNvPr>
          <p:cNvSpPr>
            <a:spLocks xmlns:a="http://schemas.openxmlformats.org/drawingml/2006/main" noGrp="1"/>
          </p:cNvSpPr>
          <p:nvPr/>
        </p:nvSpPr>
        <p:spPr>
          <a:xfrm xmlns:a="http://schemas.openxmlformats.org/drawingml/2006/main">
            <a:off x="609600" y="28575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3858ED"/>
                </a:solidFill>
                <a:latin typeface="Aptos"/>
                <a:ea typeface="Aptos"/>
                <a:cs typeface="Aptos"/>
              </a:defRPr>
            </a:pPr>
            <a:r>
              <a:rPr sz="1125" b="1">
                <a:solidFill>
                  <a:srgbClr val="3858ED"/>
                </a:solidFill>
                <a:latin typeface="Aptos"/>
                <a:ea typeface="Aptos"/>
                <a:cs typeface="Aptos"/>
              </a:rPr>
              <a:t>SAMSUNG PRISM   /   THE SEMICOLONS   /   THEME 02</a:t>
            </a:r>
          </a:p>
        </p:txBody>
      </p:sp>
      <p:sp>
        <p:nvSpPr>
          <p:cNvPr id="2" name="">
            <a:extLst xmlns:a="http://schemas.openxmlformats.org/drawingml/2006/main">
              <a:ext uri="{FF2B5EF4-FFF2-40B4-BE49-F238E27FC236}">
                <a16:creationId xmlns:a16="http://schemas.microsoft.com/office/drawing/2014/main" id="{9BC0CFE0-A969-4FB3-9ADD-4452801BC1E7}"/>
              </a:ext>
            </a:extLst>
          </p:cNvPr>
          <p:cNvSpPr>
            <a:spLocks xmlns:a="http://schemas.openxmlformats.org/drawingml/2006/main" noGrp="1"/>
          </p:cNvSpPr>
          <p:nvPr/>
        </p:nvSpPr>
        <p:spPr>
          <a:xfrm xmlns:a="http://schemas.openxmlformats.org/drawingml/2006/main">
            <a:off x="609600" y="838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13A"/>
                </a:solidFill>
                <a:latin typeface="Aptos"/>
                <a:ea typeface="Aptos"/>
                <a:cs typeface="Aptos"/>
              </a:defRPr>
            </a:pPr>
            <a:r>
              <a:rPr sz="3225" b="1">
                <a:solidFill>
                  <a:srgbClr val="14213A"/>
                </a:solidFill>
                <a:latin typeface="Aptos"/>
                <a:ea typeface="Aptos"/>
                <a:cs typeface="Aptos"/>
              </a:rPr>
              <a:t>Existing solutions &amp; gaps</a:t>
            </a:r>
          </a:p>
        </p:txBody>
      </p:sp>
      <p:sp>
        <p:nvSpPr>
          <p:cNvPr id="3" name="">
            <a:extLst xmlns:a="http://schemas.openxmlformats.org/drawingml/2006/main">
              <a:ext uri="{FF2B5EF4-FFF2-40B4-BE49-F238E27FC236}">
                <a16:creationId xmlns:a16="http://schemas.microsoft.com/office/drawing/2014/main" id="{456361D4-36DA-4211-8198-D61EDE5BE969}"/>
              </a:ext>
            </a:extLst>
          </p:cNvPr>
          <p:cNvSpPr>
            <a:spLocks xmlns:a="http://schemas.openxmlformats.org/drawingml/2006/main" noGrp="1"/>
          </p:cNvSpPr>
          <p:nvPr/>
        </p:nvSpPr>
        <p:spPr>
          <a:xfrm xmlns:a="http://schemas.openxmlformats.org/drawingml/2006/main">
            <a:off x="609600" y="642937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57186"/>
                </a:solidFill>
                <a:latin typeface="Aptos"/>
                <a:ea typeface="Aptos"/>
                <a:cs typeface="Aptos"/>
              </a:defRPr>
            </a:pPr>
            <a:r>
              <a:rPr sz="1050" b="0">
                <a:solidFill>
                  <a:srgbClr val="657186"/>
                </a:solidFill>
                <a:latin typeface="Aptos"/>
                <a:ea typeface="Aptos"/>
                <a:cs typeface="Aptos"/>
              </a:rPr>
              <a:t>SRMIST, Chennai · Smart Guided Troubleshooting</a:t>
            </a:r>
          </a:p>
        </p:txBody>
      </p:sp>
      <p:sp>
        <p:nvSpPr>
          <p:cNvPr id="4" name="">
            <a:extLst xmlns:a="http://schemas.openxmlformats.org/drawingml/2006/main">
              <a:ext uri="{FF2B5EF4-FFF2-40B4-BE49-F238E27FC236}">
                <a16:creationId xmlns:a16="http://schemas.microsoft.com/office/drawing/2014/main" id="{88FE37D3-CD4D-4A02-9E34-2751DB1DB522}"/>
              </a:ext>
            </a:extLst>
          </p:cNvPr>
          <p:cNvSpPr>
            <a:spLocks xmlns:a="http://schemas.openxmlformats.org/drawingml/2006/main" noGrp="1"/>
          </p:cNvSpPr>
          <p:nvPr/>
        </p:nvSpPr>
        <p:spPr>
          <a:xfrm xmlns:a="http://schemas.openxmlformats.org/drawingml/2006/main">
            <a:off x="11049000" y="6429375"/>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57186"/>
                </a:solidFill>
                <a:latin typeface="Aptos"/>
                <a:ea typeface="Aptos"/>
                <a:cs typeface="Aptos"/>
              </a:defRPr>
            </a:pPr>
            <a:r>
              <a:rPr sz="1050" b="0">
                <a:solidFill>
                  <a:srgbClr val="657186"/>
                </a:solidFill>
                <a:latin typeface="Aptos"/>
                <a:ea typeface="Aptos"/>
                <a:cs typeface="Aptos"/>
              </a:rPr>
              <a:t>03</a:t>
            </a:r>
          </a:p>
        </p:txBody>
      </p:sp>
      <p:sp>
        <p:nvSpPr>
          <p:cNvPr id="5" name="">
            <a:extLst xmlns:a="http://schemas.openxmlformats.org/drawingml/2006/main">
              <a:ext uri="{FF2B5EF4-FFF2-40B4-BE49-F238E27FC236}">
                <a16:creationId xmlns:a16="http://schemas.microsoft.com/office/drawing/2014/main" id="{09A6ACED-285B-42F5-AA86-C122238777E4}"/>
              </a:ext>
            </a:extLst>
          </p:cNvPr>
          <p:cNvSpPr>
            <a:spLocks xmlns:a="http://schemas.openxmlformats.org/drawingml/2006/main" noGrp="1"/>
          </p:cNvSpPr>
          <p:nvPr/>
        </p:nvSpPr>
        <p:spPr>
          <a:xfrm xmlns:a="http://schemas.openxmlformats.org/drawingml/2006/main">
            <a:off x="609600" y="158115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57186"/>
                </a:solidFill>
                <a:latin typeface="Aptos"/>
                <a:ea typeface="Aptos"/>
                <a:cs typeface="Aptos"/>
              </a:defRPr>
            </a:pPr>
            <a:r>
              <a:rPr sz="1725" b="0">
                <a:solidFill>
                  <a:srgbClr val="657186"/>
                </a:solidFill>
                <a:latin typeface="Aptos"/>
                <a:ea typeface="Aptos"/>
                <a:cs typeface="Aptos"/>
              </a:rPr>
              <a:t>Design comparison; competitor performance has not been measured.</a:t>
            </a:r>
          </a:p>
        </p:txBody>
      </p:sp>
      <p:graphicFrame>
        <p:nvGraphicFramePr>
          <p:cNvPr id="13" name=""/>
          <p:cNvGraphicFramePr/>
          <p:nvPr/>
        </p:nvGraphicFramePr>
        <p:xfrm>
          <a:off xmlns:a="http://schemas.openxmlformats.org/drawingml/2006/main" x="609600" y="2219325"/>
          <a:ext xmlns:a="http://schemas.openxmlformats.org/drawingml/2006/main" cx="10972800" cy="3095625"/>
        </p:xfrm>
        <a:graphic xmlns:a="http://schemas.openxmlformats.org/drawingml/2006/main">
          <a:graphicData uri="http://schemas.openxmlformats.org/drawingml/2006/table">
            <a:tbl>
              <a:tblPr/>
              <a:tblGrid>
                <a:gridCol w="2952750"/>
                <a:gridCol w="2590800"/>
                <a:gridCol w="2590800"/>
                <a:gridCol w="2838450"/>
              </a:tblGrid>
              <a:tr h="619125">
                <a:tc>
                  <a:txBody>
                    <a:bodyPr/>
                    <a:lstStyle/>
                    <a:p>
                      <a:r>
                        <a:rPr sz="1500" b="1">
                          <a:solidFill>
                            <a:srgbClr val="FFFFFF"/>
                          </a:solidFill>
                          <a:latin typeface="Aptos"/>
                          <a:ea typeface="Aptos"/>
                          <a:cs typeface="Aptos"/>
                        </a:rPr>
                        <a:t>Capability</a:t>
                      </a:r>
                    </a:p>
                  </a:txBody>
                  <a:tcPr marL="91440" marR="91440" marT="45720" marB="45720">
                    <a:solidFill>
                      <a:srgbClr val="14213A"/>
                    </a:solidFill>
                  </a:tcPr>
                </a:tc>
                <a:tc>
                  <a:txBody>
                    <a:bodyPr/>
                    <a:lstStyle/>
                    <a:p>
                      <a:r>
                        <a:rPr sz="1500" b="1">
                          <a:solidFill>
                            <a:srgbClr val="FFFFFF"/>
                          </a:solidFill>
                          <a:latin typeface="Aptos"/>
                          <a:ea typeface="Aptos"/>
                          <a:cs typeface="Aptos"/>
                        </a:rPr>
                        <a:t>Support article</a:t>
                      </a:r>
                    </a:p>
                  </a:txBody>
                  <a:tcPr marL="91440" marR="91440" marT="45720" marB="45720">
                    <a:solidFill>
                      <a:srgbClr val="14213A"/>
                    </a:solidFill>
                  </a:tcPr>
                </a:tc>
                <a:tc>
                  <a:txBody>
                    <a:bodyPr/>
                    <a:lstStyle/>
                    <a:p>
                      <a:r>
                        <a:rPr sz="1500" b="1">
                          <a:solidFill>
                            <a:srgbClr val="FFFFFF"/>
                          </a:solidFill>
                          <a:latin typeface="Aptos"/>
                          <a:ea typeface="Aptos"/>
                          <a:cs typeface="Aptos"/>
                        </a:rPr>
                        <a:t>General model</a:t>
                      </a:r>
                    </a:p>
                  </a:txBody>
                  <a:tcPr marL="91440" marR="91440" marT="45720" marB="45720">
                    <a:solidFill>
                      <a:srgbClr val="14213A"/>
                    </a:solidFill>
                  </a:tcPr>
                </a:tc>
                <a:tc>
                  <a:txBody>
                    <a:bodyPr/>
                    <a:lstStyle/>
                    <a:p>
                      <a:r>
                        <a:rPr sz="1500" b="1">
                          <a:solidFill>
                            <a:srgbClr val="FFFFFF"/>
                          </a:solidFill>
                          <a:latin typeface="Aptos"/>
                          <a:ea typeface="Aptos"/>
                          <a:cs typeface="Aptos"/>
                        </a:rPr>
                        <a:t>This prototype</a:t>
                      </a:r>
                    </a:p>
                  </a:txBody>
                  <a:tcPr marL="91440" marR="91440" marT="45720" marB="45720">
                    <a:solidFill>
                      <a:srgbClr val="14213A"/>
                    </a:solidFill>
                  </a:tcPr>
                </a:tc>
              </a:tr>
              <a:tr h="619125">
                <a:tc>
                  <a:txBody>
                    <a:bodyPr/>
                    <a:lstStyle/>
                    <a:p>
                      <a:r>
                        <a:rPr sz="1650" b="0">
                          <a:solidFill>
                            <a:srgbClr val="14213A"/>
                          </a:solidFill>
                          <a:latin typeface="Aptos"/>
                          <a:ea typeface="Aptos"/>
                          <a:cs typeface="Aptos"/>
                        </a:rPr>
                        <a:t>Reference fidelity</a:t>
                      </a:r>
                    </a:p>
                  </a:txBody>
                  <a:tcPr marL="91440" marR="91440" marT="45720" marB="45720">
                    <a:solidFill>
                      <a:srgbClr val="FFFFFF"/>
                    </a:solidFill>
                  </a:tcPr>
                </a:tc>
                <a:tc>
                  <a:txBody>
                    <a:bodyPr/>
                    <a:lstStyle/>
                    <a:p>
                      <a:r>
                        <a:rPr sz="1650" b="0">
                          <a:solidFill>
                            <a:srgbClr val="14213A"/>
                          </a:solidFill>
                          <a:latin typeface="Aptos"/>
                          <a:ea typeface="Aptos"/>
                          <a:cs typeface="Aptos"/>
                        </a:rPr>
                        <a:t>Agent reviews</a:t>
                      </a:r>
                    </a:p>
                  </a:txBody>
                  <a:tcPr marL="91440" marR="91440" marT="45720" marB="45720">
                    <a:solidFill>
                      <a:srgbClr val="FFFFFF"/>
                    </a:solidFill>
                  </a:tcPr>
                </a:tc>
                <a:tc>
                  <a:txBody>
                    <a:bodyPr/>
                    <a:lstStyle/>
                    <a:p>
                      <a:r>
                        <a:rPr sz="1650" b="0">
                          <a:solidFill>
                            <a:srgbClr val="14213A"/>
                          </a:solidFill>
                          <a:latin typeface="Aptos"/>
                          <a:ea typeface="Aptos"/>
                          <a:cs typeface="Aptos"/>
                        </a:rPr>
                        <a:t>Needs grounding</a:t>
                      </a:r>
                    </a:p>
                  </a:txBody>
                  <a:tcPr marL="91440" marR="91440" marT="45720" marB="45720">
                    <a:solidFill>
                      <a:srgbClr val="FFFFFF"/>
                    </a:solidFill>
                  </a:tcPr>
                </a:tc>
                <a:tc>
                  <a:txBody>
                    <a:bodyPr/>
                    <a:lstStyle/>
                    <a:p>
                      <a:r>
                        <a:rPr sz="1650" b="0">
                          <a:solidFill>
                            <a:srgbClr val="14213A"/>
                          </a:solidFill>
                          <a:latin typeface="Aptos"/>
                          <a:ea typeface="Aptos"/>
                          <a:cs typeface="Aptos"/>
                        </a:rPr>
                        <a:t>Source IDs + checks</a:t>
                      </a:r>
                    </a:p>
                  </a:txBody>
                  <a:tcPr marL="91440" marR="91440" marT="45720" marB="45720">
                    <a:solidFill>
                      <a:srgbClr val="FFFFFF"/>
                    </a:solidFill>
                  </a:tcPr>
                </a:tc>
              </a:tr>
              <a:tr h="619125">
                <a:tc>
                  <a:txBody>
                    <a:bodyPr/>
                    <a:lstStyle/>
                    <a:p>
                      <a:r>
                        <a:rPr sz="1650" b="0">
                          <a:solidFill>
                            <a:srgbClr val="14213A"/>
                          </a:solidFill>
                          <a:latin typeface="Aptos"/>
                          <a:ea typeface="Aptos"/>
                          <a:cs typeface="Aptos"/>
                        </a:rPr>
                        <a:t>Catalog destinations</a:t>
                      </a:r>
                    </a:p>
                  </a:txBody>
                  <a:tcPr marL="91440" marR="91440" marT="45720" marB="45720">
                    <a:solidFill>
                      <a:srgbClr val="EFEEF0"/>
                    </a:solidFill>
                  </a:tcPr>
                </a:tc>
                <a:tc>
                  <a:txBody>
                    <a:bodyPr/>
                    <a:lstStyle/>
                    <a:p>
                      <a:r>
                        <a:rPr sz="1650" b="0">
                          <a:solidFill>
                            <a:srgbClr val="14213A"/>
                          </a:solidFill>
                          <a:latin typeface="Aptos"/>
                          <a:ea typeface="Aptos"/>
                          <a:cs typeface="Aptos"/>
                        </a:rPr>
                        <a:t>Manual lookup</a:t>
                      </a:r>
                    </a:p>
                  </a:txBody>
                  <a:tcPr marL="91440" marR="91440" marT="45720" marB="45720">
                    <a:solidFill>
                      <a:srgbClr val="EFEEF0"/>
                    </a:solidFill>
                  </a:tcPr>
                </a:tc>
                <a:tc>
                  <a:txBody>
                    <a:bodyPr/>
                    <a:lstStyle/>
                    <a:p>
                      <a:r>
                        <a:rPr sz="1650" b="0">
                          <a:solidFill>
                            <a:srgbClr val="14213A"/>
                          </a:solidFill>
                          <a:latin typeface="Aptos"/>
                          <a:ea typeface="Aptos"/>
                          <a:cs typeface="Aptos"/>
                        </a:rPr>
                        <a:t>Needs integration</a:t>
                      </a:r>
                    </a:p>
                  </a:txBody>
                  <a:tcPr marL="91440" marR="91440" marT="45720" marB="45720">
                    <a:solidFill>
                      <a:srgbClr val="EFEEF0"/>
                    </a:solidFill>
                  </a:tcPr>
                </a:tc>
                <a:tc>
                  <a:txBody>
                    <a:bodyPr/>
                    <a:lstStyle/>
                    <a:p>
                      <a:r>
                        <a:rPr sz="1650" b="0">
                          <a:solidFill>
                            <a:srgbClr val="14213A"/>
                          </a:solidFill>
                          <a:latin typeface="Aptos"/>
                          <a:ea typeface="Aptos"/>
                          <a:cs typeface="Aptos"/>
                        </a:rPr>
                        <a:t>Validated catalog IDs</a:t>
                      </a:r>
                    </a:p>
                  </a:txBody>
                  <a:tcPr marL="91440" marR="91440" marT="45720" marB="45720">
                    <a:solidFill>
                      <a:srgbClr val="EFEEF0"/>
                    </a:solidFill>
                  </a:tcPr>
                </a:tc>
              </a:tr>
              <a:tr h="619125">
                <a:tc>
                  <a:txBody>
                    <a:bodyPr/>
                    <a:lstStyle/>
                    <a:p>
                      <a:r>
                        <a:rPr sz="1650" b="0">
                          <a:solidFill>
                            <a:srgbClr val="14213A"/>
                          </a:solidFill>
                          <a:latin typeface="Aptos"/>
                          <a:ea typeface="Aptos"/>
                          <a:cs typeface="Aptos"/>
                        </a:rPr>
                        <a:t>Structured response</a:t>
                      </a:r>
                    </a:p>
                  </a:txBody>
                  <a:tcPr marL="91440" marR="91440" marT="45720" marB="45720">
                    <a:solidFill>
                      <a:srgbClr val="FFFFFF"/>
                    </a:solidFill>
                  </a:tcPr>
                </a:tc>
                <a:tc>
                  <a:txBody>
                    <a:bodyPr/>
                    <a:lstStyle/>
                    <a:p>
                      <a:r>
                        <a:rPr sz="1650" b="0">
                          <a:solidFill>
                            <a:srgbClr val="14213A"/>
                          </a:solidFill>
                          <a:latin typeface="Aptos"/>
                          <a:ea typeface="Aptos"/>
                          <a:cs typeface="Aptos"/>
                        </a:rPr>
                        <a:t>Agent prepares</a:t>
                      </a:r>
                    </a:p>
                  </a:txBody>
                  <a:tcPr marL="91440" marR="91440" marT="45720" marB="45720">
                    <a:solidFill>
                      <a:srgbClr val="FFFFFF"/>
                    </a:solidFill>
                  </a:tcPr>
                </a:tc>
                <a:tc>
                  <a:txBody>
                    <a:bodyPr/>
                    <a:lstStyle/>
                    <a:p>
                      <a:r>
                        <a:rPr sz="1650" b="0">
                          <a:solidFill>
                            <a:srgbClr val="14213A"/>
                          </a:solidFill>
                          <a:latin typeface="Aptos"/>
                          <a:ea typeface="Aptos"/>
                          <a:cs typeface="Aptos"/>
                        </a:rPr>
                        <a:t>Needs schema checks</a:t>
                      </a:r>
                    </a:p>
                  </a:txBody>
                  <a:tcPr marL="91440" marR="91440" marT="45720" marB="45720">
                    <a:solidFill>
                      <a:srgbClr val="FFFFFF"/>
                    </a:solidFill>
                  </a:tcPr>
                </a:tc>
                <a:tc>
                  <a:txBody>
                    <a:bodyPr/>
                    <a:lstStyle/>
                    <a:p>
                      <a:r>
                        <a:rPr sz="1650" b="0">
                          <a:solidFill>
                            <a:srgbClr val="14213A"/>
                          </a:solidFill>
                          <a:latin typeface="Aptos"/>
                          <a:ea typeface="Aptos"/>
                          <a:cs typeface="Aptos"/>
                        </a:rPr>
                        <a:t>Pydantic JSON</a:t>
                      </a:r>
                    </a:p>
                  </a:txBody>
                  <a:tcPr marL="91440" marR="91440" marT="45720" marB="45720">
                    <a:solidFill>
                      <a:srgbClr val="FFFFFF"/>
                    </a:solidFill>
                  </a:tcPr>
                </a:tc>
              </a:tr>
              <a:tr h="619125">
                <a:tc>
                  <a:txBody>
                    <a:bodyPr/>
                    <a:lstStyle/>
                    <a:p>
                      <a:r>
                        <a:rPr sz="1650" b="0">
                          <a:solidFill>
                            <a:srgbClr val="14213A"/>
                          </a:solidFill>
                          <a:latin typeface="Aptos"/>
                          <a:ea typeface="Aptos"/>
                          <a:cs typeface="Aptos"/>
                        </a:rPr>
                        <a:t>Repeated complaint</a:t>
                      </a:r>
                    </a:p>
                  </a:txBody>
                  <a:tcPr marL="91440" marR="91440" marT="45720" marB="45720">
                    <a:solidFill>
                      <a:srgbClr val="EFEEF0"/>
                    </a:solidFill>
                  </a:tcPr>
                </a:tc>
                <a:tc>
                  <a:txBody>
                    <a:bodyPr/>
                    <a:lstStyle/>
                    <a:p>
                      <a:r>
                        <a:rPr sz="1650" b="0">
                          <a:solidFill>
                            <a:srgbClr val="14213A"/>
                          </a:solidFill>
                          <a:latin typeface="Aptos"/>
                          <a:ea typeface="Aptos"/>
                          <a:cs typeface="Aptos"/>
                        </a:rPr>
                        <a:t>Repeat lookup</a:t>
                      </a:r>
                    </a:p>
                  </a:txBody>
                  <a:tcPr marL="91440" marR="91440" marT="45720" marB="45720">
                    <a:solidFill>
                      <a:srgbClr val="EFEEF0"/>
                    </a:solidFill>
                  </a:tcPr>
                </a:tc>
                <a:tc>
                  <a:txBody>
                    <a:bodyPr/>
                    <a:lstStyle/>
                    <a:p>
                      <a:r>
                        <a:rPr sz="1650" b="0">
                          <a:solidFill>
                            <a:srgbClr val="14213A"/>
                          </a:solidFill>
                          <a:latin typeface="Aptos"/>
                          <a:ea typeface="Aptos"/>
                          <a:cs typeface="Aptos"/>
                        </a:rPr>
                        <a:t>Depends on setup</a:t>
                      </a:r>
                    </a:p>
                  </a:txBody>
                  <a:tcPr marL="91440" marR="91440" marT="45720" marB="45720">
                    <a:solidFill>
                      <a:srgbClr val="EFEEF0"/>
                    </a:solidFill>
                  </a:tcPr>
                </a:tc>
                <a:tc>
                  <a:txBody>
                    <a:bodyPr/>
                    <a:lstStyle/>
                    <a:p>
                      <a:r>
                        <a:rPr sz="1650" b="0">
                          <a:solidFill>
                            <a:srgbClr val="14213A"/>
                          </a:solidFill>
                          <a:latin typeface="Aptos"/>
                          <a:ea typeface="Aptos"/>
                          <a:cs typeface="Aptos"/>
                        </a:rPr>
                        <a:t>SQLite cache</a:t>
                      </a:r>
                    </a:p>
                  </a:txBody>
                  <a:tcPr marL="91440" marR="91440" marT="45720" marB="45720">
                    <a:solidFill>
                      <a:srgbClr val="EFEEF0"/>
                    </a:solidFill>
                  </a:tcPr>
                </a:tc>
              </a:tr>
            </a:tbl>
          </a:graphicData>
        </a:graphic>
      </p:graphicFrame>
      <p:sp>
        <p:nvSpPr>
          <p:cNvPr id="7" name="">
            <a:extLst xmlns:a="http://schemas.openxmlformats.org/drawingml/2006/main">
              <a:ext uri="{FF2B5EF4-FFF2-40B4-BE49-F238E27FC236}">
                <a16:creationId xmlns:a16="http://schemas.microsoft.com/office/drawing/2014/main" id="{338C7FAF-0D63-4B3F-B582-0E8160A5D410}"/>
              </a:ext>
            </a:extLst>
          </p:cNvPr>
          <p:cNvSpPr>
            <a:spLocks xmlns:a="http://schemas.openxmlformats.org/drawingml/2006/main" noGrp="1"/>
          </p:cNvSpPr>
          <p:nvPr/>
        </p:nvSpPr>
        <p:spPr>
          <a:xfrm xmlns:a="http://schemas.openxmlformats.org/drawingml/2006/main">
            <a:off x="609600" y="5724525"/>
            <a:ext cx="1085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57186"/>
                </a:solidFill>
                <a:latin typeface="Aptos"/>
                <a:ea typeface="Aptos"/>
                <a:cs typeface="Aptos"/>
              </a:defRPr>
            </a:pPr>
            <a:r>
              <a:rPr sz="1725" b="0">
                <a:solidFill>
                  <a:srgbClr val="657186"/>
                </a:solidFill>
                <a:latin typeface="Aptos"/>
                <a:ea typeface="Aptos"/>
                <a:cs typeface="Aptos"/>
              </a:rPr>
              <a:t>Screen accuracy and model quality still require independent evaluation.</a:t>
            </a:r>
          </a:p>
        </p:txBody>
      </p:sp>
    </p:spTree>
    <p:extLst>
      <p:ext uri="{BB962C8B-B14F-4D97-AF65-F5344CB8AC3E}">
        <p14:creationId xmlns:p14="http://schemas.microsoft.com/office/powerpoint/2010/main" val="1421597045"/>
      </p:ext>
    </p:extLst>
  </p:cSld>
</p:sld>
</file>

<file path=ppt/slides/slide4.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A27009C-FC73-4112-99D5-0AB7A31EB21C}"/>
              </a:ext>
            </a:extLst>
          </p:cNvPr>
          <p:cNvSpPr>
            <a:spLocks xmlns:a="http://schemas.openxmlformats.org/drawingml/2006/main" noGrp="1"/>
          </p:cNvSpPr>
          <p:nvPr/>
        </p:nvSpPr>
        <p:spPr>
          <a:xfrm xmlns:a="http://schemas.openxmlformats.org/drawingml/2006/main">
            <a:off x="609600" y="28575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3858ED"/>
                </a:solidFill>
                <a:latin typeface="Aptos"/>
                <a:ea typeface="Aptos"/>
                <a:cs typeface="Aptos"/>
              </a:defRPr>
            </a:pPr>
            <a:r>
              <a:rPr sz="1125" b="1">
                <a:solidFill>
                  <a:srgbClr val="3858ED"/>
                </a:solidFill>
                <a:latin typeface="Aptos"/>
                <a:ea typeface="Aptos"/>
                <a:cs typeface="Aptos"/>
              </a:rPr>
              <a:t>SAMSUNG PRISM   /   THE SEMICOLONS   /   THEME 02</a:t>
            </a:r>
          </a:p>
        </p:txBody>
      </p:sp>
      <p:sp>
        <p:nvSpPr>
          <p:cNvPr id="2" name="">
            <a:extLst xmlns:a="http://schemas.openxmlformats.org/drawingml/2006/main">
              <a:ext uri="{FF2B5EF4-FFF2-40B4-BE49-F238E27FC236}">
                <a16:creationId xmlns:a16="http://schemas.microsoft.com/office/drawing/2014/main" id="{2279900F-D41E-48C3-B51A-3F9ABA54A0E2}"/>
              </a:ext>
            </a:extLst>
          </p:cNvPr>
          <p:cNvSpPr>
            <a:spLocks xmlns:a="http://schemas.openxmlformats.org/drawingml/2006/main" noGrp="1"/>
          </p:cNvSpPr>
          <p:nvPr/>
        </p:nvSpPr>
        <p:spPr>
          <a:xfrm xmlns:a="http://schemas.openxmlformats.org/drawingml/2006/main">
            <a:off x="609600" y="838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13A"/>
                </a:solidFill>
                <a:latin typeface="Aptos"/>
                <a:ea typeface="Aptos"/>
                <a:cs typeface="Aptos"/>
              </a:defRPr>
            </a:pPr>
            <a:r>
              <a:rPr sz="3225" b="1">
                <a:solidFill>
                  <a:srgbClr val="14213A"/>
                </a:solidFill>
                <a:latin typeface="Aptos"/>
                <a:ea typeface="Aptos"/>
                <a:cs typeface="Aptos"/>
              </a:rPr>
              <a:t>Solution architecture</a:t>
            </a:r>
          </a:p>
        </p:txBody>
      </p:sp>
      <p:sp>
        <p:nvSpPr>
          <p:cNvPr id="3" name="">
            <a:extLst xmlns:a="http://schemas.openxmlformats.org/drawingml/2006/main">
              <a:ext uri="{FF2B5EF4-FFF2-40B4-BE49-F238E27FC236}">
                <a16:creationId xmlns:a16="http://schemas.microsoft.com/office/drawing/2014/main" id="{CF0DB8F7-45BE-4D0A-8DF8-1146557AA328}"/>
              </a:ext>
            </a:extLst>
          </p:cNvPr>
          <p:cNvSpPr>
            <a:spLocks xmlns:a="http://schemas.openxmlformats.org/drawingml/2006/main" noGrp="1"/>
          </p:cNvSpPr>
          <p:nvPr/>
        </p:nvSpPr>
        <p:spPr>
          <a:xfrm xmlns:a="http://schemas.openxmlformats.org/drawingml/2006/main">
            <a:off x="609600" y="642937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57186"/>
                </a:solidFill>
                <a:latin typeface="Aptos"/>
                <a:ea typeface="Aptos"/>
                <a:cs typeface="Aptos"/>
              </a:defRPr>
            </a:pPr>
            <a:r>
              <a:rPr sz="1050" b="0">
                <a:solidFill>
                  <a:srgbClr val="657186"/>
                </a:solidFill>
                <a:latin typeface="Aptos"/>
                <a:ea typeface="Aptos"/>
                <a:cs typeface="Aptos"/>
              </a:rPr>
              <a:t>SRMIST, Chennai · Smart Guided Troubleshooting</a:t>
            </a:r>
          </a:p>
        </p:txBody>
      </p:sp>
      <p:sp>
        <p:nvSpPr>
          <p:cNvPr id="4" name="">
            <a:extLst xmlns:a="http://schemas.openxmlformats.org/drawingml/2006/main">
              <a:ext uri="{FF2B5EF4-FFF2-40B4-BE49-F238E27FC236}">
                <a16:creationId xmlns:a16="http://schemas.microsoft.com/office/drawing/2014/main" id="{E92A93CE-23FD-44FD-B1B3-9A39B86DC2C3}"/>
              </a:ext>
            </a:extLst>
          </p:cNvPr>
          <p:cNvSpPr>
            <a:spLocks xmlns:a="http://schemas.openxmlformats.org/drawingml/2006/main" noGrp="1"/>
          </p:cNvSpPr>
          <p:nvPr/>
        </p:nvSpPr>
        <p:spPr>
          <a:xfrm xmlns:a="http://schemas.openxmlformats.org/drawingml/2006/main">
            <a:off x="11049000" y="6429375"/>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57186"/>
                </a:solidFill>
                <a:latin typeface="Aptos"/>
                <a:ea typeface="Aptos"/>
                <a:cs typeface="Aptos"/>
              </a:defRPr>
            </a:pPr>
            <a:r>
              <a:rPr sz="1050" b="0">
                <a:solidFill>
                  <a:srgbClr val="657186"/>
                </a:solidFill>
                <a:latin typeface="Aptos"/>
                <a:ea typeface="Aptos"/>
                <a:cs typeface="Aptos"/>
              </a:rPr>
              <a:t>04</a:t>
            </a:r>
          </a:p>
        </p:txBody>
      </p:sp>
      <p:sp>
        <p:nvSpPr>
          <p:cNvPr id="5" name="">
            <a:extLst xmlns:a="http://schemas.openxmlformats.org/drawingml/2006/main">
              <a:ext uri="{FF2B5EF4-FFF2-40B4-BE49-F238E27FC236}">
                <a16:creationId xmlns:a16="http://schemas.microsoft.com/office/drawing/2014/main" id="{78C55733-6D60-48BF-9173-81D774E9F0AB}"/>
              </a:ext>
            </a:extLst>
          </p:cNvPr>
          <p:cNvSpPr>
            <a:spLocks xmlns:a="http://schemas.openxmlformats.org/drawingml/2006/main" noGrp="1"/>
          </p:cNvSpPr>
          <p:nvPr/>
        </p:nvSpPr>
        <p:spPr>
          <a:xfrm xmlns:a="http://schemas.openxmlformats.org/drawingml/2006/main">
            <a:off x="609600" y="1552575"/>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57186"/>
                </a:solidFill>
                <a:latin typeface="Aptos"/>
                <a:ea typeface="Aptos"/>
                <a:cs typeface="Aptos"/>
              </a:defRPr>
            </a:pPr>
            <a:r>
              <a:rPr sz="1800" b="0">
                <a:solidFill>
                  <a:srgbClr val="657186"/>
                </a:solidFill>
                <a:latin typeface="Aptos"/>
                <a:ea typeface="Aptos"/>
                <a:cs typeface="Aptos"/>
              </a:rPr>
              <a:t>Source selection and catalog selection form the two model stages.</a:t>
            </a:r>
          </a:p>
        </p:txBody>
      </p:sp>
      <p:sp>
        <p:nvSpPr>
          <p:cNvPr id="6" name="">
            <a:extLst xmlns:a="http://schemas.openxmlformats.org/drawingml/2006/main">
              <a:ext uri="{FF2B5EF4-FFF2-40B4-BE49-F238E27FC236}">
                <a16:creationId xmlns:a16="http://schemas.microsoft.com/office/drawing/2014/main" id="{03FA5EEE-B0FC-464B-94D0-229970DC0083}"/>
              </a:ext>
            </a:extLst>
          </p:cNvPr>
          <p:cNvSpPr>
            <a:spLocks xmlns:a="http://schemas.openxmlformats.org/drawingml/2006/main" noGrp="1"/>
          </p:cNvSpPr>
          <p:nvPr/>
        </p:nvSpPr>
        <p:spPr>
          <a:xfrm xmlns:a="http://schemas.openxmlformats.org/drawingml/2006/main">
            <a:off x="609600" y="2257425"/>
            <a:ext cx="2428875" cy="933450"/>
          </a:xfrm>
          <a:prstGeom xmlns:a="http://schemas.openxmlformats.org/drawingml/2006/main" prst="rect">
            <a:avLst/>
          </a:prstGeom>
          <a:solidFill xmlns:a="http://schemas.openxmlformats.org/drawingml/2006/main">
            <a:srgbClr val="FFFFFF"/>
          </a:solidFill>
          <a:ln xmlns:a="http://schemas.openxmlformats.org/drawingml/2006/main" w="14288">
            <a:solidFill>
              <a:srgbClr val="3858ED"/>
            </a:solidFill>
          </a:ln>
        </p:spPr>
        <p:txBody>
          <a:bodyPr xmlns:a="http://schemas.openxmlformats.org/drawingml/2006/main"/>
          <a:lstStyle xmlns:a="http://schemas.openxmlformats.org/drawingml/2006/main"/>
          <a:p xmlns:a="http://schemas.openxmlformats.org/drawingml/2006/main">
            <a:pPr>
              <a:defRPr sz="1800" b="1">
                <a:solidFill>
                  <a:srgbClr val="14213A"/>
                </a:solidFill>
                <a:latin typeface="Aptos"/>
                <a:ea typeface="Aptos"/>
                <a:cs typeface="Aptos"/>
              </a:defRPr>
            </a:pPr>
            <a:r>
              <a:rPr sz="1800" b="1">
                <a:solidFill>
                  <a:srgbClr val="14213A"/>
                </a:solidFill>
                <a:latin typeface="Aptos"/>
                <a:ea typeface="Aptos"/>
                <a:cs typeface="Aptos"/>
              </a:rPr>
              <a:t>Complaint +</a:t>
            </a:r>
          </a:p>
          <a:p xmlns:a="http://schemas.openxmlformats.org/drawingml/2006/main">
            <a:pPr>
              <a:defRPr sz="1800" b="1">
                <a:solidFill>
                  <a:srgbClr val="14213A"/>
                </a:solidFill>
                <a:latin typeface="Aptos"/>
                <a:ea typeface="Aptos"/>
                <a:cs typeface="Aptos"/>
              </a:defRPr>
            </a:pPr>
            <a:r>
              <a:rPr sz="1800" b="1">
                <a:solidFill>
                  <a:srgbClr val="14213A"/>
                </a:solidFill>
                <a:latin typeface="Aptos"/>
                <a:ea typeface="Aptos"/>
                <a:cs typeface="Aptos"/>
              </a:rPr>
              <a:t>optional SIIS text</a:t>
            </a:r>
          </a:p>
        </p:txBody>
      </p:sp>
      <p:sp>
        <p:nvSpPr>
          <p:cNvPr id="7" name="">
            <a:extLst xmlns:a="http://schemas.openxmlformats.org/drawingml/2006/main">
              <a:ext uri="{FF2B5EF4-FFF2-40B4-BE49-F238E27FC236}">
                <a16:creationId xmlns:a16="http://schemas.microsoft.com/office/drawing/2014/main" id="{F6F1C4E7-95B0-41EC-91B8-AF3B110B2715}"/>
              </a:ext>
            </a:extLst>
          </p:cNvPr>
          <p:cNvSpPr>
            <a:spLocks xmlns:a="http://schemas.openxmlformats.org/drawingml/2006/main" noGrp="1"/>
          </p:cNvSpPr>
          <p:nvPr/>
        </p:nvSpPr>
        <p:spPr>
          <a:xfrm xmlns:a="http://schemas.openxmlformats.org/drawingml/2006/main">
            <a:off x="4667250" y="2257425"/>
            <a:ext cx="2428875" cy="933450"/>
          </a:xfrm>
          <a:prstGeom xmlns:a="http://schemas.openxmlformats.org/drawingml/2006/main" prst="rect">
            <a:avLst/>
          </a:prstGeom>
          <a:solidFill xmlns:a="http://schemas.openxmlformats.org/drawingml/2006/main">
            <a:srgbClr val="FFFFFF"/>
          </a:solidFill>
          <a:ln xmlns:a="http://schemas.openxmlformats.org/drawingml/2006/main" w="14288">
            <a:solidFill>
              <a:srgbClr val="3858ED"/>
            </a:solidFill>
          </a:ln>
        </p:spPr>
        <p:txBody>
          <a:bodyPr xmlns:a="http://schemas.openxmlformats.org/drawingml/2006/main"/>
          <a:lstStyle xmlns:a="http://schemas.openxmlformats.org/drawingml/2006/main"/>
          <a:p xmlns:a="http://schemas.openxmlformats.org/drawingml/2006/main">
            <a:pPr>
              <a:defRPr sz="1800" b="1">
                <a:solidFill>
                  <a:srgbClr val="14213A"/>
                </a:solidFill>
                <a:latin typeface="Aptos"/>
                <a:ea typeface="Aptos"/>
                <a:cs typeface="Aptos"/>
              </a:defRPr>
            </a:pPr>
            <a:r>
              <a:rPr sz="1800" b="1">
                <a:solidFill>
                  <a:srgbClr val="14213A"/>
                </a:solidFill>
                <a:latin typeface="Aptos"/>
                <a:ea typeface="Aptos"/>
                <a:cs typeface="Aptos"/>
              </a:rPr>
              <a:t>Normalise +</a:t>
            </a:r>
          </a:p>
          <a:p xmlns:a="http://schemas.openxmlformats.org/drawingml/2006/main">
            <a:pPr>
              <a:defRPr sz="1800" b="1">
                <a:solidFill>
                  <a:srgbClr val="14213A"/>
                </a:solidFill>
                <a:latin typeface="Aptos"/>
                <a:ea typeface="Aptos"/>
                <a:cs typeface="Aptos"/>
              </a:defRPr>
            </a:pPr>
            <a:r>
              <a:rPr sz="1800" b="1">
                <a:solidFill>
                  <a:srgbClr val="14213A"/>
                </a:solidFill>
                <a:latin typeface="Aptos"/>
                <a:ea typeface="Aptos"/>
                <a:cs typeface="Aptos"/>
              </a:rPr>
              <a:t>retrieve reference</a:t>
            </a:r>
          </a:p>
        </p:txBody>
      </p:sp>
      <p:sp>
        <p:nvSpPr>
          <p:cNvPr id="8" name="">
            <a:extLst xmlns:a="http://schemas.openxmlformats.org/drawingml/2006/main">
              <a:ext uri="{FF2B5EF4-FFF2-40B4-BE49-F238E27FC236}">
                <a16:creationId xmlns:a16="http://schemas.microsoft.com/office/drawing/2014/main" id="{C733C79D-CFFB-4312-8E43-1A9E708CDACF}"/>
              </a:ext>
            </a:extLst>
          </p:cNvPr>
          <p:cNvSpPr>
            <a:spLocks xmlns:a="http://schemas.openxmlformats.org/drawingml/2006/main" noGrp="1"/>
          </p:cNvSpPr>
          <p:nvPr/>
        </p:nvSpPr>
        <p:spPr>
          <a:xfrm xmlns:a="http://schemas.openxmlformats.org/drawingml/2006/main">
            <a:off x="8724900" y="2257425"/>
            <a:ext cx="2428875" cy="933450"/>
          </a:xfrm>
          <a:prstGeom xmlns:a="http://schemas.openxmlformats.org/drawingml/2006/main" prst="rect">
            <a:avLst/>
          </a:prstGeom>
          <a:solidFill xmlns:a="http://schemas.openxmlformats.org/drawingml/2006/main">
            <a:srgbClr val="FFFFFF"/>
          </a:solidFill>
          <a:ln xmlns:a="http://schemas.openxmlformats.org/drawingml/2006/main" w="14288">
            <a:solidFill>
              <a:srgbClr val="3858ED"/>
            </a:solidFill>
          </a:ln>
        </p:spPr>
        <p:txBody>
          <a:bodyPr xmlns:a="http://schemas.openxmlformats.org/drawingml/2006/main"/>
          <a:lstStyle xmlns:a="http://schemas.openxmlformats.org/drawingml/2006/main"/>
          <a:p xmlns:a="http://schemas.openxmlformats.org/drawingml/2006/main">
            <a:pPr>
              <a:defRPr sz="1800" b="1">
                <a:solidFill>
                  <a:srgbClr val="14213A"/>
                </a:solidFill>
                <a:latin typeface="Aptos"/>
                <a:ea typeface="Aptos"/>
                <a:cs typeface="Aptos"/>
              </a:defRPr>
            </a:pPr>
            <a:r>
              <a:rPr sz="1800" b="1">
                <a:solidFill>
                  <a:srgbClr val="14213A"/>
                </a:solidFill>
                <a:latin typeface="Aptos"/>
                <a:ea typeface="Aptos"/>
                <a:cs typeface="Aptos"/>
              </a:rPr>
              <a:t>Source-specific</a:t>
            </a:r>
          </a:p>
          <a:p xmlns:a="http://schemas.openxmlformats.org/drawingml/2006/main">
            <a:pPr>
              <a:defRPr sz="1800" b="1">
                <a:solidFill>
                  <a:srgbClr val="14213A"/>
                </a:solidFill>
                <a:latin typeface="Aptos"/>
                <a:ea typeface="Aptos"/>
                <a:cs typeface="Aptos"/>
              </a:defRPr>
            </a:pPr>
            <a:r>
              <a:rPr sz="1800" b="1">
                <a:solidFill>
                  <a:srgbClr val="14213A"/>
                </a:solidFill>
                <a:latin typeface="Aptos"/>
                <a:ea typeface="Aptos"/>
                <a:cs typeface="Aptos"/>
              </a:rPr>
              <a:t>SQLite cache</a:t>
            </a:r>
          </a:p>
        </p:txBody>
      </p:sp>
      <p:sp>
        <p:nvSpPr>
          <p:cNvPr id="9" name="">
            <a:extLst xmlns:a="http://schemas.openxmlformats.org/drawingml/2006/main">
              <a:ext uri="{FF2B5EF4-FFF2-40B4-BE49-F238E27FC236}">
                <a16:creationId xmlns:a16="http://schemas.microsoft.com/office/drawing/2014/main" id="{4BD15317-880C-426A-BC9B-DE02986F78B8}"/>
              </a:ext>
            </a:extLst>
          </p:cNvPr>
          <p:cNvSpPr>
            <a:spLocks xmlns:a="http://schemas.openxmlformats.org/drawingml/2006/main" noGrp="1"/>
          </p:cNvSpPr>
          <p:nvPr/>
        </p:nvSpPr>
        <p:spPr>
          <a:xfrm xmlns:a="http://schemas.openxmlformats.org/drawingml/2006/main">
            <a:off x="609600" y="3981450"/>
            <a:ext cx="2428875" cy="933450"/>
          </a:xfrm>
          <a:prstGeom xmlns:a="http://schemas.openxmlformats.org/drawingml/2006/main" prst="rect">
            <a:avLst/>
          </a:prstGeom>
          <a:solidFill xmlns:a="http://schemas.openxmlformats.org/drawingml/2006/main">
            <a:srgbClr val="FFFFFF"/>
          </a:solidFill>
          <a:ln xmlns:a="http://schemas.openxmlformats.org/drawingml/2006/main" w="14288">
            <a:solidFill>
              <a:srgbClr val="3858ED"/>
            </a:solidFill>
          </a:ln>
        </p:spPr>
        <p:txBody>
          <a:bodyPr xmlns:a="http://schemas.openxmlformats.org/drawingml/2006/main"/>
          <a:lstStyle xmlns:a="http://schemas.openxmlformats.org/drawingml/2006/main"/>
          <a:p xmlns:a="http://schemas.openxmlformats.org/drawingml/2006/main">
            <a:pPr>
              <a:defRPr sz="1800" b="1">
                <a:solidFill>
                  <a:srgbClr val="14213A"/>
                </a:solidFill>
                <a:latin typeface="Aptos"/>
                <a:ea typeface="Aptos"/>
                <a:cs typeface="Aptos"/>
              </a:defRPr>
            </a:pPr>
            <a:r>
              <a:rPr sz="1800" b="1">
                <a:solidFill>
                  <a:srgbClr val="14213A"/>
                </a:solidFill>
                <a:latin typeface="Aptos"/>
                <a:ea typeface="Aptos"/>
                <a:cs typeface="Aptos"/>
              </a:rPr>
              <a:t>Stage 1</a:t>
            </a:r>
          </a:p>
          <a:p xmlns:a="http://schemas.openxmlformats.org/drawingml/2006/main">
            <a:pPr>
              <a:defRPr sz="1800" b="1">
                <a:solidFill>
                  <a:srgbClr val="14213A"/>
                </a:solidFill>
                <a:latin typeface="Aptos"/>
                <a:ea typeface="Aptos"/>
                <a:cs typeface="Aptos"/>
              </a:defRPr>
            </a:pPr>
            <a:r>
              <a:rPr sz="1800" b="1">
                <a:solidFill>
                  <a:srgbClr val="14213A"/>
                </a:solidFill>
                <a:latin typeface="Aptos"/>
                <a:ea typeface="Aptos"/>
                <a:cs typeface="Aptos"/>
              </a:rPr>
              <a:t>Source line IDs</a:t>
            </a:r>
          </a:p>
        </p:txBody>
      </p:sp>
      <p:sp>
        <p:nvSpPr>
          <p:cNvPr id="10" name="">
            <a:extLst xmlns:a="http://schemas.openxmlformats.org/drawingml/2006/main">
              <a:ext uri="{FF2B5EF4-FFF2-40B4-BE49-F238E27FC236}">
                <a16:creationId xmlns:a16="http://schemas.microsoft.com/office/drawing/2014/main" id="{45316C98-9443-4AF3-A6C2-B993EBE0D097}"/>
              </a:ext>
            </a:extLst>
          </p:cNvPr>
          <p:cNvSpPr>
            <a:spLocks xmlns:a="http://schemas.openxmlformats.org/drawingml/2006/main" noGrp="1"/>
          </p:cNvSpPr>
          <p:nvPr/>
        </p:nvSpPr>
        <p:spPr>
          <a:xfrm xmlns:a="http://schemas.openxmlformats.org/drawingml/2006/main">
            <a:off x="4667250" y="3981450"/>
            <a:ext cx="2428875" cy="933450"/>
          </a:xfrm>
          <a:prstGeom xmlns:a="http://schemas.openxmlformats.org/drawingml/2006/main" prst="rect">
            <a:avLst/>
          </a:prstGeom>
          <a:solidFill xmlns:a="http://schemas.openxmlformats.org/drawingml/2006/main">
            <a:srgbClr val="FFFFFF"/>
          </a:solidFill>
          <a:ln xmlns:a="http://schemas.openxmlformats.org/drawingml/2006/main" w="14288">
            <a:solidFill>
              <a:srgbClr val="3858ED"/>
            </a:solidFill>
          </a:ln>
        </p:spPr>
        <p:txBody>
          <a:bodyPr xmlns:a="http://schemas.openxmlformats.org/drawingml/2006/main"/>
          <a:lstStyle xmlns:a="http://schemas.openxmlformats.org/drawingml/2006/main"/>
          <a:p xmlns:a="http://schemas.openxmlformats.org/drawingml/2006/main">
            <a:pPr>
              <a:defRPr sz="1800" b="1">
                <a:solidFill>
                  <a:srgbClr val="14213A"/>
                </a:solidFill>
                <a:latin typeface="Aptos"/>
                <a:ea typeface="Aptos"/>
                <a:cs typeface="Aptos"/>
              </a:defRPr>
            </a:pPr>
            <a:r>
              <a:rPr sz="1800" b="1">
                <a:solidFill>
                  <a:srgbClr val="14213A"/>
                </a:solidFill>
                <a:latin typeface="Aptos"/>
                <a:ea typeface="Aptos"/>
                <a:cs typeface="Aptos"/>
              </a:rPr>
              <a:t>Stage 2</a:t>
            </a:r>
          </a:p>
          <a:p xmlns:a="http://schemas.openxmlformats.org/drawingml/2006/main">
            <a:pPr>
              <a:defRPr sz="1800" b="1">
                <a:solidFill>
                  <a:srgbClr val="14213A"/>
                </a:solidFill>
                <a:latin typeface="Aptos"/>
                <a:ea typeface="Aptos"/>
                <a:cs typeface="Aptos"/>
              </a:defRPr>
            </a:pPr>
            <a:r>
              <a:rPr sz="1800" b="1">
                <a:solidFill>
                  <a:srgbClr val="14213A"/>
                </a:solidFill>
                <a:latin typeface="Aptos"/>
                <a:ea typeface="Aptos"/>
                <a:cs typeface="Aptos"/>
              </a:rPr>
              <a:t>Catalog IDs</a:t>
            </a:r>
          </a:p>
        </p:txBody>
      </p:sp>
      <p:sp>
        <p:nvSpPr>
          <p:cNvPr id="11" name="">
            <a:extLst xmlns:a="http://schemas.openxmlformats.org/drawingml/2006/main">
              <a:ext uri="{FF2B5EF4-FFF2-40B4-BE49-F238E27FC236}">
                <a16:creationId xmlns:a16="http://schemas.microsoft.com/office/drawing/2014/main" id="{94114C59-0AC9-482C-91D6-240A90C31410}"/>
              </a:ext>
            </a:extLst>
          </p:cNvPr>
          <p:cNvSpPr>
            <a:spLocks xmlns:a="http://schemas.openxmlformats.org/drawingml/2006/main" noGrp="1"/>
          </p:cNvSpPr>
          <p:nvPr/>
        </p:nvSpPr>
        <p:spPr>
          <a:xfrm xmlns:a="http://schemas.openxmlformats.org/drawingml/2006/main">
            <a:off x="8724900" y="3981450"/>
            <a:ext cx="2428875" cy="933450"/>
          </a:xfrm>
          <a:prstGeom xmlns:a="http://schemas.openxmlformats.org/drawingml/2006/main" prst="rect">
            <a:avLst/>
          </a:prstGeom>
          <a:solidFill xmlns:a="http://schemas.openxmlformats.org/drawingml/2006/main">
            <a:srgbClr val="FFFFFF"/>
          </a:solidFill>
          <a:ln xmlns:a="http://schemas.openxmlformats.org/drawingml/2006/main" w="14288">
            <a:solidFill>
              <a:srgbClr val="3858ED"/>
            </a:solidFill>
          </a:ln>
        </p:spPr>
        <p:txBody>
          <a:bodyPr xmlns:a="http://schemas.openxmlformats.org/drawingml/2006/main"/>
          <a:lstStyle xmlns:a="http://schemas.openxmlformats.org/drawingml/2006/main"/>
          <a:p xmlns:a="http://schemas.openxmlformats.org/drawingml/2006/main">
            <a:pPr>
              <a:defRPr sz="1800" b="1">
                <a:solidFill>
                  <a:srgbClr val="14213A"/>
                </a:solidFill>
                <a:latin typeface="Aptos"/>
                <a:ea typeface="Aptos"/>
                <a:cs typeface="Aptos"/>
              </a:defRPr>
            </a:pPr>
            <a:r>
              <a:rPr sz="1800" b="1">
                <a:solidFill>
                  <a:srgbClr val="14213A"/>
                </a:solidFill>
                <a:latin typeface="Aptos"/>
                <a:ea typeface="Aptos"/>
                <a:cs typeface="Aptos"/>
              </a:rPr>
              <a:t>Code checks</a:t>
            </a:r>
          </a:p>
          <a:p xmlns:a="http://schemas.openxmlformats.org/drawingml/2006/main">
            <a:pPr>
              <a:defRPr sz="1800" b="1">
                <a:solidFill>
                  <a:srgbClr val="14213A"/>
                </a:solidFill>
                <a:latin typeface="Aptos"/>
                <a:ea typeface="Aptos"/>
                <a:cs typeface="Aptos"/>
              </a:defRPr>
            </a:pPr>
            <a:r>
              <a:rPr sz="1800" b="1">
                <a:solidFill>
                  <a:srgbClr val="14213A"/>
                </a:solidFill>
                <a:latin typeface="Aptos"/>
                <a:ea typeface="Aptos"/>
                <a:cs typeface="Aptos"/>
              </a:rPr>
              <a:t>Validated JSON</a:t>
            </a:r>
          </a:p>
        </p:txBody>
      </p:sp>
      <p:cxnSp>
        <p:nvCxnSpPr>
          <p:cNvPr id="30" name=""/>
          <p:cNvCxnSpPr>
            <a:stCxn xmlns:a="http://schemas.openxmlformats.org/drawingml/2006/main" id="6" idx="3"/>
            <a:endCxn xmlns:a="http://schemas.openxmlformats.org/drawingml/2006/main" id="7" idx="1"/>
          </p:cNvCxnSpPr>
          <p:nvPr/>
        </p:nvCxnSpPr>
        <p:spPr>
          <a:xfrm xmlns:a="http://schemas.openxmlformats.org/drawingml/2006/main">
            <a:off x="3038475" y="2724150"/>
            <a:ext cx="1628775" cy="0"/>
          </a:xfrm>
          <a:prstGeom xmlns:a="http://schemas.openxmlformats.org/drawingml/2006/main" prst="straightConnector1">
            <a:avLst/>
          </a:prstGeom>
          <a:ln xmlns:a="http://schemas.openxmlformats.org/drawingml/2006/main" w="19050">
            <a:solidFill>
              <a:srgbClr val="3858ED"/>
            </a:solidFill>
            <a:prstDash val="solid"/>
            <a:tailEnd type="arrow" w="med" len="med"/>
          </a:ln>
        </p:spPr>
      </p:cxnSp>
      <p:cxnSp>
        <p:nvCxnSpPr>
          <p:cNvPr id="31" name=""/>
          <p:cNvCxnSpPr>
            <a:stCxn xmlns:a="http://schemas.openxmlformats.org/drawingml/2006/main" id="7" idx="3"/>
            <a:endCxn xmlns:a="http://schemas.openxmlformats.org/drawingml/2006/main" id="8" idx="1"/>
          </p:cNvCxnSpPr>
          <p:nvPr/>
        </p:nvCxnSpPr>
        <p:spPr>
          <a:xfrm xmlns:a="http://schemas.openxmlformats.org/drawingml/2006/main">
            <a:off x="7096125" y="2724150"/>
            <a:ext cx="1628775" cy="0"/>
          </a:xfrm>
          <a:prstGeom xmlns:a="http://schemas.openxmlformats.org/drawingml/2006/main" prst="straightConnector1">
            <a:avLst/>
          </a:prstGeom>
          <a:ln xmlns:a="http://schemas.openxmlformats.org/drawingml/2006/main" w="19050">
            <a:solidFill>
              <a:srgbClr val="3858ED"/>
            </a:solidFill>
            <a:prstDash val="solid"/>
            <a:tailEnd type="arrow" w="med" len="med"/>
          </a:ln>
        </p:spPr>
      </p:cxnSp>
      <p:cxnSp>
        <p:nvCxnSpPr>
          <p:cNvPr id="32" name=""/>
          <p:cNvCxnSpPr>
            <a:stCxn xmlns:a="http://schemas.openxmlformats.org/drawingml/2006/main" id="9" idx="3"/>
            <a:endCxn xmlns:a="http://schemas.openxmlformats.org/drawingml/2006/main" id="10" idx="1"/>
          </p:cNvCxnSpPr>
          <p:nvPr/>
        </p:nvCxnSpPr>
        <p:spPr>
          <a:xfrm xmlns:a="http://schemas.openxmlformats.org/drawingml/2006/main">
            <a:off x="3038475" y="4448175"/>
            <a:ext cx="1628775" cy="0"/>
          </a:xfrm>
          <a:prstGeom xmlns:a="http://schemas.openxmlformats.org/drawingml/2006/main" prst="straightConnector1">
            <a:avLst/>
          </a:prstGeom>
          <a:ln xmlns:a="http://schemas.openxmlformats.org/drawingml/2006/main" w="19050">
            <a:solidFill>
              <a:srgbClr val="3858ED"/>
            </a:solidFill>
            <a:prstDash val="solid"/>
            <a:tailEnd type="arrow" w="med" len="med"/>
          </a:ln>
        </p:spPr>
      </p:cxnSp>
      <p:cxnSp>
        <p:nvCxnSpPr>
          <p:cNvPr id="33" name=""/>
          <p:cNvCxnSpPr>
            <a:stCxn xmlns:a="http://schemas.openxmlformats.org/drawingml/2006/main" id="10" idx="3"/>
            <a:endCxn xmlns:a="http://schemas.openxmlformats.org/drawingml/2006/main" id="11" idx="1"/>
          </p:cNvCxnSpPr>
          <p:nvPr/>
        </p:nvCxnSpPr>
        <p:spPr>
          <a:xfrm xmlns:a="http://schemas.openxmlformats.org/drawingml/2006/main">
            <a:off x="7096125" y="4448175"/>
            <a:ext cx="1628775" cy="0"/>
          </a:xfrm>
          <a:prstGeom xmlns:a="http://schemas.openxmlformats.org/drawingml/2006/main" prst="straightConnector1">
            <a:avLst/>
          </a:prstGeom>
          <a:ln xmlns:a="http://schemas.openxmlformats.org/drawingml/2006/main" w="19050">
            <a:solidFill>
              <a:srgbClr val="3858ED"/>
            </a:solidFill>
            <a:prstDash val="solid"/>
            <a:tailEnd type="arrow" w="med" len="med"/>
          </a:ln>
        </p:spPr>
      </p:cxnSp>
      <p:cxnSp>
        <p:nvCxnSpPr>
          <p:cNvPr id="34" name=""/>
          <p:cNvCxnSpPr>
            <a:stCxn xmlns:a="http://schemas.openxmlformats.org/drawingml/2006/main" id="8" idx="2"/>
            <a:endCxn xmlns:a="http://schemas.openxmlformats.org/drawingml/2006/main" id="9" idx="0"/>
          </p:cNvCxnSpPr>
          <p:nvPr/>
        </p:nvCxnSpPr>
        <p:spPr>
          <a:xfrm xmlns:a="http://schemas.openxmlformats.org/drawingml/2006/main" flipH="1">
            <a:off x="1824038" y="3190875"/>
            <a:ext cx="8115300" cy="790575"/>
          </a:xfrm>
          <a:prstGeom xmlns:a="http://schemas.openxmlformats.org/drawingml/2006/main" prst="bentConnector4">
            <a:avLst>
              <a:gd name="adj1" fmla="val 0"/>
              <a:gd name="adj2" fmla="val 50000"/>
            </a:avLst>
          </a:prstGeom>
          <a:ln xmlns:a="http://schemas.openxmlformats.org/drawingml/2006/main" w="19050">
            <a:solidFill>
              <a:srgbClr val="3858ED"/>
            </a:solidFill>
            <a:prstDash val="solid"/>
            <a:tailEnd type="arrow" w="med" len="med"/>
          </a:ln>
        </p:spPr>
      </p:cxnSp>
      <p:sp>
        <p:nvSpPr>
          <p:cNvPr id="17" name="">
            <a:extLst xmlns:a="http://schemas.openxmlformats.org/drawingml/2006/main">
              <a:ext uri="{FF2B5EF4-FFF2-40B4-BE49-F238E27FC236}">
                <a16:creationId xmlns:a16="http://schemas.microsoft.com/office/drawing/2014/main" id="{0B303622-8477-4851-93A6-42E232AEB092}"/>
              </a:ext>
            </a:extLst>
          </p:cNvPr>
          <p:cNvSpPr>
            <a:spLocks xmlns:a="http://schemas.openxmlformats.org/drawingml/2006/main" noGrp="1"/>
          </p:cNvSpPr>
          <p:nvPr/>
        </p:nvSpPr>
        <p:spPr>
          <a:xfrm xmlns:a="http://schemas.openxmlformats.org/drawingml/2006/main">
            <a:off x="609600" y="5410200"/>
            <a:ext cx="1076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3858ED"/>
                </a:solidFill>
                <a:latin typeface="Aptos"/>
                <a:ea typeface="Aptos"/>
                <a:cs typeface="Aptos"/>
              </a:defRPr>
            </a:pPr>
            <a:r>
              <a:rPr sz="1950" b="1">
                <a:solidFill>
                  <a:srgbClr val="3858ED"/>
                </a:solidFill>
                <a:latin typeface="Aptos"/>
                <a:ea typeface="Aptos"/>
                <a:cs typeface="Aptos"/>
              </a:rPr>
              <a:t>Cache hit → stored validated plan; no inference</a:t>
            </a:r>
          </a:p>
        </p:txBody>
      </p:sp>
      <p:sp>
        <p:nvSpPr>
          <p:cNvPr id="18" name="">
            <a:extLst xmlns:a="http://schemas.openxmlformats.org/drawingml/2006/main">
              <a:ext uri="{FF2B5EF4-FFF2-40B4-BE49-F238E27FC236}">
                <a16:creationId xmlns:a16="http://schemas.microsoft.com/office/drawing/2014/main" id="{4517CC47-A679-4021-A756-FCC7E545E991}"/>
              </a:ext>
            </a:extLst>
          </p:cNvPr>
          <p:cNvSpPr>
            <a:spLocks xmlns:a="http://schemas.openxmlformats.org/drawingml/2006/main" noGrp="1"/>
          </p:cNvSpPr>
          <p:nvPr/>
        </p:nvSpPr>
        <p:spPr>
          <a:xfrm xmlns:a="http://schemas.openxmlformats.org/drawingml/2006/main">
            <a:off x="609600" y="5905500"/>
            <a:ext cx="10763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657186"/>
                </a:solidFill>
                <a:latin typeface="Aptos"/>
                <a:ea typeface="Aptos"/>
                <a:cs typeface="Aptos"/>
              </a:defRPr>
            </a:pPr>
            <a:r>
              <a:rPr sz="1575" b="0">
                <a:solidFill>
                  <a:srgbClr val="657186"/>
                </a:solidFill>
                <a:latin typeface="Aptos"/>
                <a:ea typeface="Aptos"/>
                <a:cs typeface="Aptos"/>
              </a:rPr>
              <a:t>Offline baseline uses extractive rules. Model mode requires an inference endpoint.</a:t>
            </a:r>
          </a:p>
        </p:txBody>
      </p:sp>
    </p:spTree>
    <p:extLst>
      <p:ext uri="{BB962C8B-B14F-4D97-AF65-F5344CB8AC3E}">
        <p14:creationId xmlns:p14="http://schemas.microsoft.com/office/powerpoint/2010/main" val="868494425"/>
      </p:ext>
    </p:extLst>
  </p:cSld>
</p:sld>
</file>

<file path=ppt/slides/slide5.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193B59A-77F5-4DF6-9853-AC82AE71E117}"/>
              </a:ext>
            </a:extLst>
          </p:cNvPr>
          <p:cNvSpPr>
            <a:spLocks xmlns:a="http://schemas.openxmlformats.org/drawingml/2006/main" noGrp="1"/>
          </p:cNvSpPr>
          <p:nvPr/>
        </p:nvSpPr>
        <p:spPr>
          <a:xfrm xmlns:a="http://schemas.openxmlformats.org/drawingml/2006/main">
            <a:off x="609600" y="28575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3858ED"/>
                </a:solidFill>
                <a:latin typeface="Aptos"/>
                <a:ea typeface="Aptos"/>
                <a:cs typeface="Aptos"/>
              </a:defRPr>
            </a:pPr>
            <a:r>
              <a:rPr sz="1125" b="1">
                <a:solidFill>
                  <a:srgbClr val="3858ED"/>
                </a:solidFill>
                <a:latin typeface="Aptos"/>
                <a:ea typeface="Aptos"/>
                <a:cs typeface="Aptos"/>
              </a:rPr>
              <a:t>SAMSUNG PRISM   /   THE SEMICOLONS   /   THEME 02</a:t>
            </a:r>
          </a:p>
        </p:txBody>
      </p:sp>
      <p:sp>
        <p:nvSpPr>
          <p:cNvPr id="2" name="">
            <a:extLst xmlns:a="http://schemas.openxmlformats.org/drawingml/2006/main">
              <a:ext uri="{FF2B5EF4-FFF2-40B4-BE49-F238E27FC236}">
                <a16:creationId xmlns:a16="http://schemas.microsoft.com/office/drawing/2014/main" id="{8E44CF3A-3461-4FD1-AFAE-B1C3A7BC3AF4}"/>
              </a:ext>
            </a:extLst>
          </p:cNvPr>
          <p:cNvSpPr>
            <a:spLocks xmlns:a="http://schemas.openxmlformats.org/drawingml/2006/main" noGrp="1"/>
          </p:cNvSpPr>
          <p:nvPr/>
        </p:nvSpPr>
        <p:spPr>
          <a:xfrm xmlns:a="http://schemas.openxmlformats.org/drawingml/2006/main">
            <a:off x="609600" y="838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13A"/>
                </a:solidFill>
                <a:latin typeface="Aptos"/>
                <a:ea typeface="Aptos"/>
                <a:cs typeface="Aptos"/>
              </a:defRPr>
            </a:pPr>
            <a:r>
              <a:rPr sz="3225" b="1">
                <a:solidFill>
                  <a:srgbClr val="14213A"/>
                </a:solidFill>
                <a:latin typeface="Aptos"/>
                <a:ea typeface="Aptos"/>
                <a:cs typeface="Aptos"/>
              </a:rPr>
              <a:t>Demo &amp; product walkthrough</a:t>
            </a:r>
          </a:p>
        </p:txBody>
      </p:sp>
      <p:sp>
        <p:nvSpPr>
          <p:cNvPr id="3" name="">
            <a:extLst xmlns:a="http://schemas.openxmlformats.org/drawingml/2006/main">
              <a:ext uri="{FF2B5EF4-FFF2-40B4-BE49-F238E27FC236}">
                <a16:creationId xmlns:a16="http://schemas.microsoft.com/office/drawing/2014/main" id="{C06327AB-AD01-4D30-BD88-32D6196014E6}"/>
              </a:ext>
            </a:extLst>
          </p:cNvPr>
          <p:cNvSpPr>
            <a:spLocks xmlns:a="http://schemas.openxmlformats.org/drawingml/2006/main" noGrp="1"/>
          </p:cNvSpPr>
          <p:nvPr/>
        </p:nvSpPr>
        <p:spPr>
          <a:xfrm xmlns:a="http://schemas.openxmlformats.org/drawingml/2006/main">
            <a:off x="609600" y="642937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57186"/>
                </a:solidFill>
                <a:latin typeface="Aptos"/>
                <a:ea typeface="Aptos"/>
                <a:cs typeface="Aptos"/>
              </a:defRPr>
            </a:pPr>
            <a:r>
              <a:rPr sz="1050" b="0">
                <a:solidFill>
                  <a:srgbClr val="657186"/>
                </a:solidFill>
                <a:latin typeface="Aptos"/>
                <a:ea typeface="Aptos"/>
                <a:cs typeface="Aptos"/>
              </a:rPr>
              <a:t>SRMIST, Chennai · Smart Guided Troubleshooting</a:t>
            </a:r>
          </a:p>
        </p:txBody>
      </p:sp>
      <p:sp>
        <p:nvSpPr>
          <p:cNvPr id="4" name="">
            <a:extLst xmlns:a="http://schemas.openxmlformats.org/drawingml/2006/main">
              <a:ext uri="{FF2B5EF4-FFF2-40B4-BE49-F238E27FC236}">
                <a16:creationId xmlns:a16="http://schemas.microsoft.com/office/drawing/2014/main" id="{35757748-D60D-404F-9D1B-B75B7C975FCE}"/>
              </a:ext>
            </a:extLst>
          </p:cNvPr>
          <p:cNvSpPr>
            <a:spLocks xmlns:a="http://schemas.openxmlformats.org/drawingml/2006/main" noGrp="1"/>
          </p:cNvSpPr>
          <p:nvPr/>
        </p:nvSpPr>
        <p:spPr>
          <a:xfrm xmlns:a="http://schemas.openxmlformats.org/drawingml/2006/main">
            <a:off x="11049000" y="6429375"/>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57186"/>
                </a:solidFill>
                <a:latin typeface="Aptos"/>
                <a:ea typeface="Aptos"/>
                <a:cs typeface="Aptos"/>
              </a:defRPr>
            </a:pPr>
            <a:r>
              <a:rPr sz="1050" b="0">
                <a:solidFill>
                  <a:srgbClr val="657186"/>
                </a:solidFill>
                <a:latin typeface="Aptos"/>
                <a:ea typeface="Aptos"/>
                <a:cs typeface="Aptos"/>
              </a:rPr>
              <a:t>05</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6f043835ec1c4c3c"/>
          <a:stretch xmlns:a="http://schemas.openxmlformats.org/drawingml/2006/main"/>
        </p:blipFill>
        <p:spPr>
          <a:xfrm xmlns:a="http://schemas.openxmlformats.org/drawingml/2006/main">
            <a:off x="1126786" y="1657350"/>
            <a:ext cx="6966628" cy="4476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DCB6C0F4-542D-46C2-9096-BA763A759526}"/>
              </a:ext>
            </a:extLst>
          </p:cNvPr>
          <p:cNvSpPr>
            <a:spLocks xmlns:a="http://schemas.openxmlformats.org/drawingml/2006/main" noGrp="1"/>
          </p:cNvSpPr>
          <p:nvPr/>
        </p:nvSpPr>
        <p:spPr>
          <a:xfrm xmlns:a="http://schemas.openxmlformats.org/drawingml/2006/main">
            <a:off x="8896350" y="1952625"/>
            <a:ext cx="266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4213A"/>
                </a:solidFill>
                <a:latin typeface="Aptos"/>
                <a:ea typeface="Aptos"/>
                <a:cs typeface="Aptos"/>
              </a:defRPr>
            </a:pPr>
            <a:r>
              <a:rPr sz="1800" b="1">
                <a:solidFill>
                  <a:srgbClr val="14213A"/>
                </a:solidFill>
                <a:latin typeface="Aptos"/>
                <a:ea typeface="Aptos"/>
                <a:cs typeface="Aptos"/>
              </a:rPr>
              <a:t>01  Supplied issue</a:t>
            </a:r>
          </a:p>
          <a:p xmlns:a="http://schemas.openxmlformats.org/drawingml/2006/main">
            <a:pPr>
              <a:defRPr sz="1800" b="1">
                <a:solidFill>
                  <a:srgbClr val="14213A"/>
                </a:solidFill>
                <a:latin typeface="Aptos"/>
                <a:ea typeface="Aptos"/>
                <a:cs typeface="Aptos"/>
              </a:defRPr>
            </a:pPr>
            <a:r>
              <a:rPr sz="1800" b="1">
                <a:solidFill>
                  <a:srgbClr val="14213A"/>
                </a:solidFill>
                <a:latin typeface="Aptos"/>
                <a:ea typeface="Aptos"/>
                <a:cs typeface="Aptos"/>
              </a:rPr>
              <a:t>Generate a source plan</a:t>
            </a:r>
          </a:p>
        </p:txBody>
      </p:sp>
      <p:sp>
        <p:nvSpPr>
          <p:cNvPr id="7" name="">
            <a:extLst xmlns:a="http://schemas.openxmlformats.org/drawingml/2006/main">
              <a:ext uri="{FF2B5EF4-FFF2-40B4-BE49-F238E27FC236}">
                <a16:creationId xmlns:a16="http://schemas.microsoft.com/office/drawing/2014/main" id="{51EC1284-0F62-4F4B-B088-81AD9867618B}"/>
              </a:ext>
            </a:extLst>
          </p:cNvPr>
          <p:cNvSpPr>
            <a:spLocks xmlns:a="http://schemas.openxmlformats.org/drawingml/2006/main" noGrp="1"/>
          </p:cNvSpPr>
          <p:nvPr/>
        </p:nvSpPr>
        <p:spPr>
          <a:xfrm xmlns:a="http://schemas.openxmlformats.org/drawingml/2006/main">
            <a:off x="8896350" y="3143250"/>
            <a:ext cx="266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4213A"/>
                </a:solidFill>
                <a:latin typeface="Aptos"/>
                <a:ea typeface="Aptos"/>
                <a:cs typeface="Aptos"/>
              </a:defRPr>
            </a:pPr>
            <a:r>
              <a:rPr sz="1800" b="1">
                <a:solidFill>
                  <a:srgbClr val="14213A"/>
                </a:solidFill>
                <a:latin typeface="Aptos"/>
                <a:ea typeface="Aptos"/>
                <a:cs typeface="Aptos"/>
              </a:rPr>
              <a:t>02  Repeat request</a:t>
            </a:r>
          </a:p>
          <a:p xmlns:a="http://schemas.openxmlformats.org/drawingml/2006/main">
            <a:pPr>
              <a:defRPr sz="1800" b="1">
                <a:solidFill>
                  <a:srgbClr val="14213A"/>
                </a:solidFill>
                <a:latin typeface="Aptos"/>
                <a:ea typeface="Aptos"/>
                <a:cs typeface="Aptos"/>
              </a:defRPr>
            </a:pPr>
            <a:r>
              <a:rPr sz="1800" b="1">
                <a:solidFill>
                  <a:srgbClr val="14213A"/>
                </a:solidFill>
                <a:latin typeface="Aptos"/>
                <a:ea typeface="Aptos"/>
                <a:cs typeface="Aptos"/>
              </a:rPr>
              <a:t>Inspect the cache hit</a:t>
            </a:r>
          </a:p>
        </p:txBody>
      </p:sp>
      <p:sp>
        <p:nvSpPr>
          <p:cNvPr id="8" name="">
            <a:extLst xmlns:a="http://schemas.openxmlformats.org/drawingml/2006/main">
              <a:ext uri="{FF2B5EF4-FFF2-40B4-BE49-F238E27FC236}">
                <a16:creationId xmlns:a16="http://schemas.microsoft.com/office/drawing/2014/main" id="{4CB10121-C8ED-462D-BF0D-B2BCE44CEE75}"/>
              </a:ext>
            </a:extLst>
          </p:cNvPr>
          <p:cNvSpPr>
            <a:spLocks xmlns:a="http://schemas.openxmlformats.org/drawingml/2006/main" noGrp="1"/>
          </p:cNvSpPr>
          <p:nvPr/>
        </p:nvSpPr>
        <p:spPr>
          <a:xfrm xmlns:a="http://schemas.openxmlformats.org/drawingml/2006/main">
            <a:off x="8896350" y="4333875"/>
            <a:ext cx="266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4213A"/>
                </a:solidFill>
                <a:latin typeface="Aptos"/>
                <a:ea typeface="Aptos"/>
                <a:cs typeface="Aptos"/>
              </a:defRPr>
            </a:pPr>
            <a:r>
              <a:rPr sz="1800" b="1">
                <a:solidFill>
                  <a:srgbClr val="14213A"/>
                </a:solidFill>
                <a:latin typeface="Aptos"/>
                <a:ea typeface="Aptos"/>
                <a:cs typeface="Aptos"/>
              </a:rPr>
              <a:t>03  Unknown issue</a:t>
            </a:r>
          </a:p>
          <a:p xmlns:a="http://schemas.openxmlformats.org/drawingml/2006/main">
            <a:pPr>
              <a:defRPr sz="1800" b="1">
                <a:solidFill>
                  <a:srgbClr val="14213A"/>
                </a:solidFill>
                <a:latin typeface="Aptos"/>
                <a:ea typeface="Aptos"/>
                <a:cs typeface="Aptos"/>
              </a:defRPr>
            </a:pPr>
            <a:r>
              <a:rPr sz="1800" b="1">
                <a:solidFill>
                  <a:srgbClr val="14213A"/>
                </a:solidFill>
                <a:latin typeface="Aptos"/>
                <a:ea typeface="Aptos"/>
                <a:cs typeface="Aptos"/>
              </a:rPr>
              <a:t>Observe no_match</a:t>
            </a:r>
          </a:p>
        </p:txBody>
      </p:sp>
      <p:sp>
        <p:nvSpPr>
          <p:cNvPr id="9" name="">
            <a:extLst xmlns:a="http://schemas.openxmlformats.org/drawingml/2006/main">
              <a:ext uri="{FF2B5EF4-FFF2-40B4-BE49-F238E27FC236}">
                <a16:creationId xmlns:a16="http://schemas.microsoft.com/office/drawing/2014/main" id="{07928731-64AF-4299-82ED-0EF371E4B1C5}"/>
              </a:ext>
            </a:extLst>
          </p:cNvPr>
          <p:cNvSpPr>
            <a:spLocks xmlns:a="http://schemas.openxmlformats.org/drawingml/2006/main" noGrp="1"/>
          </p:cNvSpPr>
          <p:nvPr/>
        </p:nvSpPr>
        <p:spPr>
          <a:xfrm xmlns:a="http://schemas.openxmlformats.org/drawingml/2006/main">
            <a:off x="8896350" y="5534025"/>
            <a:ext cx="266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657186"/>
                </a:solidFill>
                <a:latin typeface="Aptos"/>
                <a:ea typeface="Aptos"/>
                <a:cs typeface="Aptos"/>
              </a:defRPr>
            </a:pPr>
            <a:r>
              <a:rPr sz="1500" b="0">
                <a:solidFill>
                  <a:srgbClr val="657186"/>
                </a:solidFill>
                <a:latin typeface="Aptos"/>
                <a:ea typeface="Aptos"/>
                <a:cs typeface="Aptos"/>
              </a:rPr>
              <a:t>Masked destinations; no phone actions execute</a:t>
            </a:r>
          </a:p>
        </p:txBody>
      </p:sp>
    </p:spTree>
    <p:extLst>
      <p:ext uri="{BB962C8B-B14F-4D97-AF65-F5344CB8AC3E}">
        <p14:creationId xmlns:p14="http://schemas.microsoft.com/office/powerpoint/2010/main" val="1771172381"/>
      </p:ext>
    </p:extLst>
  </p:cSld>
</p:sld>
</file>

<file path=ppt/slides/slide6.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E929EF0-2595-4028-B818-8FE8CBC52181}"/>
              </a:ext>
            </a:extLst>
          </p:cNvPr>
          <p:cNvSpPr>
            <a:spLocks xmlns:a="http://schemas.openxmlformats.org/drawingml/2006/main" noGrp="1"/>
          </p:cNvSpPr>
          <p:nvPr/>
        </p:nvSpPr>
        <p:spPr>
          <a:xfrm xmlns:a="http://schemas.openxmlformats.org/drawingml/2006/main">
            <a:off x="609600" y="28575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3858ED"/>
                </a:solidFill>
                <a:latin typeface="Aptos"/>
                <a:ea typeface="Aptos"/>
                <a:cs typeface="Aptos"/>
              </a:defRPr>
            </a:pPr>
            <a:r>
              <a:rPr sz="1125" b="1">
                <a:solidFill>
                  <a:srgbClr val="3858ED"/>
                </a:solidFill>
                <a:latin typeface="Aptos"/>
                <a:ea typeface="Aptos"/>
                <a:cs typeface="Aptos"/>
              </a:rPr>
              <a:t>SAMSUNG PRISM   /   THE SEMICOLONS   /   THEME 02</a:t>
            </a:r>
          </a:p>
        </p:txBody>
      </p:sp>
      <p:sp>
        <p:nvSpPr>
          <p:cNvPr id="2" name="">
            <a:extLst xmlns:a="http://schemas.openxmlformats.org/drawingml/2006/main">
              <a:ext uri="{FF2B5EF4-FFF2-40B4-BE49-F238E27FC236}">
                <a16:creationId xmlns:a16="http://schemas.microsoft.com/office/drawing/2014/main" id="{A7633F1D-7880-4174-AD53-3CD7F522B623}"/>
              </a:ext>
            </a:extLst>
          </p:cNvPr>
          <p:cNvSpPr>
            <a:spLocks xmlns:a="http://schemas.openxmlformats.org/drawingml/2006/main" noGrp="1"/>
          </p:cNvSpPr>
          <p:nvPr/>
        </p:nvSpPr>
        <p:spPr>
          <a:xfrm xmlns:a="http://schemas.openxmlformats.org/drawingml/2006/main">
            <a:off x="609600" y="838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13A"/>
                </a:solidFill>
                <a:latin typeface="Aptos"/>
                <a:ea typeface="Aptos"/>
                <a:cs typeface="Aptos"/>
              </a:defRPr>
            </a:pPr>
            <a:r>
              <a:rPr sz="3225" b="1">
                <a:solidFill>
                  <a:srgbClr val="14213A"/>
                </a:solidFill>
                <a:latin typeface="Aptos"/>
                <a:ea typeface="Aptos"/>
                <a:cs typeface="Aptos"/>
              </a:rPr>
              <a:t>Tools &amp; technology</a:t>
            </a:r>
          </a:p>
        </p:txBody>
      </p:sp>
      <p:sp>
        <p:nvSpPr>
          <p:cNvPr id="3" name="">
            <a:extLst xmlns:a="http://schemas.openxmlformats.org/drawingml/2006/main">
              <a:ext uri="{FF2B5EF4-FFF2-40B4-BE49-F238E27FC236}">
                <a16:creationId xmlns:a16="http://schemas.microsoft.com/office/drawing/2014/main" id="{D5BF70D9-CCE2-43BD-948C-19CE6977F068}"/>
              </a:ext>
            </a:extLst>
          </p:cNvPr>
          <p:cNvSpPr>
            <a:spLocks xmlns:a="http://schemas.openxmlformats.org/drawingml/2006/main" noGrp="1"/>
          </p:cNvSpPr>
          <p:nvPr/>
        </p:nvSpPr>
        <p:spPr>
          <a:xfrm xmlns:a="http://schemas.openxmlformats.org/drawingml/2006/main">
            <a:off x="609600" y="642937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57186"/>
                </a:solidFill>
                <a:latin typeface="Aptos"/>
                <a:ea typeface="Aptos"/>
                <a:cs typeface="Aptos"/>
              </a:defRPr>
            </a:pPr>
            <a:r>
              <a:rPr sz="1050" b="0">
                <a:solidFill>
                  <a:srgbClr val="657186"/>
                </a:solidFill>
                <a:latin typeface="Aptos"/>
                <a:ea typeface="Aptos"/>
                <a:cs typeface="Aptos"/>
              </a:rPr>
              <a:t>SRMIST, Chennai · Smart Guided Troubleshooting</a:t>
            </a:r>
          </a:p>
        </p:txBody>
      </p:sp>
      <p:sp>
        <p:nvSpPr>
          <p:cNvPr id="4" name="">
            <a:extLst xmlns:a="http://schemas.openxmlformats.org/drawingml/2006/main">
              <a:ext uri="{FF2B5EF4-FFF2-40B4-BE49-F238E27FC236}">
                <a16:creationId xmlns:a16="http://schemas.microsoft.com/office/drawing/2014/main" id="{1855FCE0-6725-4A67-91FF-3C7183349559}"/>
              </a:ext>
            </a:extLst>
          </p:cNvPr>
          <p:cNvSpPr>
            <a:spLocks xmlns:a="http://schemas.openxmlformats.org/drawingml/2006/main" noGrp="1"/>
          </p:cNvSpPr>
          <p:nvPr/>
        </p:nvSpPr>
        <p:spPr>
          <a:xfrm xmlns:a="http://schemas.openxmlformats.org/drawingml/2006/main">
            <a:off x="11049000" y="6429375"/>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57186"/>
                </a:solidFill>
                <a:latin typeface="Aptos"/>
                <a:ea typeface="Aptos"/>
                <a:cs typeface="Aptos"/>
              </a:defRPr>
            </a:pPr>
            <a:r>
              <a:rPr sz="1050" b="0">
                <a:solidFill>
                  <a:srgbClr val="657186"/>
                </a:solidFill>
                <a:latin typeface="Aptos"/>
                <a:ea typeface="Aptos"/>
                <a:cs typeface="Aptos"/>
              </a:rPr>
              <a:t>06</a:t>
            </a:r>
          </a:p>
        </p:txBody>
      </p:sp>
      <p:sp>
        <p:nvSpPr>
          <p:cNvPr id="5" name="">
            <a:extLst xmlns:a="http://schemas.openxmlformats.org/drawingml/2006/main">
              <a:ext uri="{FF2B5EF4-FFF2-40B4-BE49-F238E27FC236}">
                <a16:creationId xmlns:a16="http://schemas.microsoft.com/office/drawing/2014/main" id="{E2DE716F-7F39-4694-A23C-6DF6A8ECA14A}"/>
              </a:ext>
            </a:extLst>
          </p:cNvPr>
          <p:cNvSpPr>
            <a:spLocks xmlns:a="http://schemas.openxmlformats.org/drawingml/2006/main" noGrp="1"/>
          </p:cNvSpPr>
          <p:nvPr/>
        </p:nvSpPr>
        <p:spPr>
          <a:xfrm xmlns:a="http://schemas.openxmlformats.org/drawingml/2006/main">
            <a:off x="609600" y="1895475"/>
            <a:ext cx="504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3858ED"/>
                </a:solidFill>
                <a:latin typeface="Aptos"/>
                <a:ea typeface="Aptos"/>
                <a:cs typeface="Aptos"/>
              </a:defRPr>
            </a:pPr>
            <a:r>
              <a:rPr sz="1950" b="1">
                <a:solidFill>
                  <a:srgbClr val="3858ED"/>
                </a:solidFill>
                <a:latin typeface="Aptos"/>
                <a:ea typeface="Aptos"/>
                <a:cs typeface="Aptos"/>
              </a:rPr>
              <a:t>Application</a:t>
            </a:r>
          </a:p>
        </p:txBody>
      </p:sp>
      <p:sp>
        <p:nvSpPr>
          <p:cNvPr id="6" name="">
            <a:extLst xmlns:a="http://schemas.openxmlformats.org/drawingml/2006/main">
              <a:ext uri="{FF2B5EF4-FFF2-40B4-BE49-F238E27FC236}">
                <a16:creationId xmlns:a16="http://schemas.microsoft.com/office/drawing/2014/main" id="{0BD82CA4-54BE-4145-B4CD-D2BFEE0446BE}"/>
              </a:ext>
            </a:extLst>
          </p:cNvPr>
          <p:cNvSpPr>
            <a:spLocks xmlns:a="http://schemas.openxmlformats.org/drawingml/2006/main" noGrp="1"/>
          </p:cNvSpPr>
          <p:nvPr/>
        </p:nvSpPr>
        <p:spPr>
          <a:xfrm xmlns:a="http://schemas.openxmlformats.org/drawingml/2006/main">
            <a:off x="609600" y="2390775"/>
            <a:ext cx="50482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4213A"/>
                </a:solidFill>
                <a:latin typeface="Aptos"/>
                <a:ea typeface="Aptos"/>
                <a:cs typeface="Aptos"/>
              </a:defRPr>
            </a:pPr>
            <a:r>
              <a:rPr sz="1875" b="0">
                <a:solidFill>
                  <a:srgbClr val="14213A"/>
                </a:solidFill>
                <a:latin typeface="Aptos"/>
                <a:ea typeface="Aptos"/>
                <a:cs typeface="Aptos"/>
              </a:rPr>
              <a:t>Python · FastAPI · Pydantic</a:t>
            </a:r>
          </a:p>
          <a:p xmlns:a="http://schemas.openxmlformats.org/drawingml/2006/main">
            <a:pPr>
              <a:defRPr sz="1875" b="0">
                <a:solidFill>
                  <a:srgbClr val="14213A"/>
                </a:solidFill>
                <a:latin typeface="Aptos"/>
                <a:ea typeface="Aptos"/>
                <a:cs typeface="Aptos"/>
              </a:defRPr>
            </a:pPr>
            <a:r>
              <a:rPr sz="1875" b="0">
                <a:solidFill>
                  <a:srgbClr val="14213A"/>
                </a:solidFill>
                <a:latin typeface="Aptos"/>
                <a:ea typeface="Aptos"/>
                <a:cs typeface="Aptos"/>
              </a:rPr>
              <a:t>Schema validation and browser UI</a:t>
            </a:r>
          </a:p>
        </p:txBody>
      </p:sp>
      <p:sp>
        <p:nvSpPr>
          <p:cNvPr id="7" name="">
            <a:extLst xmlns:a="http://schemas.openxmlformats.org/drawingml/2006/main">
              <a:ext uri="{FF2B5EF4-FFF2-40B4-BE49-F238E27FC236}">
                <a16:creationId xmlns:a16="http://schemas.microsoft.com/office/drawing/2014/main" id="{2FCB46CE-CA84-4C23-9A52-8CE402F9F958}"/>
              </a:ext>
            </a:extLst>
          </p:cNvPr>
          <p:cNvSpPr>
            <a:spLocks xmlns:a="http://schemas.openxmlformats.org/drawingml/2006/main" noGrp="1"/>
          </p:cNvSpPr>
          <p:nvPr/>
        </p:nvSpPr>
        <p:spPr>
          <a:xfrm xmlns:a="http://schemas.openxmlformats.org/drawingml/2006/main">
            <a:off x="6324600" y="1895475"/>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3858ED"/>
                </a:solidFill>
                <a:latin typeface="Aptos"/>
                <a:ea typeface="Aptos"/>
                <a:cs typeface="Aptos"/>
              </a:defRPr>
            </a:pPr>
            <a:r>
              <a:rPr sz="1950" b="1">
                <a:solidFill>
                  <a:srgbClr val="3858ED"/>
                </a:solidFill>
                <a:latin typeface="Aptos"/>
                <a:ea typeface="Aptos"/>
                <a:cs typeface="Aptos"/>
              </a:rPr>
              <a:t>Retrieval &amp; cache</a:t>
            </a:r>
          </a:p>
        </p:txBody>
      </p:sp>
      <p:sp>
        <p:nvSpPr>
          <p:cNvPr id="8" name="">
            <a:extLst xmlns:a="http://schemas.openxmlformats.org/drawingml/2006/main">
              <a:ext uri="{FF2B5EF4-FFF2-40B4-BE49-F238E27FC236}">
                <a16:creationId xmlns:a16="http://schemas.microsoft.com/office/drawing/2014/main" id="{C5D7378B-30AE-4CF1-A5AE-18AAA756948B}"/>
              </a:ext>
            </a:extLst>
          </p:cNvPr>
          <p:cNvSpPr>
            <a:spLocks xmlns:a="http://schemas.openxmlformats.org/drawingml/2006/main" noGrp="1"/>
          </p:cNvSpPr>
          <p:nvPr/>
        </p:nvSpPr>
        <p:spPr>
          <a:xfrm xmlns:a="http://schemas.openxmlformats.org/drawingml/2006/main">
            <a:off x="6324600" y="2390775"/>
            <a:ext cx="51435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4213A"/>
                </a:solidFill>
                <a:latin typeface="Aptos"/>
                <a:ea typeface="Aptos"/>
                <a:cs typeface="Aptos"/>
              </a:defRPr>
            </a:pPr>
            <a:r>
              <a:rPr sz="1875" b="0">
                <a:solidFill>
                  <a:srgbClr val="14213A"/>
                </a:solidFill>
                <a:latin typeface="Aptos"/>
                <a:ea typeface="Aptos"/>
                <a:cs typeface="Aptos"/>
              </a:rPr>
              <a:t>TF-IDF with synonyms · SQLite</a:t>
            </a:r>
          </a:p>
          <a:p xmlns:a="http://schemas.openxmlformats.org/drawingml/2006/main">
            <a:pPr>
              <a:defRPr sz="1875" b="0">
                <a:solidFill>
                  <a:srgbClr val="14213A"/>
                </a:solidFill>
                <a:latin typeface="Aptos"/>
                <a:ea typeface="Aptos"/>
                <a:cs typeface="Aptos"/>
              </a:defRPr>
            </a:pPr>
            <a:r>
              <a:rPr sz="1875" b="0">
                <a:solidFill>
                  <a:srgbClr val="14213A"/>
                </a:solidFill>
                <a:latin typeface="Aptos"/>
                <a:ea typeface="Aptos"/>
                <a:cs typeface="Aptos"/>
              </a:rPr>
              <a:t>20 supplied queries · 578 catalog entries</a:t>
            </a:r>
          </a:p>
        </p:txBody>
      </p:sp>
      <p:sp>
        <p:nvSpPr>
          <p:cNvPr id="9" name="">
            <a:extLst xmlns:a="http://schemas.openxmlformats.org/drawingml/2006/main">
              <a:ext uri="{FF2B5EF4-FFF2-40B4-BE49-F238E27FC236}">
                <a16:creationId xmlns:a16="http://schemas.microsoft.com/office/drawing/2014/main" id="{801E4F72-B8BE-4217-93B2-1439834352F4}"/>
              </a:ext>
            </a:extLst>
          </p:cNvPr>
          <p:cNvSpPr>
            <a:spLocks xmlns:a="http://schemas.openxmlformats.org/drawingml/2006/main" noGrp="1"/>
          </p:cNvSpPr>
          <p:nvPr/>
        </p:nvSpPr>
        <p:spPr>
          <a:xfrm xmlns:a="http://schemas.openxmlformats.org/drawingml/2006/main">
            <a:off x="609600" y="41433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3858ED"/>
                </a:solidFill>
                <a:latin typeface="Aptos"/>
                <a:ea typeface="Aptos"/>
                <a:cs typeface="Aptos"/>
              </a:defRPr>
            </a:pPr>
            <a:r>
              <a:rPr sz="1950" b="1">
                <a:solidFill>
                  <a:srgbClr val="3858ED"/>
                </a:solidFill>
                <a:latin typeface="Aptos"/>
                <a:ea typeface="Aptos"/>
                <a:cs typeface="Aptos"/>
              </a:rPr>
              <a:t>Local model smoke test</a:t>
            </a:r>
          </a:p>
        </p:txBody>
      </p:sp>
      <p:sp>
        <p:nvSpPr>
          <p:cNvPr id="10" name="">
            <a:extLst xmlns:a="http://schemas.openxmlformats.org/drawingml/2006/main">
              <a:ext uri="{FF2B5EF4-FFF2-40B4-BE49-F238E27FC236}">
                <a16:creationId xmlns:a16="http://schemas.microsoft.com/office/drawing/2014/main" id="{2E203D31-4176-4BC4-8F29-B275C719633E}"/>
              </a:ext>
            </a:extLst>
          </p:cNvPr>
          <p:cNvSpPr>
            <a:spLocks xmlns:a="http://schemas.openxmlformats.org/drawingml/2006/main" noGrp="1"/>
          </p:cNvSpPr>
          <p:nvPr/>
        </p:nvSpPr>
        <p:spPr>
          <a:xfrm xmlns:a="http://schemas.openxmlformats.org/drawingml/2006/main">
            <a:off x="609600" y="4638675"/>
            <a:ext cx="52387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4213A"/>
                </a:solidFill>
                <a:latin typeface="Aptos"/>
                <a:ea typeface="Aptos"/>
                <a:cs typeface="Aptos"/>
              </a:defRPr>
            </a:pPr>
            <a:r>
              <a:rPr sz="1875" b="0">
                <a:solidFill>
                  <a:srgbClr val="14213A"/>
                </a:solidFill>
                <a:latin typeface="Aptos"/>
                <a:ea typeface="Aptos"/>
                <a:cs typeface="Aptos"/>
              </a:rPr>
              <a:t>Qwen2.5-0.5B-Instruct Q4_K_M</a:t>
            </a:r>
          </a:p>
          <a:p xmlns:a="http://schemas.openxmlformats.org/drawingml/2006/main">
            <a:pPr>
              <a:defRPr sz="1875" b="0">
                <a:solidFill>
                  <a:srgbClr val="14213A"/>
                </a:solidFill>
                <a:latin typeface="Aptos"/>
                <a:ea typeface="Aptos"/>
                <a:cs typeface="Aptos"/>
              </a:defRPr>
            </a:pPr>
            <a:r>
              <a:rPr sz="1875" b="0">
                <a:solidFill>
                  <a:srgbClr val="14213A"/>
                </a:solidFill>
                <a:latin typeface="Aptos"/>
                <a:ea typeface="Aptos"/>
                <a:cs typeface="Aptos"/>
              </a:rPr>
              <a:t>llama.cpp CPU · two-stage adapter</a:t>
            </a:r>
          </a:p>
        </p:txBody>
      </p:sp>
      <p:sp>
        <p:nvSpPr>
          <p:cNvPr id="11" name="">
            <a:extLst xmlns:a="http://schemas.openxmlformats.org/drawingml/2006/main">
              <a:ext uri="{FF2B5EF4-FFF2-40B4-BE49-F238E27FC236}">
                <a16:creationId xmlns:a16="http://schemas.microsoft.com/office/drawing/2014/main" id="{0E8A5B2F-BEFD-40F7-AE5A-CC76608212C8}"/>
              </a:ext>
            </a:extLst>
          </p:cNvPr>
          <p:cNvSpPr>
            <a:spLocks xmlns:a="http://schemas.openxmlformats.org/drawingml/2006/main" noGrp="1"/>
          </p:cNvSpPr>
          <p:nvPr/>
        </p:nvSpPr>
        <p:spPr>
          <a:xfrm xmlns:a="http://schemas.openxmlformats.org/drawingml/2006/main">
            <a:off x="6324600" y="4143375"/>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3858ED"/>
                </a:solidFill>
                <a:latin typeface="Aptos"/>
                <a:ea typeface="Aptos"/>
                <a:cs typeface="Aptos"/>
              </a:defRPr>
            </a:pPr>
            <a:r>
              <a:rPr sz="1950" b="1">
                <a:solidFill>
                  <a:srgbClr val="3858ED"/>
                </a:solidFill>
                <a:latin typeface="Aptos"/>
                <a:ea typeface="Aptos"/>
                <a:cs typeface="Aptos"/>
              </a:rPr>
              <a:t>Reproducibility</a:t>
            </a:r>
          </a:p>
        </p:txBody>
      </p:sp>
      <p:sp>
        <p:nvSpPr>
          <p:cNvPr id="12" name="">
            <a:extLst xmlns:a="http://schemas.openxmlformats.org/drawingml/2006/main">
              <a:ext uri="{FF2B5EF4-FFF2-40B4-BE49-F238E27FC236}">
                <a16:creationId xmlns:a16="http://schemas.microsoft.com/office/drawing/2014/main" id="{E141F93B-2140-4CE0-9EA9-C6276480FA17}"/>
              </a:ext>
            </a:extLst>
          </p:cNvPr>
          <p:cNvSpPr>
            <a:spLocks xmlns:a="http://schemas.openxmlformats.org/drawingml/2006/main" noGrp="1"/>
          </p:cNvSpPr>
          <p:nvPr/>
        </p:nvSpPr>
        <p:spPr>
          <a:xfrm xmlns:a="http://schemas.openxmlformats.org/drawingml/2006/main">
            <a:off x="6324600" y="4638675"/>
            <a:ext cx="51435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4213A"/>
                </a:solidFill>
                <a:latin typeface="Aptos"/>
                <a:ea typeface="Aptos"/>
                <a:cs typeface="Aptos"/>
              </a:defRPr>
            </a:pPr>
            <a:r>
              <a:rPr sz="1875" b="0">
                <a:solidFill>
                  <a:srgbClr val="14213A"/>
                </a:solidFill>
                <a:latin typeface="Aptos"/>
                <a:ea typeface="Aptos"/>
                <a:cs typeface="Aptos"/>
              </a:rPr>
              <a:t>Setup scripts and nine passing tests</a:t>
            </a:r>
          </a:p>
          <a:p xmlns:a="http://schemas.openxmlformats.org/drawingml/2006/main">
            <a:pPr>
              <a:defRPr sz="1875" b="0">
                <a:solidFill>
                  <a:srgbClr val="14213A"/>
                </a:solidFill>
                <a:latin typeface="Aptos"/>
                <a:ea typeface="Aptos"/>
                <a:cs typeface="Aptos"/>
              </a:defRPr>
            </a:pPr>
            <a:r>
              <a:rPr sz="1875" b="0">
                <a:solidFill>
                  <a:srgbClr val="14213A"/>
                </a:solidFill>
                <a:latin typeface="Aptos"/>
                <a:ea typeface="Aptos"/>
                <a:cs typeface="Aptos"/>
              </a:rPr>
              <a:t>Docker provided; execution unverified</a:t>
            </a:r>
          </a:p>
        </p:txBody>
      </p:sp>
    </p:spTree>
    <p:extLst>
      <p:ext uri="{BB962C8B-B14F-4D97-AF65-F5344CB8AC3E}">
        <p14:creationId xmlns:p14="http://schemas.microsoft.com/office/powerpoint/2010/main" val="1681544572"/>
      </p:ext>
    </p:extLst>
  </p:cSld>
</p:sld>
</file>

<file path=ppt/slides/slide7.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C57E263-7197-409A-83F7-77F7EEAB6E7E}"/>
              </a:ext>
            </a:extLst>
          </p:cNvPr>
          <p:cNvSpPr>
            <a:spLocks xmlns:a="http://schemas.openxmlformats.org/drawingml/2006/main" noGrp="1"/>
          </p:cNvSpPr>
          <p:nvPr/>
        </p:nvSpPr>
        <p:spPr>
          <a:xfrm xmlns:a="http://schemas.openxmlformats.org/drawingml/2006/main">
            <a:off x="609600" y="28575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3858ED"/>
                </a:solidFill>
                <a:latin typeface="Aptos"/>
                <a:ea typeface="Aptos"/>
                <a:cs typeface="Aptos"/>
              </a:defRPr>
            </a:pPr>
            <a:r>
              <a:rPr sz="1125" b="1">
                <a:solidFill>
                  <a:srgbClr val="3858ED"/>
                </a:solidFill>
                <a:latin typeface="Aptos"/>
                <a:ea typeface="Aptos"/>
                <a:cs typeface="Aptos"/>
              </a:rPr>
              <a:t>SAMSUNG PRISM   /   THE SEMICOLONS   /   THEME 02</a:t>
            </a:r>
          </a:p>
        </p:txBody>
      </p:sp>
      <p:sp>
        <p:nvSpPr>
          <p:cNvPr id="2" name="">
            <a:extLst xmlns:a="http://schemas.openxmlformats.org/drawingml/2006/main">
              <a:ext uri="{FF2B5EF4-FFF2-40B4-BE49-F238E27FC236}">
                <a16:creationId xmlns:a16="http://schemas.microsoft.com/office/drawing/2014/main" id="{426AFDD9-C73B-40F8-838A-0805BEE112DA}"/>
              </a:ext>
            </a:extLst>
          </p:cNvPr>
          <p:cNvSpPr>
            <a:spLocks xmlns:a="http://schemas.openxmlformats.org/drawingml/2006/main" noGrp="1"/>
          </p:cNvSpPr>
          <p:nvPr/>
        </p:nvSpPr>
        <p:spPr>
          <a:xfrm xmlns:a="http://schemas.openxmlformats.org/drawingml/2006/main">
            <a:off x="609600" y="838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13A"/>
                </a:solidFill>
                <a:latin typeface="Aptos"/>
                <a:ea typeface="Aptos"/>
                <a:cs typeface="Aptos"/>
              </a:defRPr>
            </a:pPr>
            <a:r>
              <a:rPr sz="3225" b="1">
                <a:solidFill>
                  <a:srgbClr val="14213A"/>
                </a:solidFill>
                <a:latin typeface="Aptos"/>
                <a:ea typeface="Aptos"/>
                <a:cs typeface="Aptos"/>
              </a:rPr>
              <a:t>Impact &amp; use case</a:t>
            </a:r>
          </a:p>
        </p:txBody>
      </p:sp>
      <p:sp>
        <p:nvSpPr>
          <p:cNvPr id="3" name="">
            <a:extLst xmlns:a="http://schemas.openxmlformats.org/drawingml/2006/main">
              <a:ext uri="{FF2B5EF4-FFF2-40B4-BE49-F238E27FC236}">
                <a16:creationId xmlns:a16="http://schemas.microsoft.com/office/drawing/2014/main" id="{2A58A881-0FC2-4A10-A797-DDF1F06D7DC4}"/>
              </a:ext>
            </a:extLst>
          </p:cNvPr>
          <p:cNvSpPr>
            <a:spLocks xmlns:a="http://schemas.openxmlformats.org/drawingml/2006/main" noGrp="1"/>
          </p:cNvSpPr>
          <p:nvPr/>
        </p:nvSpPr>
        <p:spPr>
          <a:xfrm xmlns:a="http://schemas.openxmlformats.org/drawingml/2006/main">
            <a:off x="609600" y="642937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57186"/>
                </a:solidFill>
                <a:latin typeface="Aptos"/>
                <a:ea typeface="Aptos"/>
                <a:cs typeface="Aptos"/>
              </a:defRPr>
            </a:pPr>
            <a:r>
              <a:rPr sz="1050" b="0">
                <a:solidFill>
                  <a:srgbClr val="657186"/>
                </a:solidFill>
                <a:latin typeface="Aptos"/>
                <a:ea typeface="Aptos"/>
                <a:cs typeface="Aptos"/>
              </a:rPr>
              <a:t>SRMIST, Chennai · Smart Guided Troubleshooting</a:t>
            </a:r>
          </a:p>
        </p:txBody>
      </p:sp>
      <p:sp>
        <p:nvSpPr>
          <p:cNvPr id="4" name="">
            <a:extLst xmlns:a="http://schemas.openxmlformats.org/drawingml/2006/main">
              <a:ext uri="{FF2B5EF4-FFF2-40B4-BE49-F238E27FC236}">
                <a16:creationId xmlns:a16="http://schemas.microsoft.com/office/drawing/2014/main" id="{EF132823-26BE-4590-B641-0D0A423C4104}"/>
              </a:ext>
            </a:extLst>
          </p:cNvPr>
          <p:cNvSpPr>
            <a:spLocks xmlns:a="http://schemas.openxmlformats.org/drawingml/2006/main" noGrp="1"/>
          </p:cNvSpPr>
          <p:nvPr/>
        </p:nvSpPr>
        <p:spPr>
          <a:xfrm xmlns:a="http://schemas.openxmlformats.org/drawingml/2006/main">
            <a:off x="11049000" y="6429375"/>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57186"/>
                </a:solidFill>
                <a:latin typeface="Aptos"/>
                <a:ea typeface="Aptos"/>
                <a:cs typeface="Aptos"/>
              </a:defRPr>
            </a:pPr>
            <a:r>
              <a:rPr sz="1050" b="0">
                <a:solidFill>
                  <a:srgbClr val="657186"/>
                </a:solidFill>
                <a:latin typeface="Aptos"/>
                <a:ea typeface="Aptos"/>
                <a:cs typeface="Aptos"/>
              </a:rPr>
              <a:t>07</a:t>
            </a:r>
          </a:p>
        </p:txBody>
      </p:sp>
      <p:sp>
        <p:nvSpPr>
          <p:cNvPr id="5" name="">
            <a:extLst xmlns:a="http://schemas.openxmlformats.org/drawingml/2006/main">
              <a:ext uri="{FF2B5EF4-FFF2-40B4-BE49-F238E27FC236}">
                <a16:creationId xmlns:a16="http://schemas.microsoft.com/office/drawing/2014/main" id="{958721AF-BB5C-4F71-A363-B2A97A4E1212}"/>
              </a:ext>
            </a:extLst>
          </p:cNvPr>
          <p:cNvSpPr>
            <a:spLocks xmlns:a="http://schemas.openxmlformats.org/drawingml/2006/main" noGrp="1"/>
          </p:cNvSpPr>
          <p:nvPr/>
        </p:nvSpPr>
        <p:spPr>
          <a:xfrm xmlns:a="http://schemas.openxmlformats.org/drawingml/2006/main">
            <a:off x="609600" y="190500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3858ED"/>
                </a:solidFill>
                <a:latin typeface="Aptos"/>
                <a:ea typeface="Aptos"/>
                <a:cs typeface="Aptos"/>
              </a:defRPr>
            </a:pPr>
            <a:r>
              <a:rPr sz="2550" b="1">
                <a:solidFill>
                  <a:srgbClr val="3858ED"/>
                </a:solidFill>
                <a:latin typeface="Aptos"/>
                <a:ea typeface="Aptos"/>
                <a:cs typeface="Aptos"/>
              </a:rPr>
              <a:t>Support agents</a:t>
            </a:r>
          </a:p>
        </p:txBody>
      </p:sp>
      <p:sp>
        <p:nvSpPr>
          <p:cNvPr id="6" name="">
            <a:extLst xmlns:a="http://schemas.openxmlformats.org/drawingml/2006/main">
              <a:ext uri="{FF2B5EF4-FFF2-40B4-BE49-F238E27FC236}">
                <a16:creationId xmlns:a16="http://schemas.microsoft.com/office/drawing/2014/main" id="{37A827F1-0DA3-4409-9934-28D11D3FCE1E}"/>
              </a:ext>
            </a:extLst>
          </p:cNvPr>
          <p:cNvSpPr>
            <a:spLocks xmlns:a="http://schemas.openxmlformats.org/drawingml/2006/main" noGrp="1"/>
          </p:cNvSpPr>
          <p:nvPr/>
        </p:nvSpPr>
        <p:spPr>
          <a:xfrm xmlns:a="http://schemas.openxmlformats.org/drawingml/2006/main">
            <a:off x="609600" y="2562225"/>
            <a:ext cx="490537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4213A"/>
                </a:solidFill>
                <a:latin typeface="Aptos"/>
                <a:ea typeface="Aptos"/>
                <a:cs typeface="Aptos"/>
              </a:defRPr>
            </a:pPr>
            <a:r>
              <a:rPr sz="2325" b="0">
                <a:solidFill>
                  <a:srgbClr val="14213A"/>
                </a:solidFill>
                <a:latin typeface="Aptos"/>
                <a:ea typeface="Aptos"/>
                <a:cs typeface="Aptos"/>
              </a:rPr>
              <a:t>Review an ordered plan alongside its source instructions and catalog mappings.</a:t>
            </a:r>
          </a:p>
        </p:txBody>
      </p:sp>
      <p:sp>
        <p:nvSpPr>
          <p:cNvPr id="7" name="">
            <a:extLst xmlns:a="http://schemas.openxmlformats.org/drawingml/2006/main">
              <a:ext uri="{FF2B5EF4-FFF2-40B4-BE49-F238E27FC236}">
                <a16:creationId xmlns:a16="http://schemas.microsoft.com/office/drawing/2014/main" id="{F58FF305-6438-433C-B7CF-650248860CA6}"/>
              </a:ext>
            </a:extLst>
          </p:cNvPr>
          <p:cNvSpPr>
            <a:spLocks xmlns:a="http://schemas.openxmlformats.org/drawingml/2006/main" noGrp="1"/>
          </p:cNvSpPr>
          <p:nvPr/>
        </p:nvSpPr>
        <p:spPr>
          <a:xfrm xmlns:a="http://schemas.openxmlformats.org/drawingml/2006/main">
            <a:off x="6324600" y="1905000"/>
            <a:ext cx="504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3858ED"/>
                </a:solidFill>
                <a:latin typeface="Aptos"/>
                <a:ea typeface="Aptos"/>
                <a:cs typeface="Aptos"/>
              </a:defRPr>
            </a:pPr>
            <a:r>
              <a:rPr sz="2550" b="1">
                <a:solidFill>
                  <a:srgbClr val="3858ED"/>
                </a:solidFill>
                <a:latin typeface="Aptos"/>
                <a:ea typeface="Aptos"/>
                <a:cs typeface="Aptos"/>
              </a:rPr>
              <a:t>Repeated requests</a:t>
            </a:r>
          </a:p>
        </p:txBody>
      </p:sp>
      <p:sp>
        <p:nvSpPr>
          <p:cNvPr id="8" name="">
            <a:extLst xmlns:a="http://schemas.openxmlformats.org/drawingml/2006/main">
              <a:ext uri="{FF2B5EF4-FFF2-40B4-BE49-F238E27FC236}">
                <a16:creationId xmlns:a16="http://schemas.microsoft.com/office/drawing/2014/main" id="{17F8AE4F-6F53-46B7-BF02-EFB5AFF257C3}"/>
              </a:ext>
            </a:extLst>
          </p:cNvPr>
          <p:cNvSpPr>
            <a:spLocks xmlns:a="http://schemas.openxmlformats.org/drawingml/2006/main" noGrp="1"/>
          </p:cNvSpPr>
          <p:nvPr/>
        </p:nvSpPr>
        <p:spPr>
          <a:xfrm xmlns:a="http://schemas.openxmlformats.org/drawingml/2006/main">
            <a:off x="6324600" y="2562225"/>
            <a:ext cx="50482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4213A"/>
                </a:solidFill>
                <a:latin typeface="Aptos"/>
                <a:ea typeface="Aptos"/>
                <a:cs typeface="Aptos"/>
              </a:defRPr>
            </a:pPr>
            <a:r>
              <a:rPr sz="2325" b="0">
                <a:solidFill>
                  <a:srgbClr val="14213A"/>
                </a:solidFill>
                <a:latin typeface="Aptos"/>
                <a:ea typeface="Aptos"/>
                <a:cs typeface="Aptos"/>
              </a:rPr>
              <a:t>Reuse a validated response without another inference call.</a:t>
            </a:r>
          </a:p>
        </p:txBody>
      </p:sp>
      <p:sp>
        <p:nvSpPr>
          <p:cNvPr id="9" name="">
            <a:extLst xmlns:a="http://schemas.openxmlformats.org/drawingml/2006/main">
              <a:ext uri="{FF2B5EF4-FFF2-40B4-BE49-F238E27FC236}">
                <a16:creationId xmlns:a16="http://schemas.microsoft.com/office/drawing/2014/main" id="{93D74CEF-DCCA-4012-9E12-BA24F3868D26}"/>
              </a:ext>
            </a:extLst>
          </p:cNvPr>
          <p:cNvSpPr>
            <a:spLocks xmlns:a="http://schemas.openxmlformats.org/drawingml/2006/main" noGrp="1"/>
          </p:cNvSpPr>
          <p:nvPr/>
        </p:nvSpPr>
        <p:spPr>
          <a:xfrm xmlns:a="http://schemas.openxmlformats.org/drawingml/2006/main">
            <a:off x="609600" y="475297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3858ED"/>
                </a:solidFill>
                <a:latin typeface="Aptos"/>
                <a:ea typeface="Aptos"/>
                <a:cs typeface="Aptos"/>
              </a:defRPr>
            </a:pPr>
            <a:r>
              <a:rPr sz="1950" b="1">
                <a:solidFill>
                  <a:srgbClr val="3858ED"/>
                </a:solidFill>
                <a:latin typeface="Aptos"/>
                <a:ea typeface="Aptos"/>
                <a:cs typeface="Aptos"/>
              </a:rPr>
              <a:t>Pilot needed</a:t>
            </a:r>
          </a:p>
        </p:txBody>
      </p:sp>
      <p:sp>
        <p:nvSpPr>
          <p:cNvPr id="10" name="">
            <a:extLst xmlns:a="http://schemas.openxmlformats.org/drawingml/2006/main">
              <a:ext uri="{FF2B5EF4-FFF2-40B4-BE49-F238E27FC236}">
                <a16:creationId xmlns:a16="http://schemas.microsoft.com/office/drawing/2014/main" id="{527E8FF1-F320-4996-B3F0-1C11DCB4FD48}"/>
              </a:ext>
            </a:extLst>
          </p:cNvPr>
          <p:cNvSpPr>
            <a:spLocks xmlns:a="http://schemas.openxmlformats.org/drawingml/2006/main" noGrp="1"/>
          </p:cNvSpPr>
          <p:nvPr/>
        </p:nvSpPr>
        <p:spPr>
          <a:xfrm xmlns:a="http://schemas.openxmlformats.org/drawingml/2006/main">
            <a:off x="609600" y="5238750"/>
            <a:ext cx="10763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186"/>
                </a:solidFill>
                <a:latin typeface="Aptos"/>
                <a:ea typeface="Aptos"/>
                <a:cs typeface="Aptos"/>
              </a:defRPr>
            </a:pPr>
            <a:r>
              <a:rPr sz="1875" b="0">
                <a:solidFill>
                  <a:srgbClr val="657186"/>
                </a:solidFill>
                <a:latin typeface="Aptos"/>
                <a:ea typeface="Aptos"/>
                <a:cs typeface="Aptos"/>
              </a:rPr>
              <a:t>Agent time savings and customer outcomes are unmeasured.</a:t>
            </a:r>
          </a:p>
          <a:p xmlns:a="http://schemas.openxmlformats.org/drawingml/2006/main">
            <a:pPr>
              <a:defRPr sz="1875" b="0">
                <a:solidFill>
                  <a:srgbClr val="657186"/>
                </a:solidFill>
                <a:latin typeface="Aptos"/>
                <a:ea typeface="Aptos"/>
                <a:cs typeface="Aptos"/>
              </a:defRPr>
            </a:pPr>
            <a:r>
              <a:rPr sz="1875" b="0">
                <a:solidFill>
                  <a:srgbClr val="657186"/>
                </a:solidFill>
                <a:latin typeface="Aptos"/>
                <a:ea typeface="Aptos"/>
                <a:cs typeface="Aptos"/>
              </a:rPr>
              <a:t>Masked URIs require device integration; 10k+ scenarios is a future target.</a:t>
            </a:r>
          </a:p>
        </p:txBody>
      </p:sp>
    </p:spTree>
    <p:extLst>
      <p:ext uri="{BB962C8B-B14F-4D97-AF65-F5344CB8AC3E}">
        <p14:creationId xmlns:p14="http://schemas.microsoft.com/office/powerpoint/2010/main" val="1938494203"/>
      </p:ext>
    </p:extLst>
  </p:cSld>
</p:sld>
</file>

<file path=ppt/slides/slide8.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8D49A68-ED69-4257-917E-FFB7829A401B}"/>
              </a:ext>
            </a:extLst>
          </p:cNvPr>
          <p:cNvSpPr>
            <a:spLocks xmlns:a="http://schemas.openxmlformats.org/drawingml/2006/main" noGrp="1"/>
          </p:cNvSpPr>
          <p:nvPr/>
        </p:nvSpPr>
        <p:spPr>
          <a:xfrm xmlns:a="http://schemas.openxmlformats.org/drawingml/2006/main">
            <a:off x="609600" y="28575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3858ED"/>
                </a:solidFill>
                <a:latin typeface="Aptos"/>
                <a:ea typeface="Aptos"/>
                <a:cs typeface="Aptos"/>
              </a:defRPr>
            </a:pPr>
            <a:r>
              <a:rPr sz="1125" b="1">
                <a:solidFill>
                  <a:srgbClr val="3858ED"/>
                </a:solidFill>
                <a:latin typeface="Aptos"/>
                <a:ea typeface="Aptos"/>
                <a:cs typeface="Aptos"/>
              </a:rPr>
              <a:t>SAMSUNG PRISM   /   THE SEMICOLONS   /   THEME 02</a:t>
            </a:r>
          </a:p>
        </p:txBody>
      </p:sp>
      <p:sp>
        <p:nvSpPr>
          <p:cNvPr id="2" name="">
            <a:extLst xmlns:a="http://schemas.openxmlformats.org/drawingml/2006/main">
              <a:ext uri="{FF2B5EF4-FFF2-40B4-BE49-F238E27FC236}">
                <a16:creationId xmlns:a16="http://schemas.microsoft.com/office/drawing/2014/main" id="{3E4BAC03-2AA6-4928-959F-0FA0A59D1C5F}"/>
              </a:ext>
            </a:extLst>
          </p:cNvPr>
          <p:cNvSpPr>
            <a:spLocks xmlns:a="http://schemas.openxmlformats.org/drawingml/2006/main" noGrp="1"/>
          </p:cNvSpPr>
          <p:nvPr/>
        </p:nvSpPr>
        <p:spPr>
          <a:xfrm xmlns:a="http://schemas.openxmlformats.org/drawingml/2006/main">
            <a:off x="609600" y="838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13A"/>
                </a:solidFill>
                <a:latin typeface="Aptos"/>
                <a:ea typeface="Aptos"/>
                <a:cs typeface="Aptos"/>
              </a:defRPr>
            </a:pPr>
            <a:r>
              <a:rPr sz="3225" b="1">
                <a:solidFill>
                  <a:srgbClr val="14213A"/>
                </a:solidFill>
                <a:latin typeface="Aptos"/>
                <a:ea typeface="Aptos"/>
                <a:cs typeface="Aptos"/>
              </a:rPr>
              <a:t>Innovation, results &amp; limitations</a:t>
            </a:r>
          </a:p>
        </p:txBody>
      </p:sp>
      <p:sp>
        <p:nvSpPr>
          <p:cNvPr id="3" name="">
            <a:extLst xmlns:a="http://schemas.openxmlformats.org/drawingml/2006/main">
              <a:ext uri="{FF2B5EF4-FFF2-40B4-BE49-F238E27FC236}">
                <a16:creationId xmlns:a16="http://schemas.microsoft.com/office/drawing/2014/main" id="{82C4D963-09F1-473F-BEEA-53F4693F1308}"/>
              </a:ext>
            </a:extLst>
          </p:cNvPr>
          <p:cNvSpPr>
            <a:spLocks xmlns:a="http://schemas.openxmlformats.org/drawingml/2006/main" noGrp="1"/>
          </p:cNvSpPr>
          <p:nvPr/>
        </p:nvSpPr>
        <p:spPr>
          <a:xfrm xmlns:a="http://schemas.openxmlformats.org/drawingml/2006/main">
            <a:off x="609600" y="642937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57186"/>
                </a:solidFill>
                <a:latin typeface="Aptos"/>
                <a:ea typeface="Aptos"/>
                <a:cs typeface="Aptos"/>
              </a:defRPr>
            </a:pPr>
            <a:r>
              <a:rPr sz="1050" b="0">
                <a:solidFill>
                  <a:srgbClr val="657186"/>
                </a:solidFill>
                <a:latin typeface="Aptos"/>
                <a:ea typeface="Aptos"/>
                <a:cs typeface="Aptos"/>
              </a:rPr>
              <a:t>SRMIST, Chennai · Smart Guided Troubleshooting</a:t>
            </a:r>
          </a:p>
        </p:txBody>
      </p:sp>
      <p:sp>
        <p:nvSpPr>
          <p:cNvPr id="4" name="">
            <a:extLst xmlns:a="http://schemas.openxmlformats.org/drawingml/2006/main">
              <a:ext uri="{FF2B5EF4-FFF2-40B4-BE49-F238E27FC236}">
                <a16:creationId xmlns:a16="http://schemas.microsoft.com/office/drawing/2014/main" id="{6517B837-2213-4D9A-8B7E-0F98ECD9E3C0}"/>
              </a:ext>
            </a:extLst>
          </p:cNvPr>
          <p:cNvSpPr>
            <a:spLocks xmlns:a="http://schemas.openxmlformats.org/drawingml/2006/main" noGrp="1"/>
          </p:cNvSpPr>
          <p:nvPr/>
        </p:nvSpPr>
        <p:spPr>
          <a:xfrm xmlns:a="http://schemas.openxmlformats.org/drawingml/2006/main">
            <a:off x="11049000" y="6429375"/>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57186"/>
                </a:solidFill>
                <a:latin typeface="Aptos"/>
                <a:ea typeface="Aptos"/>
                <a:cs typeface="Aptos"/>
              </a:defRPr>
            </a:pPr>
            <a:r>
              <a:rPr sz="1050" b="0">
                <a:solidFill>
                  <a:srgbClr val="657186"/>
                </a:solidFill>
                <a:latin typeface="Aptos"/>
                <a:ea typeface="Aptos"/>
                <a:cs typeface="Aptos"/>
              </a:rPr>
              <a:t>08</a:t>
            </a:r>
          </a:p>
        </p:txBody>
      </p:sp>
      <p:graphicFrame>
        <p:nvGraphicFramePr>
          <p:cNvPr id="12" name=""/>
          <p:cNvGraphicFramePr/>
          <p:nvPr/>
        </p:nvGraphicFramePr>
        <p:xfrm>
          <a:off xmlns:a="http://schemas.openxmlformats.org/drawingml/2006/main" x="609600" y="1809750"/>
          <a:ext xmlns:a="http://schemas.openxmlformats.org/drawingml/2006/main" cx="10972800" cy="2809875"/>
        </p:xfrm>
        <a:graphic xmlns:a="http://schemas.openxmlformats.org/drawingml/2006/main">
          <a:graphicData uri="http://schemas.openxmlformats.org/drawingml/2006/table">
            <a:tbl>
              <a:tblPr/>
              <a:tblGrid>
                <a:gridCol w="3476625"/>
                <a:gridCol w="4686300"/>
                <a:gridCol w="2809875"/>
              </a:tblGrid>
              <a:tr h="561975">
                <a:tc>
                  <a:txBody>
                    <a:bodyPr/>
                    <a:lstStyle/>
                    <a:p>
                      <a:r>
                        <a:rPr sz="1500" b="1">
                          <a:solidFill>
                            <a:srgbClr val="FFFFFF"/>
                          </a:solidFill>
                          <a:latin typeface="Aptos"/>
                          <a:ea typeface="Aptos"/>
                          <a:cs typeface="Aptos"/>
                        </a:rPr>
                        <a:t>Measured evidence</a:t>
                      </a:r>
                    </a:p>
                  </a:txBody>
                  <a:tcPr marL="91440" marR="91440" marT="45720" marB="45720">
                    <a:solidFill>
                      <a:srgbClr val="14213A"/>
                    </a:solidFill>
                  </a:tcPr>
                </a:tc>
                <a:tc>
                  <a:txBody>
                    <a:bodyPr/>
                    <a:lstStyle/>
                    <a:p>
                      <a:r>
                        <a:rPr sz="1500" b="1">
                          <a:solidFill>
                            <a:srgbClr val="FFFFFF"/>
                          </a:solidFill>
                          <a:latin typeface="Aptos"/>
                          <a:ea typeface="Aptos"/>
                          <a:cs typeface="Aptos"/>
                        </a:rPr>
                        <a:t>Scope</a:t>
                      </a:r>
                    </a:p>
                  </a:txBody>
                  <a:tcPr marL="91440" marR="91440" marT="45720" marB="45720">
                    <a:solidFill>
                      <a:srgbClr val="14213A"/>
                    </a:solidFill>
                  </a:tcPr>
                </a:tc>
                <a:tc>
                  <a:txBody>
                    <a:bodyPr/>
                    <a:lstStyle/>
                    <a:p>
                      <a:r>
                        <a:rPr sz="1500" b="1">
                          <a:solidFill>
                            <a:srgbClr val="FFFFFF"/>
                          </a:solidFill>
                          <a:latin typeface="Aptos"/>
                          <a:ea typeface="Aptos"/>
                          <a:cs typeface="Aptos"/>
                        </a:rPr>
                        <a:t>Result</a:t>
                      </a:r>
                    </a:p>
                  </a:txBody>
                  <a:tcPr marL="91440" marR="91440" marT="45720" marB="45720">
                    <a:solidFill>
                      <a:srgbClr val="14213A"/>
                    </a:solidFill>
                  </a:tcPr>
                </a:tc>
              </a:tr>
              <a:tr h="561975">
                <a:tc>
                  <a:txBody>
                    <a:bodyPr/>
                    <a:lstStyle/>
                    <a:p>
                      <a:r>
                        <a:rPr sz="1650" b="0">
                          <a:solidFill>
                            <a:srgbClr val="14213A"/>
                          </a:solidFill>
                          <a:latin typeface="Aptos"/>
                          <a:ea typeface="Aptos"/>
                          <a:cs typeface="Aptos"/>
                        </a:rPr>
                        <a:t>Schema-valid / nonempty</a:t>
                      </a:r>
                    </a:p>
                  </a:txBody>
                  <a:tcPr marL="91440" marR="91440" marT="45720" marB="45720">
                    <a:solidFill>
                      <a:srgbClr val="FFFFFF"/>
                    </a:solidFill>
                  </a:tcPr>
                </a:tc>
                <a:tc>
                  <a:txBody>
                    <a:bodyPr/>
                    <a:lstStyle/>
                    <a:p>
                      <a:r>
                        <a:rPr sz="1650" b="0">
                          <a:solidFill>
                            <a:srgbClr val="14213A"/>
                          </a:solidFill>
                          <a:latin typeface="Aptos"/>
                          <a:ea typeface="Aptos"/>
                          <a:cs typeface="Aptos"/>
                        </a:rPr>
                        <a:t>20 supplied baseline queries</a:t>
                      </a:r>
                    </a:p>
                  </a:txBody>
                  <a:tcPr marL="91440" marR="91440" marT="45720" marB="45720">
                    <a:solidFill>
                      <a:srgbClr val="FFFFFF"/>
                    </a:solidFill>
                  </a:tcPr>
                </a:tc>
                <a:tc>
                  <a:txBody>
                    <a:bodyPr/>
                    <a:lstStyle/>
                    <a:p>
                      <a:r>
                        <a:rPr sz="1650" b="0">
                          <a:solidFill>
                            <a:srgbClr val="14213A"/>
                          </a:solidFill>
                          <a:latin typeface="Aptos"/>
                          <a:ea typeface="Aptos"/>
                          <a:cs typeface="Aptos"/>
                        </a:rPr>
                        <a:t>20 / 20</a:t>
                      </a:r>
                    </a:p>
                  </a:txBody>
                  <a:tcPr marL="91440" marR="91440" marT="45720" marB="45720">
                    <a:solidFill>
                      <a:srgbClr val="FFFFFF"/>
                    </a:solidFill>
                  </a:tcPr>
                </a:tc>
              </a:tr>
              <a:tr h="561975">
                <a:tc>
                  <a:txBody>
                    <a:bodyPr/>
                    <a:lstStyle/>
                    <a:p>
                      <a:r>
                        <a:rPr sz="1650" b="0">
                          <a:solidFill>
                            <a:srgbClr val="14213A"/>
                          </a:solidFill>
                          <a:latin typeface="Aptos"/>
                          <a:ea typeface="Aptos"/>
                          <a:cs typeface="Aptos"/>
                        </a:rPr>
                        <a:t>Web URL leaks in steps</a:t>
                      </a:r>
                    </a:p>
                  </a:txBody>
                  <a:tcPr marL="91440" marR="91440" marT="45720" marB="45720">
                    <a:solidFill>
                      <a:srgbClr val="EFEEF0"/>
                    </a:solidFill>
                  </a:tcPr>
                </a:tc>
                <a:tc>
                  <a:txBody>
                    <a:bodyPr/>
                    <a:lstStyle/>
                    <a:p>
                      <a:r>
                        <a:rPr sz="1650" b="0">
                          <a:solidFill>
                            <a:srgbClr val="14213A"/>
                          </a:solidFill>
                          <a:latin typeface="Aptos"/>
                          <a:ea typeface="Aptos"/>
                          <a:cs typeface="Aptos"/>
                        </a:rPr>
                        <a:t>20 supplied baseline queries</a:t>
                      </a:r>
                    </a:p>
                  </a:txBody>
                  <a:tcPr marL="91440" marR="91440" marT="45720" marB="45720">
                    <a:solidFill>
                      <a:srgbClr val="EFEEF0"/>
                    </a:solidFill>
                  </a:tcPr>
                </a:tc>
                <a:tc>
                  <a:txBody>
                    <a:bodyPr/>
                    <a:lstStyle/>
                    <a:p>
                      <a:r>
                        <a:rPr sz="1650" b="0">
                          <a:solidFill>
                            <a:srgbClr val="14213A"/>
                          </a:solidFill>
                          <a:latin typeface="Aptos"/>
                          <a:ea typeface="Aptos"/>
                          <a:cs typeface="Aptos"/>
                        </a:rPr>
                        <a:t>0</a:t>
                      </a:r>
                    </a:p>
                  </a:txBody>
                  <a:tcPr marL="91440" marR="91440" marT="45720" marB="45720">
                    <a:solidFill>
                      <a:srgbClr val="EFEEF0"/>
                    </a:solidFill>
                  </a:tcPr>
                </a:tc>
              </a:tr>
              <a:tr h="561975">
                <a:tc>
                  <a:txBody>
                    <a:bodyPr/>
                    <a:lstStyle/>
                    <a:p>
                      <a:r>
                        <a:rPr sz="1650" b="0">
                          <a:solidFill>
                            <a:srgbClr val="14213A"/>
                          </a:solidFill>
                          <a:latin typeface="Aptos"/>
                          <a:ea typeface="Aptos"/>
                          <a:cs typeface="Aptos"/>
                        </a:rPr>
                        <a:t>Cached engine P95</a:t>
                      </a:r>
                    </a:p>
                  </a:txBody>
                  <a:tcPr marL="91440" marR="91440" marT="45720" marB="45720">
                    <a:solidFill>
                      <a:srgbClr val="FFFFFF"/>
                    </a:solidFill>
                  </a:tcPr>
                </a:tc>
                <a:tc>
                  <a:txBody>
                    <a:bodyPr/>
                    <a:lstStyle/>
                    <a:p>
                      <a:r>
                        <a:rPr sz="1650" b="0">
                          <a:solidFill>
                            <a:srgbClr val="14213A"/>
                          </a:solidFill>
                          <a:latin typeface="Aptos"/>
                          <a:ea typeface="Aptos"/>
                          <a:cs typeface="Aptos"/>
                        </a:rPr>
                        <a:t>Offline; excludes HTTP + inference</a:t>
                      </a:r>
                    </a:p>
                  </a:txBody>
                  <a:tcPr marL="91440" marR="91440" marT="45720" marB="45720">
                    <a:solidFill>
                      <a:srgbClr val="FFFFFF"/>
                    </a:solidFill>
                  </a:tcPr>
                </a:tc>
                <a:tc>
                  <a:txBody>
                    <a:bodyPr/>
                    <a:lstStyle/>
                    <a:p>
                      <a:r>
                        <a:rPr sz="1650" b="0">
                          <a:solidFill>
                            <a:srgbClr val="14213A"/>
                          </a:solidFill>
                          <a:latin typeface="Aptos"/>
                          <a:ea typeface="Aptos"/>
                          <a:cs typeface="Aptos"/>
                        </a:rPr>
                        <a:t>0.833 ms</a:t>
                      </a:r>
                    </a:p>
                  </a:txBody>
                  <a:tcPr marL="91440" marR="91440" marT="45720" marB="45720">
                    <a:solidFill>
                      <a:srgbClr val="FFFFFF"/>
                    </a:solidFill>
                  </a:tcPr>
                </a:tc>
              </a:tr>
              <a:tr h="561975">
                <a:tc>
                  <a:txBody>
                    <a:bodyPr/>
                    <a:lstStyle/>
                    <a:p>
                      <a:r>
                        <a:rPr sz="1650" b="0">
                          <a:solidFill>
                            <a:srgbClr val="14213A"/>
                          </a:solidFill>
                          <a:latin typeface="Aptos"/>
                          <a:ea typeface="Aptos"/>
                          <a:cs typeface="Aptos"/>
                        </a:rPr>
                        <a:t>Cold local model request</a:t>
                      </a:r>
                    </a:p>
                  </a:txBody>
                  <a:tcPr marL="91440" marR="91440" marT="45720" marB="45720">
                    <a:solidFill>
                      <a:srgbClr val="EFEEF0"/>
                    </a:solidFill>
                  </a:tcPr>
                </a:tc>
                <a:tc>
                  <a:txBody>
                    <a:bodyPr/>
                    <a:lstStyle/>
                    <a:p>
                      <a:r>
                        <a:rPr sz="1650" b="0">
                          <a:solidFill>
                            <a:srgbClr val="14213A"/>
                          </a:solidFill>
                          <a:latin typeface="Aptos"/>
                          <a:ea typeface="Aptos"/>
                          <a:cs typeface="Aptos"/>
                        </a:rPr>
                        <a:t>One synthetic smoke case</a:t>
                      </a:r>
                    </a:p>
                  </a:txBody>
                  <a:tcPr marL="91440" marR="91440" marT="45720" marB="45720">
                    <a:solidFill>
                      <a:srgbClr val="EFEEF0"/>
                    </a:solidFill>
                  </a:tcPr>
                </a:tc>
                <a:tc>
                  <a:txBody>
                    <a:bodyPr/>
                    <a:lstStyle/>
                    <a:p>
                      <a:r>
                        <a:rPr sz="1650" b="0">
                          <a:solidFill>
                            <a:srgbClr val="14213A"/>
                          </a:solidFill>
                          <a:latin typeface="Aptos"/>
                          <a:ea typeface="Aptos"/>
                          <a:cs typeface="Aptos"/>
                        </a:rPr>
                        <a:t>9.43 s</a:t>
                      </a:r>
                    </a:p>
                  </a:txBody>
                  <a:tcPr marL="91440" marR="91440" marT="45720" marB="45720">
                    <a:solidFill>
                      <a:srgbClr val="EFEEF0"/>
                    </a:solidFill>
                  </a:tcPr>
                </a:tc>
              </a:tr>
            </a:tbl>
          </a:graphicData>
        </a:graphic>
      </p:graphicFrame>
      <p:sp>
        <p:nvSpPr>
          <p:cNvPr id="6" name="">
            <a:extLst xmlns:a="http://schemas.openxmlformats.org/drawingml/2006/main">
              <a:ext uri="{FF2B5EF4-FFF2-40B4-BE49-F238E27FC236}">
                <a16:creationId xmlns:a16="http://schemas.microsoft.com/office/drawing/2014/main" id="{EBF74784-73DE-4C50-BED2-328419C565B1}"/>
              </a:ext>
            </a:extLst>
          </p:cNvPr>
          <p:cNvSpPr>
            <a:spLocks xmlns:a="http://schemas.openxmlformats.org/drawingml/2006/main" noGrp="1"/>
          </p:cNvSpPr>
          <p:nvPr/>
        </p:nvSpPr>
        <p:spPr>
          <a:xfrm xmlns:a="http://schemas.openxmlformats.org/drawingml/2006/main">
            <a:off x="609600" y="4943475"/>
            <a:ext cx="10906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3858ED"/>
                </a:solidFill>
                <a:latin typeface="Aptos"/>
                <a:ea typeface="Aptos"/>
                <a:cs typeface="Aptos"/>
              </a:defRPr>
            </a:pPr>
            <a:r>
              <a:rPr sz="1875" b="1">
                <a:solidFill>
                  <a:srgbClr val="3858ED"/>
                </a:solidFill>
                <a:latin typeface="Aptos"/>
                <a:ea typeface="Aptos"/>
                <a:cs typeface="Aptos"/>
              </a:rPr>
              <a:t>Cold model smoke exceeds the 8 s target; cold model P95 is unmeasured.</a:t>
            </a:r>
          </a:p>
        </p:txBody>
      </p:sp>
      <p:sp>
        <p:nvSpPr>
          <p:cNvPr id="7" name="">
            <a:extLst xmlns:a="http://schemas.openxmlformats.org/drawingml/2006/main">
              <a:ext uri="{FF2B5EF4-FFF2-40B4-BE49-F238E27FC236}">
                <a16:creationId xmlns:a16="http://schemas.microsoft.com/office/drawing/2014/main" id="{AACB5D66-0253-4416-9574-620F5FAAE45A}"/>
              </a:ext>
            </a:extLst>
          </p:cNvPr>
          <p:cNvSpPr>
            <a:spLocks xmlns:a="http://schemas.openxmlformats.org/drawingml/2006/main" noGrp="1"/>
          </p:cNvSpPr>
          <p:nvPr/>
        </p:nvSpPr>
        <p:spPr>
          <a:xfrm xmlns:a="http://schemas.openxmlformats.org/drawingml/2006/main">
            <a:off x="609600" y="5505450"/>
            <a:ext cx="10858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57186"/>
                </a:solidFill>
                <a:latin typeface="Aptos"/>
                <a:ea typeface="Aptos"/>
                <a:cs typeface="Aptos"/>
              </a:defRPr>
            </a:pPr>
            <a:r>
              <a:rPr sz="1725" b="0">
                <a:solidFill>
                  <a:srgbClr val="657186"/>
                </a:solidFill>
                <a:latin typeface="Aptos"/>
                <a:ea typeface="Aptos"/>
                <a:cs typeface="Aptos"/>
              </a:rPr>
              <a:t>Unseen accuracy and exact-screen accuracy are unmeasured.</a:t>
            </a:r>
          </a:p>
          <a:p xmlns:a="http://schemas.openxmlformats.org/drawingml/2006/main">
            <a:pPr>
              <a:defRPr sz="1725" b="0">
                <a:solidFill>
                  <a:srgbClr val="657186"/>
                </a:solidFill>
                <a:latin typeface="Aptos"/>
                <a:ea typeface="Aptos"/>
                <a:cs typeface="Aptos"/>
              </a:defRPr>
            </a:pPr>
            <a:r>
              <a:rPr sz="1725" b="0">
                <a:solidFill>
                  <a:srgbClr val="657186"/>
                </a:solidFill>
                <a:latin typeface="Aptos"/>
                <a:ea typeface="Aptos"/>
                <a:cs typeface="Aptos"/>
              </a:rPr>
              <a:t>Conditional context and screen grouping need further review.</a:t>
            </a:r>
          </a:p>
        </p:txBody>
      </p:sp>
    </p:spTree>
    <p:extLst>
      <p:ext uri="{BB962C8B-B14F-4D97-AF65-F5344CB8AC3E}">
        <p14:creationId xmlns:p14="http://schemas.microsoft.com/office/powerpoint/2010/main" val="742451831"/>
      </p:ext>
    </p:extLst>
  </p:cSld>
</p:sld>
</file>

<file path=ppt/slides/slide9.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00035D58-1E50-4B58-ABE8-33CC33E79685}"/>
              </a:ext>
            </a:extLst>
          </p:cNvPr>
          <p:cNvSpPr>
            <a:spLocks xmlns:a="http://schemas.openxmlformats.org/drawingml/2006/main" noGrp="1"/>
          </p:cNvSpPr>
          <p:nvPr/>
        </p:nvSpPr>
        <p:spPr>
          <a:xfrm xmlns:a="http://schemas.openxmlformats.org/drawingml/2006/main">
            <a:off x="609600" y="28575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3858ED"/>
                </a:solidFill>
                <a:latin typeface="Aptos"/>
                <a:ea typeface="Aptos"/>
                <a:cs typeface="Aptos"/>
              </a:defRPr>
            </a:pPr>
            <a:r>
              <a:rPr sz="1125" b="1">
                <a:solidFill>
                  <a:srgbClr val="3858ED"/>
                </a:solidFill>
                <a:latin typeface="Aptos"/>
                <a:ea typeface="Aptos"/>
                <a:cs typeface="Aptos"/>
              </a:rPr>
              <a:t>SAMSUNG PRISM   /   THE SEMICOLONS   /   THEME 02</a:t>
            </a:r>
          </a:p>
        </p:txBody>
      </p:sp>
      <p:sp>
        <p:nvSpPr>
          <p:cNvPr id="2" name="">
            <a:extLst xmlns:a="http://schemas.openxmlformats.org/drawingml/2006/main">
              <a:ext uri="{FF2B5EF4-FFF2-40B4-BE49-F238E27FC236}">
                <a16:creationId xmlns:a16="http://schemas.microsoft.com/office/drawing/2014/main" id="{DCF72EEA-8566-4DC2-87D2-B97A59885921}"/>
              </a:ext>
            </a:extLst>
          </p:cNvPr>
          <p:cNvSpPr>
            <a:spLocks xmlns:a="http://schemas.openxmlformats.org/drawingml/2006/main" noGrp="1"/>
          </p:cNvSpPr>
          <p:nvPr/>
        </p:nvSpPr>
        <p:spPr>
          <a:xfrm xmlns:a="http://schemas.openxmlformats.org/drawingml/2006/main">
            <a:off x="609600" y="838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13A"/>
                </a:solidFill>
                <a:latin typeface="Aptos"/>
                <a:ea typeface="Aptos"/>
                <a:cs typeface="Aptos"/>
              </a:defRPr>
            </a:pPr>
            <a:r>
              <a:rPr sz="3225" b="1">
                <a:solidFill>
                  <a:srgbClr val="14213A"/>
                </a:solidFill>
                <a:latin typeface="Aptos"/>
                <a:ea typeface="Aptos"/>
                <a:cs typeface="Aptos"/>
              </a:rPr>
              <a:t>What's next</a:t>
            </a:r>
          </a:p>
        </p:txBody>
      </p:sp>
      <p:sp>
        <p:nvSpPr>
          <p:cNvPr id="3" name="">
            <a:extLst xmlns:a="http://schemas.openxmlformats.org/drawingml/2006/main">
              <a:ext uri="{FF2B5EF4-FFF2-40B4-BE49-F238E27FC236}">
                <a16:creationId xmlns:a16="http://schemas.microsoft.com/office/drawing/2014/main" id="{092F465F-FB8F-4824-8C51-66AC48DC2F8D}"/>
              </a:ext>
            </a:extLst>
          </p:cNvPr>
          <p:cNvSpPr>
            <a:spLocks xmlns:a="http://schemas.openxmlformats.org/drawingml/2006/main" noGrp="1"/>
          </p:cNvSpPr>
          <p:nvPr/>
        </p:nvSpPr>
        <p:spPr>
          <a:xfrm xmlns:a="http://schemas.openxmlformats.org/drawingml/2006/main">
            <a:off x="609600" y="642937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57186"/>
                </a:solidFill>
                <a:latin typeface="Aptos"/>
                <a:ea typeface="Aptos"/>
                <a:cs typeface="Aptos"/>
              </a:defRPr>
            </a:pPr>
            <a:r>
              <a:rPr sz="1050" b="0">
                <a:solidFill>
                  <a:srgbClr val="657186"/>
                </a:solidFill>
                <a:latin typeface="Aptos"/>
                <a:ea typeface="Aptos"/>
                <a:cs typeface="Aptos"/>
              </a:rPr>
              <a:t>SRMIST, Chennai · Smart Guided Troubleshooting</a:t>
            </a:r>
          </a:p>
        </p:txBody>
      </p:sp>
      <p:sp>
        <p:nvSpPr>
          <p:cNvPr id="4" name="">
            <a:extLst xmlns:a="http://schemas.openxmlformats.org/drawingml/2006/main">
              <a:ext uri="{FF2B5EF4-FFF2-40B4-BE49-F238E27FC236}">
                <a16:creationId xmlns:a16="http://schemas.microsoft.com/office/drawing/2014/main" id="{7A5E9B91-104E-47DC-81A4-04370D88355D}"/>
              </a:ext>
            </a:extLst>
          </p:cNvPr>
          <p:cNvSpPr>
            <a:spLocks xmlns:a="http://schemas.openxmlformats.org/drawingml/2006/main" noGrp="1"/>
          </p:cNvSpPr>
          <p:nvPr/>
        </p:nvSpPr>
        <p:spPr>
          <a:xfrm xmlns:a="http://schemas.openxmlformats.org/drawingml/2006/main">
            <a:off x="11049000" y="6429375"/>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57186"/>
                </a:solidFill>
                <a:latin typeface="Aptos"/>
                <a:ea typeface="Aptos"/>
                <a:cs typeface="Aptos"/>
              </a:defRPr>
            </a:pPr>
            <a:r>
              <a:rPr sz="1050" b="0">
                <a:solidFill>
                  <a:srgbClr val="657186"/>
                </a:solidFill>
                <a:latin typeface="Aptos"/>
                <a:ea typeface="Aptos"/>
                <a:cs typeface="Aptos"/>
              </a:rPr>
              <a:t>09</a:t>
            </a:r>
          </a:p>
        </p:txBody>
      </p:sp>
      <p:sp>
        <p:nvSpPr>
          <p:cNvPr id="5" name="">
            <a:extLst xmlns:a="http://schemas.openxmlformats.org/drawingml/2006/main">
              <a:ext uri="{FF2B5EF4-FFF2-40B4-BE49-F238E27FC236}">
                <a16:creationId xmlns:a16="http://schemas.microsoft.com/office/drawing/2014/main" id="{FDB6373A-0D0A-4DFD-957B-CB58A85D4B5B}"/>
              </a:ext>
            </a:extLst>
          </p:cNvPr>
          <p:cNvSpPr>
            <a:spLocks xmlns:a="http://schemas.openxmlformats.org/drawingml/2006/main" noGrp="1"/>
          </p:cNvSpPr>
          <p:nvPr/>
        </p:nvSpPr>
        <p:spPr>
          <a:xfrm xmlns:a="http://schemas.openxmlformats.org/drawingml/2006/main">
            <a:off x="609600" y="1838325"/>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3858ED"/>
                </a:solidFill>
                <a:latin typeface="Aptos"/>
                <a:ea typeface="Aptos"/>
                <a:cs typeface="Aptos"/>
              </a:defRPr>
            </a:pPr>
            <a:r>
              <a:rPr sz="3225" b="1">
                <a:solidFill>
                  <a:srgbClr val="3858ED"/>
                </a:solidFill>
                <a:latin typeface="Aptos"/>
                <a:ea typeface="Aptos"/>
                <a:cs typeface="Aptos"/>
              </a:rPr>
              <a:t>01</a:t>
            </a:r>
          </a:p>
        </p:txBody>
      </p:sp>
      <p:sp>
        <p:nvSpPr>
          <p:cNvPr id="6" name="">
            <a:extLst xmlns:a="http://schemas.openxmlformats.org/drawingml/2006/main">
              <a:ext uri="{FF2B5EF4-FFF2-40B4-BE49-F238E27FC236}">
                <a16:creationId xmlns:a16="http://schemas.microsoft.com/office/drawing/2014/main" id="{11C564BF-47BA-4290-9320-F262C7689FF3}"/>
              </a:ext>
            </a:extLst>
          </p:cNvPr>
          <p:cNvSpPr>
            <a:spLocks xmlns:a="http://schemas.openxmlformats.org/drawingml/2006/main" noGrp="1"/>
          </p:cNvSpPr>
          <p:nvPr/>
        </p:nvSpPr>
        <p:spPr>
          <a:xfrm xmlns:a="http://schemas.openxmlformats.org/drawingml/2006/main">
            <a:off x="1714500" y="1838325"/>
            <a:ext cx="981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4213A"/>
                </a:solidFill>
                <a:latin typeface="Aptos"/>
                <a:ea typeface="Aptos"/>
                <a:cs typeface="Aptos"/>
              </a:defRPr>
            </a:pPr>
            <a:r>
              <a:rPr sz="2100" b="1">
                <a:solidFill>
                  <a:srgbClr val="14213A"/>
                </a:solidFill>
                <a:latin typeface="Aptos"/>
                <a:ea typeface="Aptos"/>
                <a:cs typeface="Aptos"/>
              </a:rPr>
              <a:t>Reference review</a:t>
            </a:r>
          </a:p>
        </p:txBody>
      </p:sp>
      <p:sp>
        <p:nvSpPr>
          <p:cNvPr id="7" name="">
            <a:extLst xmlns:a="http://schemas.openxmlformats.org/drawingml/2006/main">
              <a:ext uri="{FF2B5EF4-FFF2-40B4-BE49-F238E27FC236}">
                <a16:creationId xmlns:a16="http://schemas.microsoft.com/office/drawing/2014/main" id="{C937F5A9-B767-4FD4-B749-75C48FE7DBD7}"/>
              </a:ext>
            </a:extLst>
          </p:cNvPr>
          <p:cNvSpPr>
            <a:spLocks xmlns:a="http://schemas.openxmlformats.org/drawingml/2006/main" noGrp="1"/>
          </p:cNvSpPr>
          <p:nvPr/>
        </p:nvSpPr>
        <p:spPr>
          <a:xfrm xmlns:a="http://schemas.openxmlformats.org/drawingml/2006/main">
            <a:off x="1714500" y="2276475"/>
            <a:ext cx="9810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57186"/>
                </a:solidFill>
                <a:latin typeface="Aptos"/>
                <a:ea typeface="Aptos"/>
                <a:cs typeface="Aptos"/>
              </a:defRPr>
            </a:pPr>
            <a:r>
              <a:rPr sz="1800" b="0">
                <a:solidFill>
                  <a:srgbClr val="657186"/>
                </a:solidFill>
                <a:latin typeface="Aptos"/>
                <a:ea typeface="Aptos"/>
                <a:cs typeface="Aptos"/>
              </a:rPr>
              <a:t>Retain conditional context and review one-screen grouping.</a:t>
            </a:r>
          </a:p>
        </p:txBody>
      </p:sp>
      <p:sp>
        <p:nvSpPr>
          <p:cNvPr id="8" name="">
            <a:extLst xmlns:a="http://schemas.openxmlformats.org/drawingml/2006/main">
              <a:ext uri="{FF2B5EF4-FFF2-40B4-BE49-F238E27FC236}">
                <a16:creationId xmlns:a16="http://schemas.microsoft.com/office/drawing/2014/main" id="{2F798861-6DBD-409F-BCFF-14BB7ADF1359}"/>
              </a:ext>
            </a:extLst>
          </p:cNvPr>
          <p:cNvSpPr>
            <a:spLocks xmlns:a="http://schemas.openxmlformats.org/drawingml/2006/main" noGrp="1"/>
          </p:cNvSpPr>
          <p:nvPr/>
        </p:nvSpPr>
        <p:spPr>
          <a:xfrm xmlns:a="http://schemas.openxmlformats.org/drawingml/2006/main">
            <a:off x="609600" y="2876550"/>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3858ED"/>
                </a:solidFill>
                <a:latin typeface="Aptos"/>
                <a:ea typeface="Aptos"/>
                <a:cs typeface="Aptos"/>
              </a:defRPr>
            </a:pPr>
            <a:r>
              <a:rPr sz="3225" b="1">
                <a:solidFill>
                  <a:srgbClr val="3858ED"/>
                </a:solidFill>
                <a:latin typeface="Aptos"/>
                <a:ea typeface="Aptos"/>
                <a:cs typeface="Aptos"/>
              </a:rPr>
              <a:t>02</a:t>
            </a:r>
          </a:p>
        </p:txBody>
      </p:sp>
      <p:sp>
        <p:nvSpPr>
          <p:cNvPr id="9" name="">
            <a:extLst xmlns:a="http://schemas.openxmlformats.org/drawingml/2006/main">
              <a:ext uri="{FF2B5EF4-FFF2-40B4-BE49-F238E27FC236}">
                <a16:creationId xmlns:a16="http://schemas.microsoft.com/office/drawing/2014/main" id="{EB87EDC5-DAD0-4BB2-87A6-57B373FDB13D}"/>
              </a:ext>
            </a:extLst>
          </p:cNvPr>
          <p:cNvSpPr>
            <a:spLocks xmlns:a="http://schemas.openxmlformats.org/drawingml/2006/main" noGrp="1"/>
          </p:cNvSpPr>
          <p:nvPr/>
        </p:nvSpPr>
        <p:spPr>
          <a:xfrm xmlns:a="http://schemas.openxmlformats.org/drawingml/2006/main">
            <a:off x="1714500" y="2876550"/>
            <a:ext cx="981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4213A"/>
                </a:solidFill>
                <a:latin typeface="Aptos"/>
                <a:ea typeface="Aptos"/>
                <a:cs typeface="Aptos"/>
              </a:defRPr>
            </a:pPr>
            <a:r>
              <a:rPr sz="2100" b="1">
                <a:solidFill>
                  <a:srgbClr val="14213A"/>
                </a:solidFill>
                <a:latin typeface="Aptos"/>
                <a:ea typeface="Aptos"/>
                <a:cs typeface="Aptos"/>
              </a:rPr>
              <a:t>Broader model evaluation</a:t>
            </a:r>
          </a:p>
        </p:txBody>
      </p:sp>
      <p:sp>
        <p:nvSpPr>
          <p:cNvPr id="10" name="">
            <a:extLst xmlns:a="http://schemas.openxmlformats.org/drawingml/2006/main">
              <a:ext uri="{FF2B5EF4-FFF2-40B4-BE49-F238E27FC236}">
                <a16:creationId xmlns:a16="http://schemas.microsoft.com/office/drawing/2014/main" id="{09003175-4639-462D-8CB9-4F05DA5F1C8F}"/>
              </a:ext>
            </a:extLst>
          </p:cNvPr>
          <p:cNvSpPr>
            <a:spLocks xmlns:a="http://schemas.openxmlformats.org/drawingml/2006/main" noGrp="1"/>
          </p:cNvSpPr>
          <p:nvPr/>
        </p:nvSpPr>
        <p:spPr>
          <a:xfrm xmlns:a="http://schemas.openxmlformats.org/drawingml/2006/main">
            <a:off x="1714500" y="3314700"/>
            <a:ext cx="9810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57186"/>
                </a:solidFill>
                <a:latin typeface="Aptos"/>
                <a:ea typeface="Aptos"/>
                <a:cs typeface="Aptos"/>
              </a:defRPr>
            </a:pPr>
            <a:r>
              <a:rPr sz="1800" b="0">
                <a:solidFill>
                  <a:srgbClr val="657186"/>
                </a:solidFill>
                <a:latin typeface="Aptos"/>
                <a:ea typeface="Aptos"/>
                <a:cs typeface="Aptos"/>
              </a:rPr>
              <a:t>Run all supplied scenarios and test unseen paraphrases.</a:t>
            </a:r>
          </a:p>
        </p:txBody>
      </p:sp>
      <p:sp>
        <p:nvSpPr>
          <p:cNvPr id="11" name="">
            <a:extLst xmlns:a="http://schemas.openxmlformats.org/drawingml/2006/main">
              <a:ext uri="{FF2B5EF4-FFF2-40B4-BE49-F238E27FC236}">
                <a16:creationId xmlns:a16="http://schemas.microsoft.com/office/drawing/2014/main" id="{BE452816-7ABB-465D-A7E6-B1FCFC904827}"/>
              </a:ext>
            </a:extLst>
          </p:cNvPr>
          <p:cNvSpPr>
            <a:spLocks xmlns:a="http://schemas.openxmlformats.org/drawingml/2006/main" noGrp="1"/>
          </p:cNvSpPr>
          <p:nvPr/>
        </p:nvSpPr>
        <p:spPr>
          <a:xfrm xmlns:a="http://schemas.openxmlformats.org/drawingml/2006/main">
            <a:off x="609600" y="3914775"/>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3858ED"/>
                </a:solidFill>
                <a:latin typeface="Aptos"/>
                <a:ea typeface="Aptos"/>
                <a:cs typeface="Aptos"/>
              </a:defRPr>
            </a:pPr>
            <a:r>
              <a:rPr sz="3225" b="1">
                <a:solidFill>
                  <a:srgbClr val="3858ED"/>
                </a:solidFill>
                <a:latin typeface="Aptos"/>
                <a:ea typeface="Aptos"/>
                <a:cs typeface="Aptos"/>
              </a:rPr>
              <a:t>03</a:t>
            </a:r>
          </a:p>
        </p:txBody>
      </p:sp>
      <p:sp>
        <p:nvSpPr>
          <p:cNvPr id="12" name="">
            <a:extLst xmlns:a="http://schemas.openxmlformats.org/drawingml/2006/main">
              <a:ext uri="{FF2B5EF4-FFF2-40B4-BE49-F238E27FC236}">
                <a16:creationId xmlns:a16="http://schemas.microsoft.com/office/drawing/2014/main" id="{6724E0F0-4DEF-4B46-887C-46A31B924FFA}"/>
              </a:ext>
            </a:extLst>
          </p:cNvPr>
          <p:cNvSpPr>
            <a:spLocks xmlns:a="http://schemas.openxmlformats.org/drawingml/2006/main" noGrp="1"/>
          </p:cNvSpPr>
          <p:nvPr/>
        </p:nvSpPr>
        <p:spPr>
          <a:xfrm xmlns:a="http://schemas.openxmlformats.org/drawingml/2006/main">
            <a:off x="1714500" y="3914775"/>
            <a:ext cx="981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4213A"/>
                </a:solidFill>
                <a:latin typeface="Aptos"/>
                <a:ea typeface="Aptos"/>
                <a:cs typeface="Aptos"/>
              </a:defRPr>
            </a:pPr>
            <a:r>
              <a:rPr sz="2100" b="1">
                <a:solidFill>
                  <a:srgbClr val="14213A"/>
                </a:solidFill>
                <a:latin typeface="Aptos"/>
                <a:ea typeface="Aptos"/>
                <a:cs typeface="Aptos"/>
              </a:rPr>
              <a:t>Latency &amp; integration</a:t>
            </a:r>
          </a:p>
        </p:txBody>
      </p:sp>
      <p:sp>
        <p:nvSpPr>
          <p:cNvPr id="13" name="">
            <a:extLst xmlns:a="http://schemas.openxmlformats.org/drawingml/2006/main">
              <a:ext uri="{FF2B5EF4-FFF2-40B4-BE49-F238E27FC236}">
                <a16:creationId xmlns:a16="http://schemas.microsoft.com/office/drawing/2014/main" id="{24A70C52-A4A6-45C6-8B58-F225D626AEB5}"/>
              </a:ext>
            </a:extLst>
          </p:cNvPr>
          <p:cNvSpPr>
            <a:spLocks xmlns:a="http://schemas.openxmlformats.org/drawingml/2006/main" noGrp="1"/>
          </p:cNvSpPr>
          <p:nvPr/>
        </p:nvSpPr>
        <p:spPr>
          <a:xfrm xmlns:a="http://schemas.openxmlformats.org/drawingml/2006/main">
            <a:off x="1714500" y="4352925"/>
            <a:ext cx="9810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57186"/>
                </a:solidFill>
                <a:latin typeface="Aptos"/>
                <a:ea typeface="Aptos"/>
                <a:cs typeface="Aptos"/>
              </a:defRPr>
            </a:pPr>
            <a:r>
              <a:rPr sz="1800" b="0">
                <a:solidFill>
                  <a:srgbClr val="657186"/>
                </a:solidFill>
                <a:latin typeface="Aptos"/>
                <a:ea typeface="Aptos"/>
                <a:cs typeface="Aptos"/>
              </a:rPr>
              <a:t>Measure cold P95 and replace masked URIs in a device pilot.</a:t>
            </a:r>
          </a:p>
        </p:txBody>
      </p:sp>
      <p:sp>
        <p:nvSpPr>
          <p:cNvPr id="14" name="">
            <a:extLst xmlns:a="http://schemas.openxmlformats.org/drawingml/2006/main">
              <a:ext uri="{FF2B5EF4-FFF2-40B4-BE49-F238E27FC236}">
                <a16:creationId xmlns:a16="http://schemas.microsoft.com/office/drawing/2014/main" id="{88997737-45CA-4FC1-9056-5398A87A0723}"/>
              </a:ext>
            </a:extLst>
          </p:cNvPr>
          <p:cNvSpPr>
            <a:spLocks xmlns:a="http://schemas.openxmlformats.org/drawingml/2006/main" noGrp="1"/>
          </p:cNvSpPr>
          <p:nvPr/>
        </p:nvSpPr>
        <p:spPr>
          <a:xfrm xmlns:a="http://schemas.openxmlformats.org/drawingml/2006/main">
            <a:off x="609600" y="4953000"/>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3858ED"/>
                </a:solidFill>
                <a:latin typeface="Aptos"/>
                <a:ea typeface="Aptos"/>
                <a:cs typeface="Aptos"/>
              </a:defRPr>
            </a:pPr>
            <a:r>
              <a:rPr sz="3225" b="1">
                <a:solidFill>
                  <a:srgbClr val="3858ED"/>
                </a:solidFill>
                <a:latin typeface="Aptos"/>
                <a:ea typeface="Aptos"/>
                <a:cs typeface="Aptos"/>
              </a:rPr>
              <a:t>04</a:t>
            </a:r>
          </a:p>
        </p:txBody>
      </p:sp>
      <p:sp>
        <p:nvSpPr>
          <p:cNvPr id="15" name="">
            <a:extLst xmlns:a="http://schemas.openxmlformats.org/drawingml/2006/main">
              <a:ext uri="{FF2B5EF4-FFF2-40B4-BE49-F238E27FC236}">
                <a16:creationId xmlns:a16="http://schemas.microsoft.com/office/drawing/2014/main" id="{62805783-4ED6-4670-8E48-8566F9B3F6D5}"/>
              </a:ext>
            </a:extLst>
          </p:cNvPr>
          <p:cNvSpPr>
            <a:spLocks xmlns:a="http://schemas.openxmlformats.org/drawingml/2006/main" noGrp="1"/>
          </p:cNvSpPr>
          <p:nvPr/>
        </p:nvSpPr>
        <p:spPr>
          <a:xfrm xmlns:a="http://schemas.openxmlformats.org/drawingml/2006/main">
            <a:off x="1714500" y="4953000"/>
            <a:ext cx="981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4213A"/>
                </a:solidFill>
                <a:latin typeface="Aptos"/>
                <a:ea typeface="Aptos"/>
                <a:cs typeface="Aptos"/>
              </a:defRPr>
            </a:pPr>
            <a:r>
              <a:rPr sz="2100" b="1">
                <a:solidFill>
                  <a:srgbClr val="14213A"/>
                </a:solidFill>
                <a:latin typeface="Aptos"/>
                <a:ea typeface="Aptos"/>
                <a:cs typeface="Aptos"/>
              </a:rPr>
              <a:t>Domain &amp; scale coverage</a:t>
            </a:r>
          </a:p>
        </p:txBody>
      </p:sp>
      <p:sp>
        <p:nvSpPr>
          <p:cNvPr id="16" name="">
            <a:extLst xmlns:a="http://schemas.openxmlformats.org/drawingml/2006/main">
              <a:ext uri="{FF2B5EF4-FFF2-40B4-BE49-F238E27FC236}">
                <a16:creationId xmlns:a16="http://schemas.microsoft.com/office/drawing/2014/main" id="{F027A07C-F253-4120-B3A3-033562ADCE73}"/>
              </a:ext>
            </a:extLst>
          </p:cNvPr>
          <p:cNvSpPr>
            <a:spLocks xmlns:a="http://schemas.openxmlformats.org/drawingml/2006/main" noGrp="1"/>
          </p:cNvSpPr>
          <p:nvPr/>
        </p:nvSpPr>
        <p:spPr>
          <a:xfrm xmlns:a="http://schemas.openxmlformats.org/drawingml/2006/main">
            <a:off x="1714500" y="5391150"/>
            <a:ext cx="9810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57186"/>
                </a:solidFill>
                <a:latin typeface="Aptos"/>
                <a:ea typeface="Aptos"/>
                <a:cs typeface="Aptos"/>
              </a:defRPr>
            </a:pPr>
            <a:r>
              <a:rPr sz="1800" b="0">
                <a:solidFill>
                  <a:srgbClr val="657186"/>
                </a:solidFill>
                <a:latin typeface="Aptos"/>
                <a:ea typeface="Aptos"/>
                <a:cs typeface="Aptos"/>
              </a:rPr>
              <a:t>Evaluate all target domains, then benchmark 10k+ scenarios.</a:t>
            </a:r>
          </a:p>
        </p:txBody>
      </p:sp>
    </p:spTree>
    <p:extLst>
      <p:ext uri="{BB962C8B-B14F-4D97-AF65-F5344CB8AC3E}">
        <p14:creationId xmlns:p14="http://schemas.microsoft.com/office/powerpoint/2010/main" val="1350542878"/>
      </p:ext>
    </p:extLst>
  </p:cSld>
</p:sld>
</file>

<file path=ppt/slides/slide10.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A475736-66F7-434D-88C9-97BE6F4E84DB}"/>
              </a:ext>
            </a:extLst>
          </p:cNvPr>
          <p:cNvSpPr>
            <a:spLocks xmlns:a="http://schemas.openxmlformats.org/drawingml/2006/main" noGrp="1"/>
          </p:cNvSpPr>
          <p:nvPr/>
        </p:nvSpPr>
        <p:spPr>
          <a:xfrm xmlns:a="http://schemas.openxmlformats.org/drawingml/2006/main">
            <a:off x="609600" y="28575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3858ED"/>
                </a:solidFill>
                <a:latin typeface="Aptos"/>
                <a:ea typeface="Aptos"/>
                <a:cs typeface="Aptos"/>
              </a:defRPr>
            </a:pPr>
            <a:r>
              <a:rPr sz="1125" b="1">
                <a:solidFill>
                  <a:srgbClr val="3858ED"/>
                </a:solidFill>
                <a:latin typeface="Aptos"/>
                <a:ea typeface="Aptos"/>
                <a:cs typeface="Aptos"/>
              </a:rPr>
              <a:t>SAMSUNG PRISM   /   THE SEMICOLONS   /   THEME 02</a:t>
            </a:r>
          </a:p>
        </p:txBody>
      </p:sp>
      <p:sp>
        <p:nvSpPr>
          <p:cNvPr id="2" name="">
            <a:extLst xmlns:a="http://schemas.openxmlformats.org/drawingml/2006/main">
              <a:ext uri="{FF2B5EF4-FFF2-40B4-BE49-F238E27FC236}">
                <a16:creationId xmlns:a16="http://schemas.microsoft.com/office/drawing/2014/main" id="{96077572-21B2-49E3-89A6-5AA1CF337628}"/>
              </a:ext>
            </a:extLst>
          </p:cNvPr>
          <p:cNvSpPr>
            <a:spLocks xmlns:a="http://schemas.openxmlformats.org/drawingml/2006/main" noGrp="1"/>
          </p:cNvSpPr>
          <p:nvPr/>
        </p:nvSpPr>
        <p:spPr>
          <a:xfrm xmlns:a="http://schemas.openxmlformats.org/drawingml/2006/main">
            <a:off x="609600" y="838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13A"/>
                </a:solidFill>
                <a:latin typeface="Aptos"/>
                <a:ea typeface="Aptos"/>
                <a:cs typeface="Aptos"/>
              </a:defRPr>
            </a:pPr>
            <a:r>
              <a:rPr sz="3225" b="1">
                <a:solidFill>
                  <a:srgbClr val="14213A"/>
                </a:solidFill>
                <a:latin typeface="Aptos"/>
                <a:ea typeface="Aptos"/>
                <a:cs typeface="Aptos"/>
              </a:rPr>
              <a:t>Differentiation &amp; reliability</a:t>
            </a:r>
          </a:p>
        </p:txBody>
      </p:sp>
      <p:sp>
        <p:nvSpPr>
          <p:cNvPr id="3" name="">
            <a:extLst xmlns:a="http://schemas.openxmlformats.org/drawingml/2006/main">
              <a:ext uri="{FF2B5EF4-FFF2-40B4-BE49-F238E27FC236}">
                <a16:creationId xmlns:a16="http://schemas.microsoft.com/office/drawing/2014/main" id="{1964BACC-1D9B-4AB9-B49E-2B29D9730834}"/>
              </a:ext>
            </a:extLst>
          </p:cNvPr>
          <p:cNvSpPr>
            <a:spLocks xmlns:a="http://schemas.openxmlformats.org/drawingml/2006/main" noGrp="1"/>
          </p:cNvSpPr>
          <p:nvPr/>
        </p:nvSpPr>
        <p:spPr>
          <a:xfrm xmlns:a="http://schemas.openxmlformats.org/drawingml/2006/main">
            <a:off x="609600" y="642937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57186"/>
                </a:solidFill>
                <a:latin typeface="Aptos"/>
                <a:ea typeface="Aptos"/>
                <a:cs typeface="Aptos"/>
              </a:defRPr>
            </a:pPr>
            <a:r>
              <a:rPr sz="1050" b="0">
                <a:solidFill>
                  <a:srgbClr val="657186"/>
                </a:solidFill>
                <a:latin typeface="Aptos"/>
                <a:ea typeface="Aptos"/>
                <a:cs typeface="Aptos"/>
              </a:rPr>
              <a:t>SRMIST, Chennai · Smart Guided Troubleshooting</a:t>
            </a:r>
          </a:p>
        </p:txBody>
      </p:sp>
      <p:sp>
        <p:nvSpPr>
          <p:cNvPr id="4" name="">
            <a:extLst xmlns:a="http://schemas.openxmlformats.org/drawingml/2006/main">
              <a:ext uri="{FF2B5EF4-FFF2-40B4-BE49-F238E27FC236}">
                <a16:creationId xmlns:a16="http://schemas.microsoft.com/office/drawing/2014/main" id="{1D431E34-7EB6-4F3B-BF54-6E60F79D5BE0}"/>
              </a:ext>
            </a:extLst>
          </p:cNvPr>
          <p:cNvSpPr>
            <a:spLocks xmlns:a="http://schemas.openxmlformats.org/drawingml/2006/main" noGrp="1"/>
          </p:cNvSpPr>
          <p:nvPr/>
        </p:nvSpPr>
        <p:spPr>
          <a:xfrm xmlns:a="http://schemas.openxmlformats.org/drawingml/2006/main">
            <a:off x="11049000" y="6429375"/>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57186"/>
                </a:solidFill>
                <a:latin typeface="Aptos"/>
                <a:ea typeface="Aptos"/>
                <a:cs typeface="Aptos"/>
              </a:defRPr>
            </a:pPr>
            <a:r>
              <a:rPr sz="1050" b="0">
                <a:solidFill>
                  <a:srgbClr val="657186"/>
                </a:solidFill>
                <a:latin typeface="Aptos"/>
                <a:ea typeface="Aptos"/>
                <a:cs typeface="Aptos"/>
              </a:rPr>
              <a:t>10</a:t>
            </a:r>
          </a:p>
        </p:txBody>
      </p:sp>
      <p:sp>
        <p:nvSpPr>
          <p:cNvPr id="5" name="">
            <a:extLst xmlns:a="http://schemas.openxmlformats.org/drawingml/2006/main">
              <a:ext uri="{FF2B5EF4-FFF2-40B4-BE49-F238E27FC236}">
                <a16:creationId xmlns:a16="http://schemas.microsoft.com/office/drawing/2014/main" id="{3A6A1433-CB2A-473F-800F-8329F43990FE}"/>
              </a:ext>
            </a:extLst>
          </p:cNvPr>
          <p:cNvSpPr>
            <a:spLocks xmlns:a="http://schemas.openxmlformats.org/drawingml/2006/main" noGrp="1"/>
          </p:cNvSpPr>
          <p:nvPr/>
        </p:nvSpPr>
        <p:spPr>
          <a:xfrm xmlns:a="http://schemas.openxmlformats.org/drawingml/2006/main">
            <a:off x="609600" y="1914525"/>
            <a:ext cx="5000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3858ED"/>
                </a:solidFill>
                <a:latin typeface="Aptos"/>
                <a:ea typeface="Aptos"/>
                <a:cs typeface="Aptos"/>
              </a:defRPr>
            </a:pPr>
            <a:r>
              <a:rPr sz="1950" b="1">
                <a:solidFill>
                  <a:srgbClr val="3858ED"/>
                </a:solidFill>
                <a:latin typeface="Aptos"/>
                <a:ea typeface="Aptos"/>
                <a:cs typeface="Aptos"/>
              </a:rPr>
              <a:t>Model chooses IDs</a:t>
            </a:r>
          </a:p>
        </p:txBody>
      </p:sp>
      <p:sp>
        <p:nvSpPr>
          <p:cNvPr id="6" name="">
            <a:extLst xmlns:a="http://schemas.openxmlformats.org/drawingml/2006/main">
              <a:ext uri="{FF2B5EF4-FFF2-40B4-BE49-F238E27FC236}">
                <a16:creationId xmlns:a16="http://schemas.microsoft.com/office/drawing/2014/main" id="{1F5F53DE-1498-4069-9D23-1B42C0DD3FB7}"/>
              </a:ext>
            </a:extLst>
          </p:cNvPr>
          <p:cNvSpPr>
            <a:spLocks xmlns:a="http://schemas.openxmlformats.org/drawingml/2006/main" noGrp="1"/>
          </p:cNvSpPr>
          <p:nvPr/>
        </p:nvSpPr>
        <p:spPr>
          <a:xfrm xmlns:a="http://schemas.openxmlformats.org/drawingml/2006/main">
            <a:off x="609600" y="2409825"/>
            <a:ext cx="50006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4213A"/>
                </a:solidFill>
                <a:latin typeface="Aptos"/>
                <a:ea typeface="Aptos"/>
                <a:cs typeface="Aptos"/>
              </a:defRPr>
            </a:pPr>
            <a:r>
              <a:rPr sz="1875" b="0">
                <a:solidFill>
                  <a:srgbClr val="14213A"/>
                </a:solidFill>
                <a:latin typeface="Aptos"/>
                <a:ea typeface="Aptos"/>
                <a:cs typeface="Aptos"/>
              </a:rPr>
              <a:t>Code reconstructs source text and uses literal catalog URIs after validation.</a:t>
            </a:r>
          </a:p>
        </p:txBody>
      </p:sp>
      <p:sp>
        <p:nvSpPr>
          <p:cNvPr id="7" name="">
            <a:extLst xmlns:a="http://schemas.openxmlformats.org/drawingml/2006/main">
              <a:ext uri="{FF2B5EF4-FFF2-40B4-BE49-F238E27FC236}">
                <a16:creationId xmlns:a16="http://schemas.microsoft.com/office/drawing/2014/main" id="{98F1A7EC-48FC-4B11-860E-D3B38FF8B2A1}"/>
              </a:ext>
            </a:extLst>
          </p:cNvPr>
          <p:cNvSpPr>
            <a:spLocks xmlns:a="http://schemas.openxmlformats.org/drawingml/2006/main" noGrp="1"/>
          </p:cNvSpPr>
          <p:nvPr/>
        </p:nvSpPr>
        <p:spPr>
          <a:xfrm xmlns:a="http://schemas.openxmlformats.org/drawingml/2006/main">
            <a:off x="6334125" y="1914525"/>
            <a:ext cx="5095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3858ED"/>
                </a:solidFill>
                <a:latin typeface="Aptos"/>
                <a:ea typeface="Aptos"/>
                <a:cs typeface="Aptos"/>
              </a:defRPr>
            </a:pPr>
            <a:r>
              <a:rPr sz="1950" b="1">
                <a:solidFill>
                  <a:srgbClr val="3858ED"/>
                </a:solidFill>
                <a:latin typeface="Aptos"/>
                <a:ea typeface="Aptos"/>
                <a:cs typeface="Aptos"/>
              </a:rPr>
              <a:t>Source-specific cache</a:t>
            </a:r>
          </a:p>
        </p:txBody>
      </p:sp>
      <p:sp>
        <p:nvSpPr>
          <p:cNvPr id="8" name="">
            <a:extLst xmlns:a="http://schemas.openxmlformats.org/drawingml/2006/main">
              <a:ext uri="{FF2B5EF4-FFF2-40B4-BE49-F238E27FC236}">
                <a16:creationId xmlns:a16="http://schemas.microsoft.com/office/drawing/2014/main" id="{A9638EDC-ECE9-4B22-B9FC-700BEF161993}"/>
              </a:ext>
            </a:extLst>
          </p:cNvPr>
          <p:cNvSpPr>
            <a:spLocks xmlns:a="http://schemas.openxmlformats.org/drawingml/2006/main" noGrp="1"/>
          </p:cNvSpPr>
          <p:nvPr/>
        </p:nvSpPr>
        <p:spPr>
          <a:xfrm xmlns:a="http://schemas.openxmlformats.org/drawingml/2006/main">
            <a:off x="6334125" y="2409825"/>
            <a:ext cx="509587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4213A"/>
                </a:solidFill>
                <a:latin typeface="Aptos"/>
                <a:ea typeface="Aptos"/>
                <a:cs typeface="Aptos"/>
              </a:defRPr>
            </a:pPr>
            <a:r>
              <a:rPr sz="1875" b="0">
                <a:solidFill>
                  <a:srgbClr val="14213A"/>
                </a:solidFill>
                <a:latin typeface="Aptos"/>
                <a:ea typeface="Aptos"/>
                <a:cs typeface="Aptos"/>
              </a:rPr>
              <a:t>The source participates in cache identity; changed evidence gets a different key.</a:t>
            </a:r>
          </a:p>
        </p:txBody>
      </p:sp>
      <p:sp>
        <p:nvSpPr>
          <p:cNvPr id="9" name="">
            <a:extLst xmlns:a="http://schemas.openxmlformats.org/drawingml/2006/main">
              <a:ext uri="{FF2B5EF4-FFF2-40B4-BE49-F238E27FC236}">
                <a16:creationId xmlns:a16="http://schemas.microsoft.com/office/drawing/2014/main" id="{2859FCC3-ECA1-4200-A4BE-A6CC52A88DC2}"/>
              </a:ext>
            </a:extLst>
          </p:cNvPr>
          <p:cNvSpPr>
            <a:spLocks xmlns:a="http://schemas.openxmlformats.org/drawingml/2006/main" noGrp="1"/>
          </p:cNvSpPr>
          <p:nvPr/>
        </p:nvSpPr>
        <p:spPr>
          <a:xfrm xmlns:a="http://schemas.openxmlformats.org/drawingml/2006/main">
            <a:off x="609600" y="4152900"/>
            <a:ext cx="5000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3858ED"/>
                </a:solidFill>
                <a:latin typeface="Aptos"/>
                <a:ea typeface="Aptos"/>
                <a:cs typeface="Aptos"/>
              </a:defRPr>
            </a:pPr>
            <a:r>
              <a:rPr sz="1950" b="1">
                <a:solidFill>
                  <a:srgbClr val="3858ED"/>
                </a:solidFill>
                <a:latin typeface="Aptos"/>
                <a:ea typeface="Aptos"/>
                <a:cs typeface="Aptos"/>
              </a:rPr>
              <a:t>Failure paths</a:t>
            </a:r>
          </a:p>
        </p:txBody>
      </p:sp>
      <p:sp>
        <p:nvSpPr>
          <p:cNvPr id="10" name="">
            <a:extLst xmlns:a="http://schemas.openxmlformats.org/drawingml/2006/main">
              <a:ext uri="{FF2B5EF4-FFF2-40B4-BE49-F238E27FC236}">
                <a16:creationId xmlns:a16="http://schemas.microsoft.com/office/drawing/2014/main" id="{48463F30-4B94-4231-99FF-678F727DA79F}"/>
              </a:ext>
            </a:extLst>
          </p:cNvPr>
          <p:cNvSpPr>
            <a:spLocks xmlns:a="http://schemas.openxmlformats.org/drawingml/2006/main" noGrp="1"/>
          </p:cNvSpPr>
          <p:nvPr/>
        </p:nvSpPr>
        <p:spPr>
          <a:xfrm xmlns:a="http://schemas.openxmlformats.org/drawingml/2006/main">
            <a:off x="609600" y="4648200"/>
            <a:ext cx="50006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4213A"/>
                </a:solidFill>
                <a:latin typeface="Aptos"/>
                <a:ea typeface="Aptos"/>
                <a:cs typeface="Aptos"/>
              </a:defRPr>
            </a:pPr>
            <a:r>
              <a:rPr sz="1875" b="0">
                <a:solidFill>
                  <a:srgbClr val="14213A"/>
                </a:solidFill>
                <a:latin typeface="Aptos"/>
                <a:ea typeface="Aptos"/>
                <a:cs typeface="Aptos"/>
              </a:rPr>
              <a:t>Unknown issues return no_match. Invalid model selections fail closed.</a:t>
            </a:r>
          </a:p>
        </p:txBody>
      </p:sp>
      <p:sp>
        <p:nvSpPr>
          <p:cNvPr id="11" name="">
            <a:extLst xmlns:a="http://schemas.openxmlformats.org/drawingml/2006/main">
              <a:ext uri="{FF2B5EF4-FFF2-40B4-BE49-F238E27FC236}">
                <a16:creationId xmlns:a16="http://schemas.microsoft.com/office/drawing/2014/main" id="{BBB6A522-F6FB-45FB-8F62-E7C2F9970E07}"/>
              </a:ext>
            </a:extLst>
          </p:cNvPr>
          <p:cNvSpPr>
            <a:spLocks xmlns:a="http://schemas.openxmlformats.org/drawingml/2006/main" noGrp="1"/>
          </p:cNvSpPr>
          <p:nvPr/>
        </p:nvSpPr>
        <p:spPr>
          <a:xfrm xmlns:a="http://schemas.openxmlformats.org/drawingml/2006/main">
            <a:off x="6334125" y="4152900"/>
            <a:ext cx="5095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3858ED"/>
                </a:solidFill>
                <a:latin typeface="Aptos"/>
                <a:ea typeface="Aptos"/>
                <a:cs typeface="Aptos"/>
              </a:defRPr>
            </a:pPr>
            <a:r>
              <a:rPr sz="1950" b="1">
                <a:solidFill>
                  <a:srgbClr val="3858ED"/>
                </a:solidFill>
                <a:latin typeface="Aptos"/>
                <a:ea typeface="Aptos"/>
                <a:cs typeface="Aptos"/>
              </a:rPr>
              <a:t>Evaluation status</a:t>
            </a:r>
          </a:p>
        </p:txBody>
      </p:sp>
      <p:sp>
        <p:nvSpPr>
          <p:cNvPr id="12" name="">
            <a:extLst xmlns:a="http://schemas.openxmlformats.org/drawingml/2006/main">
              <a:ext uri="{FF2B5EF4-FFF2-40B4-BE49-F238E27FC236}">
                <a16:creationId xmlns:a16="http://schemas.microsoft.com/office/drawing/2014/main" id="{C7055CC2-6721-4806-8373-27CE9223974A}"/>
              </a:ext>
            </a:extLst>
          </p:cNvPr>
          <p:cNvSpPr>
            <a:spLocks xmlns:a="http://schemas.openxmlformats.org/drawingml/2006/main" noGrp="1"/>
          </p:cNvSpPr>
          <p:nvPr/>
        </p:nvSpPr>
        <p:spPr>
          <a:xfrm xmlns:a="http://schemas.openxmlformats.org/drawingml/2006/main">
            <a:off x="6334125" y="4648200"/>
            <a:ext cx="509587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4213A"/>
                </a:solidFill>
                <a:latin typeface="Aptos"/>
                <a:ea typeface="Aptos"/>
                <a:cs typeface="Aptos"/>
              </a:defRPr>
            </a:pPr>
            <a:r>
              <a:rPr sz="1875" b="0">
                <a:solidFill>
                  <a:srgbClr val="14213A"/>
                </a:solidFill>
                <a:latin typeface="Aptos"/>
                <a:ea typeface="Aptos"/>
                <a:cs typeface="Aptos"/>
              </a:rPr>
              <a:t>Nine automated tests pass.</a:t>
            </a:r>
          </a:p>
          <a:p xmlns:a="http://schemas.openxmlformats.org/drawingml/2006/main">
            <a:pPr>
              <a:defRPr sz="1875" b="0">
                <a:solidFill>
                  <a:srgbClr val="14213A"/>
                </a:solidFill>
                <a:latin typeface="Aptos"/>
                <a:ea typeface="Aptos"/>
                <a:cs typeface="Aptos"/>
              </a:defRPr>
            </a:pPr>
            <a:r>
              <a:rPr sz="1875" b="0">
                <a:solidFill>
                  <a:srgbClr val="14213A"/>
                </a:solidFill>
                <a:latin typeface="Aptos"/>
                <a:ea typeface="Aptos"/>
                <a:cs typeface="Aptos"/>
              </a:rPr>
              <a:t>Full model-versus-baseline ablation remains future work.</a:t>
            </a:r>
          </a:p>
        </p:txBody>
      </p:sp>
    </p:spTree>
    <p:extLst>
      <p:ext uri="{BB962C8B-B14F-4D97-AF65-F5344CB8AC3E}">
        <p14:creationId xmlns:p14="http://schemas.microsoft.com/office/powerpoint/2010/main" val="1836443937"/>
      </p:ext>
    </p:extLst>
  </p:cSld>
</p:sld>
</file>

<file path=ppt/slides/slide11.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4845F4B-8D5D-4EF7-8E5C-5F84467FB4CC}"/>
              </a:ext>
            </a:extLst>
          </p:cNvPr>
          <p:cNvSpPr>
            <a:spLocks xmlns:a="http://schemas.openxmlformats.org/drawingml/2006/main" noGrp="1"/>
          </p:cNvSpPr>
          <p:nvPr/>
        </p:nvSpPr>
        <p:spPr>
          <a:xfrm xmlns:a="http://schemas.openxmlformats.org/drawingml/2006/main">
            <a:off x="609600" y="28575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3858ED"/>
                </a:solidFill>
                <a:latin typeface="Aptos"/>
                <a:ea typeface="Aptos"/>
                <a:cs typeface="Aptos"/>
              </a:defRPr>
            </a:pPr>
            <a:r>
              <a:rPr sz="1125" b="1">
                <a:solidFill>
                  <a:srgbClr val="3858ED"/>
                </a:solidFill>
                <a:latin typeface="Aptos"/>
                <a:ea typeface="Aptos"/>
                <a:cs typeface="Aptos"/>
              </a:rPr>
              <a:t>SAMSUNG PRISM   /   THE SEMICOLONS   /   THEME 02</a:t>
            </a:r>
          </a:p>
        </p:txBody>
      </p:sp>
      <p:sp>
        <p:nvSpPr>
          <p:cNvPr id="2" name="">
            <a:extLst xmlns:a="http://schemas.openxmlformats.org/drawingml/2006/main">
              <a:ext uri="{FF2B5EF4-FFF2-40B4-BE49-F238E27FC236}">
                <a16:creationId xmlns:a16="http://schemas.microsoft.com/office/drawing/2014/main" id="{87EBE999-FC59-467B-9EA8-C49B56CFC4EA}"/>
              </a:ext>
            </a:extLst>
          </p:cNvPr>
          <p:cNvSpPr>
            <a:spLocks xmlns:a="http://schemas.openxmlformats.org/drawingml/2006/main" noGrp="1"/>
          </p:cNvSpPr>
          <p:nvPr/>
        </p:nvSpPr>
        <p:spPr>
          <a:xfrm xmlns:a="http://schemas.openxmlformats.org/drawingml/2006/main">
            <a:off x="609600" y="838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13A"/>
                </a:solidFill>
                <a:latin typeface="Aptos"/>
                <a:ea typeface="Aptos"/>
                <a:cs typeface="Aptos"/>
              </a:defRPr>
            </a:pPr>
            <a:r>
              <a:rPr sz="3225" b="1">
                <a:solidFill>
                  <a:srgbClr val="14213A"/>
                </a:solidFill>
                <a:latin typeface="Aptos"/>
                <a:ea typeface="Aptos"/>
                <a:cs typeface="Aptos"/>
              </a:rPr>
              <a:t>Public GitHub &amp; submission readiness</a:t>
            </a:r>
          </a:p>
        </p:txBody>
      </p:sp>
      <p:sp>
        <p:nvSpPr>
          <p:cNvPr id="3" name="">
            <a:extLst xmlns:a="http://schemas.openxmlformats.org/drawingml/2006/main">
              <a:ext uri="{FF2B5EF4-FFF2-40B4-BE49-F238E27FC236}">
                <a16:creationId xmlns:a16="http://schemas.microsoft.com/office/drawing/2014/main" id="{F088AF5D-B2D9-4106-96F4-922FC38D28B9}"/>
              </a:ext>
            </a:extLst>
          </p:cNvPr>
          <p:cNvSpPr>
            <a:spLocks xmlns:a="http://schemas.openxmlformats.org/drawingml/2006/main" noGrp="1"/>
          </p:cNvSpPr>
          <p:nvPr/>
        </p:nvSpPr>
        <p:spPr>
          <a:xfrm xmlns:a="http://schemas.openxmlformats.org/drawingml/2006/main">
            <a:off x="609600" y="642937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57186"/>
                </a:solidFill>
                <a:latin typeface="Aptos"/>
                <a:ea typeface="Aptos"/>
                <a:cs typeface="Aptos"/>
              </a:defRPr>
            </a:pPr>
            <a:r>
              <a:rPr sz="1050" b="0">
                <a:solidFill>
                  <a:srgbClr val="657186"/>
                </a:solidFill>
                <a:latin typeface="Aptos"/>
                <a:ea typeface="Aptos"/>
                <a:cs typeface="Aptos"/>
              </a:rPr>
              <a:t>SRMIST, Chennai · Smart Guided Troubleshooting</a:t>
            </a:r>
          </a:p>
        </p:txBody>
      </p:sp>
      <p:sp>
        <p:nvSpPr>
          <p:cNvPr id="4" name="">
            <a:extLst xmlns:a="http://schemas.openxmlformats.org/drawingml/2006/main">
              <a:ext uri="{FF2B5EF4-FFF2-40B4-BE49-F238E27FC236}">
                <a16:creationId xmlns:a16="http://schemas.microsoft.com/office/drawing/2014/main" id="{38EE6323-A012-47C0-AFF5-6D03FC5F24E0}"/>
              </a:ext>
            </a:extLst>
          </p:cNvPr>
          <p:cNvSpPr>
            <a:spLocks xmlns:a="http://schemas.openxmlformats.org/drawingml/2006/main" noGrp="1"/>
          </p:cNvSpPr>
          <p:nvPr/>
        </p:nvSpPr>
        <p:spPr>
          <a:xfrm xmlns:a="http://schemas.openxmlformats.org/drawingml/2006/main">
            <a:off x="11049000" y="6429375"/>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57186"/>
                </a:solidFill>
                <a:latin typeface="Aptos"/>
                <a:ea typeface="Aptos"/>
                <a:cs typeface="Aptos"/>
              </a:defRPr>
            </a:pPr>
            <a:r>
              <a:rPr sz="1050" b="0">
                <a:solidFill>
                  <a:srgbClr val="657186"/>
                </a:solidFill>
                <a:latin typeface="Aptos"/>
                <a:ea typeface="Aptos"/>
                <a:cs typeface="Aptos"/>
              </a:rPr>
              <a:t>11</a:t>
            </a:r>
          </a:p>
        </p:txBody>
      </p:sp>
      <p:graphicFrame>
        <p:nvGraphicFramePr>
          <p:cNvPr id="11" name=""/>
          <p:cNvGraphicFramePr/>
          <p:nvPr/>
        </p:nvGraphicFramePr>
        <p:xfrm>
          <a:off xmlns:a="http://schemas.openxmlformats.org/drawingml/2006/main" x="609600" y="1809750"/>
          <a:ext xmlns:a="http://schemas.openxmlformats.org/drawingml/2006/main" cx="10972800" cy="3486150"/>
        </p:xfrm>
        <a:graphic xmlns:a="http://schemas.openxmlformats.org/drawingml/2006/main">
          <a:graphicData uri="http://schemas.openxmlformats.org/drawingml/2006/table">
            <a:tbl>
              <a:tblPr/>
              <a:tblGrid>
                <a:gridCol w="6858000"/>
                <a:gridCol w="4114800"/>
              </a:tblGrid>
              <a:tr h="581025">
                <a:tc>
                  <a:txBody>
                    <a:bodyPr/>
                    <a:lstStyle/>
                    <a:p>
                      <a:r>
                        <a:rPr sz="1500" b="1">
                          <a:solidFill>
                            <a:srgbClr val="FFFFFF"/>
                          </a:solidFill>
                          <a:latin typeface="Aptos"/>
                          <a:ea typeface="Aptos"/>
                          <a:cs typeface="Aptos"/>
                        </a:rPr>
                        <a:t>Submission item</a:t>
                      </a:r>
                    </a:p>
                  </a:txBody>
                  <a:tcPr marL="91440" marR="91440" marT="45720" marB="45720">
                    <a:solidFill>
                      <a:srgbClr val="14213A"/>
                    </a:solidFill>
                  </a:tcPr>
                </a:tc>
                <a:tc>
                  <a:txBody>
                    <a:bodyPr/>
                    <a:lstStyle/>
                    <a:p>
                      <a:r>
                        <a:rPr sz="1500" b="1">
                          <a:solidFill>
                            <a:srgbClr val="FFFFFF"/>
                          </a:solidFill>
                          <a:latin typeface="Aptos"/>
                          <a:ea typeface="Aptos"/>
                          <a:cs typeface="Aptos"/>
                        </a:rPr>
                        <a:t>Status</a:t>
                      </a:r>
                    </a:p>
                  </a:txBody>
                  <a:tcPr marL="91440" marR="91440" marT="45720" marB="45720">
                    <a:solidFill>
                      <a:srgbClr val="14213A"/>
                    </a:solidFill>
                  </a:tcPr>
                </a:tc>
              </a:tr>
              <a:tr h="581025">
                <a:tc>
                  <a:txBody>
                    <a:bodyPr/>
                    <a:lstStyle/>
                    <a:p>
                      <a:r>
                        <a:rPr sz="1650" b="0">
                          <a:solidFill>
                            <a:srgbClr val="14213A"/>
                          </a:solidFill>
                          <a:latin typeface="Aptos"/>
                          <a:ea typeface="Aptos"/>
                          <a:cs typeface="Aptos"/>
                        </a:rPr>
                        <a:t>Prototype code, tests and README</a:t>
                      </a:r>
                    </a:p>
                  </a:txBody>
                  <a:tcPr marL="91440" marR="91440" marT="45720" marB="45720">
                    <a:solidFill>
                      <a:srgbClr val="FFFFFF"/>
                    </a:solidFill>
                  </a:tcPr>
                </a:tc>
                <a:tc>
                  <a:txBody>
                    <a:bodyPr/>
                    <a:lstStyle/>
                    <a:p>
                      <a:r>
                        <a:rPr sz="1650" b="0">
                          <a:solidFill>
                            <a:srgbClr val="14213A"/>
                          </a:solidFill>
                          <a:latin typeface="Aptos"/>
                          <a:ea typeface="Aptos"/>
                          <a:cs typeface="Aptos"/>
                        </a:rPr>
                        <a:t>Published</a:t>
                      </a:r>
                    </a:p>
                  </a:txBody>
                  <a:tcPr marL="91440" marR="91440" marT="45720" marB="45720">
                    <a:solidFill>
                      <a:srgbClr val="FFFFFF"/>
                    </a:solidFill>
                  </a:tcPr>
                </a:tc>
              </a:tr>
              <a:tr h="581025">
                <a:tc>
                  <a:txBody>
                    <a:bodyPr/>
                    <a:lstStyle/>
                    <a:p>
                      <a:r>
                        <a:rPr sz="1650" b="0">
                          <a:solidFill>
                            <a:srgbClr val="14213A"/>
                          </a:solidFill>
                          <a:latin typeface="Aptos"/>
                          <a:ea typeface="Aptos"/>
                          <a:cs typeface="Aptos"/>
                        </a:rPr>
                        <a:t>Updated deck and member script</a:t>
                      </a:r>
                    </a:p>
                  </a:txBody>
                  <a:tcPr marL="91440" marR="91440" marT="45720" marB="45720">
                    <a:solidFill>
                      <a:srgbClr val="EFEEF0"/>
                    </a:solidFill>
                  </a:tcPr>
                </a:tc>
                <a:tc>
                  <a:txBody>
                    <a:bodyPr/>
                    <a:lstStyle/>
                    <a:p>
                      <a:r>
                        <a:rPr sz="1650" b="0">
                          <a:solidFill>
                            <a:srgbClr val="14213A"/>
                          </a:solidFill>
                          <a:latin typeface="Aptos"/>
                          <a:ea typeface="Aptos"/>
                          <a:cs typeface="Aptos"/>
                        </a:rPr>
                        <a:t>Included in this update</a:t>
                      </a:r>
                    </a:p>
                  </a:txBody>
                  <a:tcPr marL="91440" marR="91440" marT="45720" marB="45720">
                    <a:solidFill>
                      <a:srgbClr val="EFEEF0"/>
                    </a:solidFill>
                  </a:tcPr>
                </a:tc>
              </a:tr>
              <a:tr h="581025">
                <a:tc>
                  <a:txBody>
                    <a:bodyPr/>
                    <a:lstStyle/>
                    <a:p>
                      <a:r>
                        <a:rPr sz="1650" b="0">
                          <a:solidFill>
                            <a:srgbClr val="14213A"/>
                          </a:solidFill>
                          <a:latin typeface="Aptos"/>
                          <a:ea typeface="Aptos"/>
                          <a:cs typeface="Aptos"/>
                        </a:rPr>
                        <a:t>Accessible demo video URL</a:t>
                      </a:r>
                    </a:p>
                  </a:txBody>
                  <a:tcPr marL="91440" marR="91440" marT="45720" marB="45720">
                    <a:solidFill>
                      <a:srgbClr val="FFFFFF"/>
                    </a:solidFill>
                  </a:tcPr>
                </a:tc>
                <a:tc>
                  <a:txBody>
                    <a:bodyPr/>
                    <a:lstStyle/>
                    <a:p>
                      <a:r>
                        <a:rPr sz="1650" b="0">
                          <a:solidFill>
                            <a:srgbClr val="14213A"/>
                          </a:solidFill>
                          <a:latin typeface="Aptos"/>
                          <a:ea typeface="Aptos"/>
                          <a:cs typeface="Aptos"/>
                        </a:rPr>
                        <a:t>Pending · placeholder retained</a:t>
                      </a:r>
                    </a:p>
                  </a:txBody>
                  <a:tcPr marL="91440" marR="91440" marT="45720" marB="45720">
                    <a:solidFill>
                      <a:srgbClr val="FFFFFF"/>
                    </a:solidFill>
                  </a:tcPr>
                </a:tc>
              </a:tr>
              <a:tr h="581025">
                <a:tc>
                  <a:txBody>
                    <a:bodyPr/>
                    <a:lstStyle/>
                    <a:p>
                      <a:r>
                        <a:rPr sz="1650" b="0">
                          <a:solidFill>
                            <a:srgbClr val="14213A"/>
                          </a:solidFill>
                          <a:latin typeface="Aptos"/>
                          <a:ea typeface="Aptos"/>
                          <a:cs typeface="Aptos"/>
                        </a:rPr>
                        <a:t>Final release tag</a:t>
                      </a:r>
                    </a:p>
                  </a:txBody>
                  <a:tcPr marL="91440" marR="91440" marT="45720" marB="45720">
                    <a:solidFill>
                      <a:srgbClr val="EFEEF0"/>
                    </a:solidFill>
                  </a:tcPr>
                </a:tc>
                <a:tc>
                  <a:txBody>
                    <a:bodyPr/>
                    <a:lstStyle/>
                    <a:p>
                      <a:r>
                        <a:rPr sz="1650" b="0">
                          <a:solidFill>
                            <a:srgbClr val="14213A"/>
                          </a:solidFill>
                          <a:latin typeface="Aptos"/>
                          <a:ea typeface="Aptos"/>
                          <a:cs typeface="Aptos"/>
                        </a:rPr>
                        <a:t>Pending · after video link</a:t>
                      </a:r>
                    </a:p>
                  </a:txBody>
                  <a:tcPr marL="91440" marR="91440" marT="45720" marB="45720">
                    <a:solidFill>
                      <a:srgbClr val="EFEEF0"/>
                    </a:solidFill>
                  </a:tcPr>
                </a:tc>
              </a:tr>
              <a:tr h="581025">
                <a:tc>
                  <a:txBody>
                    <a:bodyPr/>
                    <a:lstStyle/>
                    <a:p>
                      <a:r>
                        <a:rPr sz="1650" b="0">
                          <a:solidFill>
                            <a:srgbClr val="14213A"/>
                          </a:solidFill>
                          <a:latin typeface="Aptos"/>
                          <a:ea typeface="Aptos"/>
                          <a:cs typeface="Aptos"/>
                        </a:rPr>
                        <a:t>AI disclosure signoff</a:t>
                      </a:r>
                    </a:p>
                  </a:txBody>
                  <a:tcPr marL="91440" marR="91440" marT="45720" marB="45720">
                    <a:solidFill>
                      <a:srgbClr val="FFFFFF"/>
                    </a:solidFill>
                  </a:tcPr>
                </a:tc>
                <a:tc>
                  <a:txBody>
                    <a:bodyPr/>
                    <a:lstStyle/>
                    <a:p>
                      <a:r>
                        <a:rPr sz="1650" b="0">
                          <a:solidFill>
                            <a:srgbClr val="14213A"/>
                          </a:solidFill>
                          <a:latin typeface="Aptos"/>
                          <a:ea typeface="Aptos"/>
                          <a:cs typeface="Aptos"/>
                        </a:rPr>
                        <a:t>Team review / signature needed</a:t>
                      </a:r>
                    </a:p>
                  </a:txBody>
                  <a:tcPr marL="91440" marR="91440" marT="45720" marB="4572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5F6F29F9-A253-44D3-AA39-529FD8FAAA7E}"/>
              </a:ext>
            </a:extLst>
          </p:cNvPr>
          <p:cNvSpPr>
            <a:spLocks xmlns:a="http://schemas.openxmlformats.org/drawingml/2006/main" noGrp="1"/>
          </p:cNvSpPr>
          <p:nvPr/>
        </p:nvSpPr>
        <p:spPr>
          <a:xfrm xmlns:a="http://schemas.openxmlformats.org/drawingml/2006/main">
            <a:off x="609600" y="5743575"/>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3858ED"/>
                </a:solidFill>
                <a:latin typeface="Aptos"/>
                <a:ea typeface="Aptos"/>
                <a:cs typeface="Aptos"/>
              </a:defRPr>
            </a:pPr>
            <a:r>
              <a:rPr sz="2025" b="1">
                <a:solidFill>
                  <a:srgbClr val="3858ED"/>
                </a:solidFill>
                <a:latin typeface="Aptos"/>
                <a:ea typeface="Aptos"/>
                <a:cs typeface="Aptos"/>
              </a:rPr>
              <a:t>github.com/Lakshmi98496/samsung-prism</a:t>
            </a:r>
          </a:p>
        </p:txBody>
      </p:sp>
    </p:spTree>
    <p:extLst>
      <p:ext uri="{BB962C8B-B14F-4D97-AF65-F5344CB8AC3E}">
        <p14:creationId xmlns:p14="http://schemas.microsoft.com/office/powerpoint/2010/main" val="304893534"/>
      </p:ext>
    </p:extLst>
  </p:cSld>
</p:sld>
</file>

<file path=ppt/slides/slide12.xml><?xml version="1.0" encoding="utf-8"?>
<p:sld xmlns:p="http://schemas.openxmlformats.org/presentationml/2006/main">
  <p:cSld>
    <p:bg>
      <p:bgPr>
        <a:solidFill xmlns:a="http://schemas.openxmlformats.org/drawingml/2006/main">
          <a:srgbClr val="14213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70C910E-D458-46F4-9BA5-593914B683AF}"/>
              </a:ext>
            </a:extLst>
          </p:cNvPr>
          <p:cNvSpPr>
            <a:spLocks xmlns:a="http://schemas.openxmlformats.org/drawingml/2006/main" noGrp="1"/>
          </p:cNvSpPr>
          <p:nvPr/>
        </p:nvSpPr>
        <p:spPr>
          <a:xfrm xmlns:a="http://schemas.openxmlformats.org/drawingml/2006/main">
            <a:off x="609600" y="28575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8CE5CB"/>
                </a:solidFill>
                <a:latin typeface="Aptos"/>
                <a:ea typeface="Aptos"/>
                <a:cs typeface="Aptos"/>
              </a:defRPr>
            </a:pPr>
            <a:r>
              <a:rPr sz="1125" b="1">
                <a:solidFill>
                  <a:srgbClr val="8CE5CB"/>
                </a:solidFill>
                <a:latin typeface="Aptos"/>
                <a:ea typeface="Aptos"/>
                <a:cs typeface="Aptos"/>
              </a:rPr>
              <a:t>SAMSUNG PRISM   /   THE SEMICOLONS   /   THEME 02</a:t>
            </a:r>
          </a:p>
        </p:txBody>
      </p:sp>
      <p:sp>
        <p:nvSpPr>
          <p:cNvPr id="2" name="">
            <a:extLst xmlns:a="http://schemas.openxmlformats.org/drawingml/2006/main">
              <a:ext uri="{FF2B5EF4-FFF2-40B4-BE49-F238E27FC236}">
                <a16:creationId xmlns:a16="http://schemas.microsoft.com/office/drawing/2014/main" id="{607D37C0-E733-48C0-A211-00642D9EF16F}"/>
              </a:ext>
            </a:extLst>
          </p:cNvPr>
          <p:cNvSpPr>
            <a:spLocks xmlns:a="http://schemas.openxmlformats.org/drawingml/2006/main" noGrp="1"/>
          </p:cNvSpPr>
          <p:nvPr/>
        </p:nvSpPr>
        <p:spPr>
          <a:xfrm xmlns:a="http://schemas.openxmlformats.org/drawingml/2006/main">
            <a:off x="609600" y="642937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AAB7CC"/>
                </a:solidFill>
                <a:latin typeface="Aptos"/>
                <a:ea typeface="Aptos"/>
                <a:cs typeface="Aptos"/>
              </a:defRPr>
            </a:pPr>
            <a:r>
              <a:rPr sz="1050" b="0">
                <a:solidFill>
                  <a:srgbClr val="AAB7CC"/>
                </a:solidFill>
                <a:latin typeface="Aptos"/>
                <a:ea typeface="Aptos"/>
                <a:cs typeface="Aptos"/>
              </a:rPr>
              <a:t>SRMIST, Chennai · Smart Guided Troubleshooting</a:t>
            </a:r>
          </a:p>
        </p:txBody>
      </p:sp>
      <p:sp>
        <p:nvSpPr>
          <p:cNvPr id="3" name="">
            <a:extLst xmlns:a="http://schemas.openxmlformats.org/drawingml/2006/main">
              <a:ext uri="{FF2B5EF4-FFF2-40B4-BE49-F238E27FC236}">
                <a16:creationId xmlns:a16="http://schemas.microsoft.com/office/drawing/2014/main" id="{35B1787E-4B31-4BC6-ABCF-DE09CB3188B2}"/>
              </a:ext>
            </a:extLst>
          </p:cNvPr>
          <p:cNvSpPr>
            <a:spLocks xmlns:a="http://schemas.openxmlformats.org/drawingml/2006/main" noGrp="1"/>
          </p:cNvSpPr>
          <p:nvPr/>
        </p:nvSpPr>
        <p:spPr>
          <a:xfrm xmlns:a="http://schemas.openxmlformats.org/drawingml/2006/main">
            <a:off x="11049000" y="6429375"/>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AAB7CC"/>
                </a:solidFill>
                <a:latin typeface="Aptos"/>
                <a:ea typeface="Aptos"/>
                <a:cs typeface="Aptos"/>
              </a:defRPr>
            </a:pPr>
            <a:r>
              <a:rPr sz="1050" b="0">
                <a:solidFill>
                  <a:srgbClr val="AAB7CC"/>
                </a:solidFill>
                <a:latin typeface="Aptos"/>
                <a:ea typeface="Aptos"/>
                <a:cs typeface="Aptos"/>
              </a:rPr>
              <a:t>12</a:t>
            </a:r>
          </a:p>
        </p:txBody>
      </p:sp>
      <p:sp>
        <p:nvSpPr>
          <p:cNvPr id="4" name="">
            <a:extLst xmlns:a="http://schemas.openxmlformats.org/drawingml/2006/main">
              <a:ext uri="{FF2B5EF4-FFF2-40B4-BE49-F238E27FC236}">
                <a16:creationId xmlns:a16="http://schemas.microsoft.com/office/drawing/2014/main" id="{A01123B2-ED35-4218-82D9-26C7A5B94F14}"/>
              </a:ext>
            </a:extLst>
          </p:cNvPr>
          <p:cNvSpPr>
            <a:spLocks xmlns:a="http://schemas.openxmlformats.org/drawingml/2006/main" noGrp="1"/>
          </p:cNvSpPr>
          <p:nvPr/>
        </p:nvSpPr>
        <p:spPr>
          <a:xfrm xmlns:a="http://schemas.openxmlformats.org/drawingml/2006/main">
            <a:off x="609600" y="1828800"/>
            <a:ext cx="10953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00" b="1">
                <a:solidFill>
                  <a:srgbClr val="FFFFFF"/>
                </a:solidFill>
                <a:latin typeface="Aptos"/>
                <a:ea typeface="Aptos"/>
                <a:cs typeface="Aptos"/>
              </a:defRPr>
            </a:pPr>
            <a:r>
              <a:rPr sz="5700" b="1">
                <a:solidFill>
                  <a:srgbClr val="FFFFFF"/>
                </a:solidFill>
                <a:latin typeface="Aptos"/>
                <a:ea typeface="Aptos"/>
                <a:cs typeface="Aptos"/>
              </a:rPr>
              <a:t>Thank you</a:t>
            </a:r>
          </a:p>
        </p:txBody>
      </p:sp>
      <p:sp>
        <p:nvSpPr>
          <p:cNvPr id="5" name="">
            <a:extLst xmlns:a="http://schemas.openxmlformats.org/drawingml/2006/main">
              <a:ext uri="{FF2B5EF4-FFF2-40B4-BE49-F238E27FC236}">
                <a16:creationId xmlns:a16="http://schemas.microsoft.com/office/drawing/2014/main" id="{4B8DA9C3-3F74-49AD-9B96-6925E198BA1D}"/>
              </a:ext>
            </a:extLst>
          </p:cNvPr>
          <p:cNvSpPr>
            <a:spLocks xmlns:a="http://schemas.openxmlformats.org/drawingml/2006/main" noGrp="1"/>
          </p:cNvSpPr>
          <p:nvPr/>
        </p:nvSpPr>
        <p:spPr>
          <a:xfrm xmlns:a="http://schemas.openxmlformats.org/drawingml/2006/main">
            <a:off x="647700" y="316230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8CE5CB"/>
                </a:solidFill>
                <a:latin typeface="Aptos"/>
                <a:ea typeface="Aptos"/>
                <a:cs typeface="Aptos"/>
              </a:defRPr>
            </a:pPr>
            <a:r>
              <a:rPr sz="2325" b="0">
                <a:solidFill>
                  <a:srgbClr val="8CE5CB"/>
                </a:solidFill>
                <a:latin typeface="Aptos"/>
                <a:ea typeface="Aptos"/>
                <a:cs typeface="Aptos"/>
              </a:rPr>
              <a:t>The Semicolons · SRMIST, Chennai</a:t>
            </a:r>
          </a:p>
        </p:txBody>
      </p:sp>
      <p:sp>
        <p:nvSpPr>
          <p:cNvPr id="6" name="">
            <a:extLst xmlns:a="http://schemas.openxmlformats.org/drawingml/2006/main">
              <a:ext uri="{FF2B5EF4-FFF2-40B4-BE49-F238E27FC236}">
                <a16:creationId xmlns:a16="http://schemas.microsoft.com/office/drawing/2014/main" id="{D5A3EAC3-2B9B-46BE-AB3C-269898B21E60}"/>
              </a:ext>
            </a:extLst>
          </p:cNvPr>
          <p:cNvSpPr>
            <a:spLocks xmlns:a="http://schemas.openxmlformats.org/drawingml/2006/main" noGrp="1"/>
          </p:cNvSpPr>
          <p:nvPr/>
        </p:nvSpPr>
        <p:spPr>
          <a:xfrm xmlns:a="http://schemas.openxmlformats.org/drawingml/2006/main">
            <a:off x="647700" y="3952875"/>
            <a:ext cx="1085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C8D2E3"/>
                </a:solidFill>
                <a:latin typeface="Aptos"/>
                <a:ea typeface="Aptos"/>
                <a:cs typeface="Aptos"/>
              </a:defRPr>
            </a:pPr>
            <a:r>
              <a:rPr sz="1875" b="0">
                <a:solidFill>
                  <a:srgbClr val="C8D2E3"/>
                </a:solidFill>
                <a:latin typeface="Aptos"/>
                <a:ea typeface="Aptos"/>
                <a:cs typeface="Aptos"/>
              </a:rPr>
              <a:t>Vaibhavi Sharma · Kottadi Lakshmi · Vivek Vaddipalli</a:t>
            </a:r>
          </a:p>
        </p:txBody>
      </p:sp>
      <p:sp>
        <p:nvSpPr>
          <p:cNvPr id="7" name="">
            <a:extLst xmlns:a="http://schemas.openxmlformats.org/drawingml/2006/main">
              <a:ext uri="{FF2B5EF4-FFF2-40B4-BE49-F238E27FC236}">
                <a16:creationId xmlns:a16="http://schemas.microsoft.com/office/drawing/2014/main" id="{C60D1B84-80D2-41F1-930A-D6AD52AEF414}"/>
              </a:ext>
            </a:extLst>
          </p:cNvPr>
          <p:cNvSpPr>
            <a:spLocks xmlns:a="http://schemas.openxmlformats.org/drawingml/2006/main" noGrp="1"/>
          </p:cNvSpPr>
          <p:nvPr/>
        </p:nvSpPr>
        <p:spPr>
          <a:xfrm xmlns:a="http://schemas.openxmlformats.org/drawingml/2006/main">
            <a:off x="647700" y="4972050"/>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FFFFFF"/>
                </a:solidFill>
                <a:latin typeface="Aptos"/>
                <a:ea typeface="Aptos"/>
                <a:cs typeface="Aptos"/>
              </a:defRPr>
            </a:pPr>
            <a:r>
              <a:rPr sz="2325" b="0">
                <a:solidFill>
                  <a:srgbClr val="FFFFFF"/>
                </a:solidFill>
                <a:latin typeface="Aptos"/>
                <a:ea typeface="Aptos"/>
                <a:cs typeface="Aptos"/>
              </a:rPr>
              <a:t>github.com/Lakshmi98496/samsung-prism</a:t>
            </a:r>
          </a:p>
        </p:txBody>
      </p:sp>
      <p:sp>
        <p:nvSpPr>
          <p:cNvPr id="8" name="">
            <a:extLst xmlns:a="http://schemas.openxmlformats.org/drawingml/2006/main">
              <a:ext uri="{FF2B5EF4-FFF2-40B4-BE49-F238E27FC236}">
                <a16:creationId xmlns:a16="http://schemas.microsoft.com/office/drawing/2014/main" id="{D70ED0F4-780E-495D-90B0-E1863246BB4D}"/>
              </a:ext>
            </a:extLst>
          </p:cNvPr>
          <p:cNvSpPr>
            <a:spLocks xmlns:a="http://schemas.openxmlformats.org/drawingml/2006/main" noGrp="1"/>
          </p:cNvSpPr>
          <p:nvPr/>
        </p:nvSpPr>
        <p:spPr>
          <a:xfrm xmlns:a="http://schemas.openxmlformats.org/drawingml/2006/main">
            <a:off x="647700" y="565785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AAB7CC"/>
                </a:solidFill>
                <a:latin typeface="Aptos"/>
                <a:ea typeface="Aptos"/>
                <a:cs typeface="Aptos"/>
              </a:defRPr>
            </a:pPr>
            <a:r>
              <a:rPr sz="1650" b="0">
                <a:solidFill>
                  <a:srgbClr val="AAB7CC"/>
                </a:solidFill>
                <a:latin typeface="Aptos"/>
                <a:ea typeface="Aptos"/>
                <a:cs typeface="Aptos"/>
              </a:rPr>
              <a:t>Questions: source grounding, catalog matching and evaluation</a:t>
            </a:r>
          </a:p>
        </p:txBody>
      </p:sp>
    </p:spTree>
    <p:extLst>
      <p:ext uri="{BB962C8B-B14F-4D97-AF65-F5344CB8AC3E}">
        <p14:creationId xmlns:p14="http://schemas.microsoft.com/office/powerpoint/2010/main" val="10235659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2026-10-04T12:14:45.4570000Z</dcterms:created>
  <dcterms:modified xsi:type="dcterms:W3CDTF">2026-10-04T12:14:45.4570000Z</dcterms:modified>
</coreProperties>
</file>