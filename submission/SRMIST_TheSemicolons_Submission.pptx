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e63e6f6d7b42b4" /><Relationship Type="http://schemas.openxmlformats.org/officeDocument/2006/relationships/extended-properties" Target="/docProps/app.xml" Id="R82bd2f000c7e4656" /><Relationship Type="http://schemas.openxmlformats.org/officeDocument/2006/relationships/officeDocument" Target="/ppt/presentation.xml" Id="Rf0d12aa569e745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2d1ff4633f4fbd"/>
  </p:sldMasterIdLst>
  <p:notesMasterIdLst>
    <p:notesMasterId xmlns:r="http://schemas.openxmlformats.org/officeDocument/2006/relationships" r:id="R169d25a9a1944730"/>
  </p:notesMasterIdLst>
  <p:sldIdLst>
    <p:sldId xmlns:r="http://schemas.openxmlformats.org/officeDocument/2006/relationships" id="256" r:id="R1916175afba74937"/>
    <p:sldId xmlns:r="http://schemas.openxmlformats.org/officeDocument/2006/relationships" id="257" r:id="R7c7459957dc34b13"/>
    <p:sldId xmlns:r="http://schemas.openxmlformats.org/officeDocument/2006/relationships" id="258" r:id="R93a752f112aa4901"/>
    <p:sldId xmlns:r="http://schemas.openxmlformats.org/officeDocument/2006/relationships" id="259" r:id="Rd90326d413ac4a1a"/>
    <p:sldId xmlns:r="http://schemas.openxmlformats.org/officeDocument/2006/relationships" id="260" r:id="R20902241b3a149c4"/>
    <p:sldId xmlns:r="http://schemas.openxmlformats.org/officeDocument/2006/relationships" id="261" r:id="R127c3e162a634573"/>
    <p:sldId xmlns:r="http://schemas.openxmlformats.org/officeDocument/2006/relationships" id="262" r:id="R3fe5ecde3a08401f"/>
    <p:sldId xmlns:r="http://schemas.openxmlformats.org/officeDocument/2006/relationships" id="263" r:id="R204346285015477b"/>
    <p:sldId xmlns:r="http://schemas.openxmlformats.org/officeDocument/2006/relationships" id="264" r:id="R3a3e2d86b0c84fba"/>
    <p:sldId xmlns:r="http://schemas.openxmlformats.org/officeDocument/2006/relationships" id="265" r:id="Rf013e2bb289341e0"/>
    <p:sldId xmlns:r="http://schemas.openxmlformats.org/officeDocument/2006/relationships" id="266" r:id="R5de4c77770404d8c"/>
    <p:sldId xmlns:r="http://schemas.openxmlformats.org/officeDocument/2006/relationships" id="267" r:id="R89524f8e88dd45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4503d276774519" /><Relationship Type="http://schemas.openxmlformats.org/officeDocument/2006/relationships/slideMaster" Target="/ppt/slideMasters/slideMaster1.xml" Id="R7f2d1ff4633f4fbd" /><Relationship Type="http://schemas.openxmlformats.org/officeDocument/2006/relationships/notesMaster" Target="/ppt/notesMasters/notesMaster1.xml" Id="R169d25a9a1944730" /><Relationship Type="http://schemas.openxmlformats.org/officeDocument/2006/relationships/presProps" Target="/ppt/presProps.xml" Id="R889b0bcd18fc4d95" /><Relationship Type="http://schemas.openxmlformats.org/officeDocument/2006/relationships/tableStyles" Target="/ppt/tableStyles.xml" Id="R5b2881f2a6b74855" /><Relationship Type="http://schemas.openxmlformats.org/officeDocument/2006/relationships/slide" Target="/ppt/slides/slide1.xml" Id="R1916175afba74937" /><Relationship Type="http://schemas.openxmlformats.org/officeDocument/2006/relationships/slide" Target="/ppt/slides/slide2.xml" Id="R7c7459957dc34b13" /><Relationship Type="http://schemas.openxmlformats.org/officeDocument/2006/relationships/slide" Target="/ppt/slides/slide3.xml" Id="R93a752f112aa4901" /><Relationship Type="http://schemas.openxmlformats.org/officeDocument/2006/relationships/slide" Target="/ppt/slides/slide4.xml" Id="Rd90326d413ac4a1a" /><Relationship Type="http://schemas.openxmlformats.org/officeDocument/2006/relationships/slide" Target="/ppt/slides/slide5.xml" Id="R20902241b3a149c4" /><Relationship Type="http://schemas.openxmlformats.org/officeDocument/2006/relationships/slide" Target="/ppt/slides/slide6.xml" Id="R127c3e162a634573" /><Relationship Type="http://schemas.openxmlformats.org/officeDocument/2006/relationships/slide" Target="/ppt/slides/slide7.xml" Id="R3fe5ecde3a08401f" /><Relationship Type="http://schemas.openxmlformats.org/officeDocument/2006/relationships/slide" Target="/ppt/slides/slide8.xml" Id="R204346285015477b" /><Relationship Type="http://schemas.openxmlformats.org/officeDocument/2006/relationships/slide" Target="/ppt/slides/slide9.xml" Id="R3a3e2d86b0c84fba" /><Relationship Type="http://schemas.openxmlformats.org/officeDocument/2006/relationships/slide" Target="/ppt/slides/slide10.xml" Id="Rf013e2bb289341e0" /><Relationship Type="http://schemas.openxmlformats.org/officeDocument/2006/relationships/slide" Target="/ppt/slides/slide11.xml" Id="R5de4c77770404d8c" /><Relationship Type="http://schemas.openxmlformats.org/officeDocument/2006/relationships/slide" Target="/ppt/slides/slide12.xml" Id="R89524f8e88dd45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01108c8d0b44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0ae80cd9ff4275" /><Relationship Type="http://schemas.openxmlformats.org/officeDocument/2006/relationships/notesMaster" Target="/ppt/notesMasters/notesMaster1.xml" Id="R72b7534c6f7d47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1092006a964950" /><Relationship Type="http://schemas.openxmlformats.org/officeDocument/2006/relationships/notesMaster" Target="/ppt/notesMasters/notesMaster1.xml" Id="Reb1a24c436294d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a57a31ac204dd3" /><Relationship Type="http://schemas.openxmlformats.org/officeDocument/2006/relationships/notesMaster" Target="/ppt/notesMasters/notesMaster1.xml" Id="Rc6e563370b4d4a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5fc0c413274598" /><Relationship Type="http://schemas.openxmlformats.org/officeDocument/2006/relationships/notesMaster" Target="/ppt/notesMasters/notesMaster1.xml" Id="R953deade7a874f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4c48e9fd164b7a" /><Relationship Type="http://schemas.openxmlformats.org/officeDocument/2006/relationships/notesMaster" Target="/ppt/notesMasters/notesMaster1.xml" Id="Rb655eb95272b48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9f7f0a2e7e480f" /><Relationship Type="http://schemas.openxmlformats.org/officeDocument/2006/relationships/notesMaster" Target="/ppt/notesMasters/notesMaster1.xml" Id="Ra1bc1d37b5e343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7aa04e549147c0" /><Relationship Type="http://schemas.openxmlformats.org/officeDocument/2006/relationships/notesMaster" Target="/ppt/notesMasters/notesMaster1.xml" Id="R4d9e4b99514547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2f547c767645c9" /><Relationship Type="http://schemas.openxmlformats.org/officeDocument/2006/relationships/notesMaster" Target="/ppt/notesMasters/notesMaster1.xml" Id="R3319ccba887149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ad576efecf458e" /><Relationship Type="http://schemas.openxmlformats.org/officeDocument/2006/relationships/notesMaster" Target="/ppt/notesMasters/notesMaster1.xml" Id="R023a0cb481504b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a0982c5f554d37" /><Relationship Type="http://schemas.openxmlformats.org/officeDocument/2006/relationships/notesMaster" Target="/ppt/notesMasters/notesMaster1.xml" Id="R6247a0d8744943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a9e30cced6421d" /><Relationship Type="http://schemas.openxmlformats.org/officeDocument/2006/relationships/notesMaster" Target="/ppt/notesMasters/notesMaster1.xml" Id="R7cf41d584dcf4f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586cfe852046b0" /><Relationship Type="http://schemas.openxmlformats.org/officeDocument/2006/relationships/notesMaster" Target="/ppt/notesMasters/notesMaster1.xml" Id="R23729257b65541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 Cover background: AI-generated conceptual smartphone illustration, not a deployed product photograph.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 Support image: AI-generated illustrative scene; the person is not a team member or photographed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 Image: actual local dashboard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 Source/catalog illustration: AI-generated conceptual still life, not an actual system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Samsung PRISM Theme 2 guide and submission template; project source code. Results: docs/benchmark.json (offline engine timing excludes HTTP, startup and inference); docs/model_smoke.json (one synthetic source, Qwen2.5-0.5B Q4_K_M, llama.cpp CPU). Unseen and exact-screen accuracy unmeasured. Masked URIs are evaluation placeholders. Cover background: AI-generated conceptual smartphone illustration, not a deployed product photograph.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81d916c0a342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02d6b6d566418a" /><Relationship Type="http://schemas.openxmlformats.org/officeDocument/2006/relationships/slideLayout" Target="/ppt/slideLayouts/slideLayout1.xml" Id="R36b661d339aa49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b661d339aa49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d6a1557fe40ae" /><Relationship Type="http://schemas.openxmlformats.org/officeDocument/2006/relationships/image" Target="/ppt/media/image.png" Id="R7c9d5583cfac40a2" /><Relationship Type="http://schemas.openxmlformats.org/officeDocument/2006/relationships/notesSlide" Target="/ppt/notesSlides/notesSlide1.xml" Id="Rbabb9aac010046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87ca2be454530" /><Relationship Type="http://schemas.openxmlformats.org/officeDocument/2006/relationships/image" Target="/ppt/media/image2.png" Id="Rcd06752dbe6042cc" /><Relationship Type="http://schemas.openxmlformats.org/officeDocument/2006/relationships/notesSlide" Target="/ppt/notesSlides/notesSlide2.xml" Id="Ra74117a973d94b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0e31cbeb847f5" /><Relationship Type="http://schemas.openxmlformats.org/officeDocument/2006/relationships/notesSlide" Target="/ppt/notesSlides/notesSlide3.xml" Id="R1c13a1ef0f7e42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630dcf8ba4157" /><Relationship Type="http://schemas.openxmlformats.org/officeDocument/2006/relationships/notesSlide" Target="/ppt/notesSlides/notesSlide4.xml" Id="R0ad1856b42a546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a7dc7adfc4254" /><Relationship Type="http://schemas.openxmlformats.org/officeDocument/2006/relationships/image" Target="/ppt/media/image.jpeg" Id="R05939759900243b2" /><Relationship Type="http://schemas.openxmlformats.org/officeDocument/2006/relationships/notesSlide" Target="/ppt/notesSlides/notesSlide5.xml" Id="R645219d5188b40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fd5550dca42ea" /><Relationship Type="http://schemas.openxmlformats.org/officeDocument/2006/relationships/notesSlide" Target="/ppt/notesSlides/notesSlide6.xml" Id="Rc7d6092b13c945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6f15172f94f98" /><Relationship Type="http://schemas.openxmlformats.org/officeDocument/2006/relationships/notesSlide" Target="/ppt/notesSlides/notesSlide7.xml" Id="R083fdf9b47b74e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885f627b44a0c" /><Relationship Type="http://schemas.openxmlformats.org/officeDocument/2006/relationships/notesSlide" Target="/ppt/notesSlides/notesSlide8.xml" Id="R5f4282fb990f4f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8be3476084c01" /><Relationship Type="http://schemas.openxmlformats.org/officeDocument/2006/relationships/notesSlide" Target="/ppt/notesSlides/notesSlide9.xml" Id="R49d43d667c7649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1a86025f44e19" /><Relationship Type="http://schemas.openxmlformats.org/officeDocument/2006/relationships/image" Target="/ppt/media/image3.png" Id="R8fc0b99363f94c03" /><Relationship Type="http://schemas.openxmlformats.org/officeDocument/2006/relationships/notesSlide" Target="/ppt/notesSlides/notesSlide10.xml" Id="Rda2e15fc24d64d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a8609cbe741e0" /><Relationship Type="http://schemas.openxmlformats.org/officeDocument/2006/relationships/notesSlide" Target="/ppt/notesSlides/notesSlide11.xml" Id="Reae20bf182e849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be0390a0b49c0" /><Relationship Type="http://schemas.openxmlformats.org/officeDocument/2006/relationships/image" Target="/ppt/media/image4.png" Id="R975563ba8bb84651" /><Relationship Type="http://schemas.openxmlformats.org/officeDocument/2006/relationships/notesSlide" Target="/ppt/notesSlides/notesSlide12.xml" Id="R12f1d76ccee246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5583cfac40a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6B0C5-08C5-4883-AE92-B3AE36B6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BDEE10-49AC-4ED7-B1E1-8E23E261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35C65-4AEB-4558-BF2C-7244159C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7A792-A351-40F5-938E-A8F41C1D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63817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Smart Guided</a:t>
            </a:r>
          </a:p>
          <a:p xmlns:a="http://schemas.openxmlformats.org/drawingml/2006/main">
            <a:pPr>
              <a:defRPr sz="4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Troubleshooting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406A9-2F6C-468C-A944-60A80154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76625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82E3F2"/>
                </a:solidFill>
                <a:latin typeface="Aptos"/>
                <a:ea typeface="Aptos"/>
                <a:cs typeface="Aptos"/>
              </a:rPr>
              <a:t>Device support grounded</a:t>
            </a:r>
          </a:p>
          <a:p xmlns:a="http://schemas.openxmlformats.org/drawingml/2006/main">
            <a:pPr>
              <a:defRPr sz="2325" b="0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82E3F2"/>
                </a:solidFill>
                <a:latin typeface="Aptos"/>
                <a:ea typeface="Aptos"/>
                <a:cs typeface="Aptos"/>
              </a:rPr>
              <a:t>in source instructions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A4360-6844-48A6-84C2-97C08D8E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4375"/>
            <a:ext cx="6096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Theme 2 · Guided Troubleshooting</a:t>
            </a:r>
          </a:p>
          <a:p xmlns:a="http://schemas.openxmlformats.org/drawingml/2006/main">
            <a:pPr>
              <a:defRPr sz="17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 Institute of Science and Technology, Chennai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BCB01-B332-4436-8AFD-EA43223B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Vaibhavi Sharma · bv5156@srmist.edu.in</a:t>
            </a:r>
          </a:p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Kottadi Lakshmi · lk9601@srmist.edu.in</a:t>
            </a:r>
          </a:p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Vivek Vaddipalli · vv8326@srmist.edu.in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65F76-7459-4F1A-86DC-78D94477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53150"/>
            <a:ext cx="590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82E3F2"/>
                </a:solidFill>
                <a:latin typeface="Aptos"/>
                <a:ea typeface="Aptos"/>
                <a:cs typeface="Aptos"/>
              </a:rPr>
              <a:t>github.com/Lakshmi98496/samsung-prism</a:t>
            </a:r>
          </a:p>
        </p:txBody>
      </p:sp>
    </p:spTree>
    <p:extLst>
      <p:ext uri="{BB962C8B-B14F-4D97-AF65-F5344CB8AC3E}">
        <p14:creationId xmlns:p14="http://schemas.microsoft.com/office/powerpoint/2010/main" val="12322845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D0E55-70D9-41A1-9F50-B935D8B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AF412-40DD-447F-9D1A-96424C3A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The support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5105C-7D9F-450A-A9C1-0B6DAE87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81443-D362-4B46-AC78-4745F8CC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6752dbe6042cc"/>
          <a:srcRect xmlns:a="http://schemas.openxmlformats.org/drawingml/2006/main" l="4318" t="0" r="43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733550"/>
            <a:ext cx="5105400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6C56B-C0D6-4F8F-B25B-D068A18F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42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“My screen is lagging.”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591F4-D650-4D62-8902-E380B7B3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5429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A symptom is easy to describe.</a:t>
            </a:r>
          </a:p>
          <a:p xmlns:a="http://schemas.openxmlformats.org/drawingml/2006/main">
            <a:pPr>
              <a:defRPr sz="232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Preparing the right guidance</a:t>
            </a:r>
          </a:p>
          <a:p xmlns:a="http://schemas.openxmlformats.org/drawingml/2006/main">
            <a:pPr>
              <a:defRPr sz="232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takes more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E6AAA-5F02-48D3-91C6-25D1130D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Agents must find the reference,</a:t>
            </a:r>
          </a:p>
          <a:p xmlns:a="http://schemas.openxmlformats.org/drawingml/2006/main">
            <a:pPr>
              <a:defRPr sz="1950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organise its steps and identify</a:t>
            </a:r>
          </a:p>
          <a:p xmlns:a="http://schemas.openxmlformats.org/drawingml/2006/main">
            <a:pPr>
              <a:defRPr sz="1950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supported Settings destinations.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20B65-854E-4EAB-8709-0393DED8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60007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Illustrative support scene</a:t>
            </a:r>
          </a:p>
        </p:txBody>
      </p:sp>
    </p:spTree>
    <p:extLst>
      <p:ext uri="{BB962C8B-B14F-4D97-AF65-F5344CB8AC3E}">
        <p14:creationId xmlns:p14="http://schemas.microsoft.com/office/powerpoint/2010/main" val="16934247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676F3-E2F4-4BC3-A604-F78B737A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D00FA-7AB1-4898-B5FB-235D54CB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Existing solutions &amp; the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2C2C1-3ACE-4A37-A5C1-62780C9A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04A42-95B3-4C29-8A40-9EE15F8A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CDC45-0B3A-4E02-85A7-1A5D6187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Complaint → reference instructions → catalog destinations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5050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2686050"/>
                <a:gridCol w="2714625"/>
                <a:gridCol w="2857500"/>
              </a:tblGrid>
              <a:tr h="6191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Capability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Support article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General model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Our approach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Source fidelity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Agent review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Needs grounding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Source IDs + checks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Catalog mapping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Manual lookup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Needs integration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Validated catalog IDs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Structured 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Agent prepares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Needs 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Schema-checked JSON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Repeat complaint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Repeat lookup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Setup dependent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SQLite response cache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F7613C-1C3C-4332-B7EB-974B7D5F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Design comparison; no measured competitor benchmark</a:t>
            </a:r>
          </a:p>
        </p:txBody>
      </p:sp>
    </p:spTree>
    <p:extLst>
      <p:ext uri="{BB962C8B-B14F-4D97-AF65-F5344CB8AC3E}">
        <p14:creationId xmlns:p14="http://schemas.microsoft.com/office/powerpoint/2010/main" val="874567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760EC2-ABB1-4CF8-88D8-F44730F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D6F2F-0479-4C7C-BD11-1A5AA02E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Our solution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64C6D-F1D2-4C66-B9F8-CC1F3E64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CCA9C-805E-480C-8C1D-E9B83463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20E19-3E83-44B7-ACBA-93F841BA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82E3F2"/>
                </a:solidFill>
                <a:latin typeface="Aptos"/>
                <a:ea typeface="Aptos"/>
                <a:cs typeface="Aptos"/>
              </a:rPr>
              <a:t>Two model stages, followed by checks in 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62554B-6666-4163-8670-39D50B9D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Complaint +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SIIS reference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2B9ED-DEF6-4572-8D64-D9C53009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81250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Normalise +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AFA27-6E34-4733-9C42-64F3B947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SQLite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CC70B-B5DC-4EFB-A3BB-BF2F4AE0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Stage 1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line 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D5A3DC-C35E-4395-BD68-AA3EDDC8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81475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Stage 2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Catalog 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ACA24-D5BC-4840-969D-43A23E27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81475"/>
            <a:ext cx="24384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04F"/>
          </a:solidFill>
          <a:ln xmlns:a="http://schemas.openxmlformats.org/drawingml/2006/main" w="13335">
            <a:solidFill>
              <a:srgbClr val="5682B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Validate +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return JSON</a:t>
            </a:r>
          </a:p>
        </p:txBody>
      </p:sp>
      <p:cxnSp>
        <p:nvCxnSpPr>
          <p:cNvPr id="30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48000" y="2871788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82E3F2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086600" y="2871788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82E3F2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1828800" y="3362325"/>
            <a:ext cx="8077200" cy="8191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0955">
            <a:solidFill>
              <a:srgbClr val="82E3F2"/>
            </a:solidFill>
            <a:prstDash val="solid"/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48000" y="4672013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82E3F2"/>
            </a:solidFill>
            <a:prstDash val="solid"/>
            <a:tailEnd type="arrow" w="med" len="med"/>
          </a:ln>
        </p:spPr>
      </p:cxnSp>
      <p:cxnSp>
        <p:nvCxnSpPr>
          <p:cNvPr id="34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086600" y="4672013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82E3F2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CBA0B5-A727-4695-BB99-B4C5E8E0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Cache hit returns the validated plan without another inference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2B65E1-1964-4B9B-B3A4-289D6384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Offline extraction is the default; model mode uses a configured endpoint</a:t>
            </a:r>
          </a:p>
        </p:txBody>
      </p:sp>
    </p:spTree>
    <p:extLst>
      <p:ext uri="{BB962C8B-B14F-4D97-AF65-F5344CB8AC3E}">
        <p14:creationId xmlns:p14="http://schemas.microsoft.com/office/powerpoint/2010/main" val="10967910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274D3-5EA5-45C5-BAC9-B61A7269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5BB6F-D0A8-46A5-B887-B63FC73B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Product walkthrough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4FE92-BDCF-43BE-AF10-030E8758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E0DA0-1B6E-461E-8F53-175F0655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39759900243b2"/>
          <a:stretch xmlns:a="http://schemas.openxmlformats.org/drawingml/2006/main"/>
        </p:blipFill>
        <p:spPr>
          <a:xfrm xmlns:a="http://schemas.openxmlformats.org/drawingml/2006/main">
            <a:off x="1359694" y="1743075"/>
            <a:ext cx="6596063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D61E0-8634-4B70-9D9D-3D51C53B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76425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373FC-B9CE-481B-ACE0-E1C93CD8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438400"/>
            <a:ext cx="2428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Generate a plan</a:t>
            </a:r>
          </a:p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a supplied issue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373BB-38AE-4A30-A043-92E8697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76625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9B1F2-CAD6-440C-AF93-2548A6D3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048125"/>
            <a:ext cx="242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Repeat the complaint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 show the cache hit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F7D9D-D34B-4208-BF13-EDB33C2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5257800"/>
            <a:ext cx="245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  Unknown issue</a:t>
            </a:r>
          </a:p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returns no_match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A7C800-B990-4F3F-B6D6-D40BC594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10934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Masked catalog URIs; this demo displays guidance and does not execute phone actions</a:t>
            </a:r>
          </a:p>
        </p:txBody>
      </p:sp>
    </p:spTree>
    <p:extLst>
      <p:ext uri="{BB962C8B-B14F-4D97-AF65-F5344CB8AC3E}">
        <p14:creationId xmlns:p14="http://schemas.microsoft.com/office/powerpoint/2010/main" val="1997329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D2CE6-A1F3-4920-84B8-BB3CD95C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1E618-D1E7-4BAB-8F8B-EB9998BF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Technology behind the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5F90A5-C14D-408D-A48B-D3FBD6A7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2687C-277F-457B-90ED-8974541B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55138-2698-46AB-A9EE-37225C70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705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D94F-4F11-4BA9-A96A-1BEF6383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supplied reference queries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5650B-9071-480B-9A60-E1DD2C3F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504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705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578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6CF57-32F5-4597-A724-D7817CAC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051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catalog entries with masked URIs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38671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7115175"/>
              </a:tblGrid>
              <a:tr h="5429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Implementation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Application + 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Python · FastAPI · Pydantic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Retrieval + cache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TF-IDF with synonyms · SQLite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Model adapter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Qwen2.5-0.5B Q4_K_M · llama.cpp CPU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08193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595EB-0045-40E9-9252-B90356E8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195D0-A77A-4787-AAD1-455880A9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Impact &amp; use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33F4A-5504-4700-9F30-E5EAB754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B49E9-D120-4B31-932C-9CFB55BC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C3C50-D3CF-415B-AB4D-6917BC60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57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82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One workspace for</a:t>
            </a:r>
          </a:p>
          <a:p xmlns:a="http://schemas.openxmlformats.org/drawingml/2006/main">
            <a:pPr>
              <a:defRPr sz="382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82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a reviewable support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19F9C-65D3-431C-B6C0-0F6034BB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For the support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81EFE-3B9A-4692-B599-E77ABAC1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5143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Ordered source steps, action categories</a:t>
            </a:r>
          </a:p>
          <a:p xmlns:a="http://schemas.openxmlformats.org/drawingml/2006/main">
            <a:pPr>
              <a:defRPr sz="217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and catalog mappings in one 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8F0E1-49C1-4A68-8E7C-5EACD08B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48075"/>
            <a:ext cx="5000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For repeat 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42A44-2EB0-4335-9FD2-1C7AB1EA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57675"/>
            <a:ext cx="50958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A stored validated response</a:t>
            </a:r>
          </a:p>
          <a:p xmlns:a="http://schemas.openxmlformats.org/drawingml/2006/main">
            <a:pPr>
              <a:defRPr sz="2175" b="0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11E34"/>
                </a:solidFill>
                <a:latin typeface="Aptos"/>
                <a:ea typeface="Aptos"/>
                <a:cs typeface="Aptos"/>
              </a:rPr>
              <a:t>without another model call.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EA679-1EB9-4F29-93C4-A4B25007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53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Agent time savings and customer outcomes require a pilot; device integration is future work</a:t>
            </a:r>
          </a:p>
        </p:txBody>
      </p:sp>
    </p:spTree>
    <p:extLst>
      <p:ext uri="{BB962C8B-B14F-4D97-AF65-F5344CB8AC3E}">
        <p14:creationId xmlns:p14="http://schemas.microsoft.com/office/powerpoint/2010/main" val="13548575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591EE-E2DD-4CD7-AF78-8BB1ABDD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F1A82-68B1-4CD3-A1A4-0105B520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Innovation &amp; measured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CD3BE-2C5F-48D1-BCBB-B81A7737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7C7E0-5459-428F-A0C6-610440D2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7A523-4759-487F-8152-54EC91B3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62865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8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78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20 / 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8EA2A-F4D9-4D4B-81E1-7EB93A85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0382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Schema-valid, nonempty baseline responses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the supplied reference queries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4238625"/>
          <a:ext xmlns:a="http://schemas.openxmlformats.org/drawingml/2006/main" cx="1097280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238375"/>
                <a:gridCol w="4543425"/>
              </a:tblGrid>
              <a:tr h="4476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94C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Result</a:t>
                      </a:r>
                    </a:p>
                  </a:txBody>
                  <a:tcPr marL="91440" marR="91440" marT="45720" marB="45720">
                    <a:solidFill>
                      <a:srgbClr val="294C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</a:t>
                      </a:r>
                    </a:p>
                  </a:txBody>
                  <a:tcPr marL="91440" marR="91440" marT="45720" marB="45720">
                    <a:solidFill>
                      <a:srgbClr val="294C8B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Cached engine P95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0.833 ms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Offline; no HTTP / inference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Web URL leaks in steps</a:t>
                      </a:r>
                    </a:p>
                  </a:txBody>
                  <a:tcPr marL="91440" marR="91440" marT="45720" marB="45720">
                    <a:solidFill>
                      <a:srgbClr val="1423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1423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20 supplied baseline queries</a:t>
                      </a:r>
                    </a:p>
                  </a:txBody>
                  <a:tcPr marL="91440" marR="91440" marT="45720" marB="45720">
                    <a:solidFill>
                      <a:srgbClr val="14233B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Cold local model request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9.43 s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One synthetic smoke case</a:t>
                      </a:r>
                    </a:p>
                  </a:txBody>
                  <a:tcPr marL="91440" marR="91440" marT="45720" marB="45720">
                    <a:solidFill>
                      <a:srgbClr val="192A4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58C1B-B3EE-4860-A9D4-24407518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1095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Cold smoke exceeds the 8 s target. Cold P95, unseen and screen accuracy remain unmeasured.</a:t>
            </a:r>
          </a:p>
        </p:txBody>
      </p:sp>
    </p:spTree>
    <p:extLst>
      <p:ext uri="{BB962C8B-B14F-4D97-AF65-F5344CB8AC3E}">
        <p14:creationId xmlns:p14="http://schemas.microsoft.com/office/powerpoint/2010/main" val="6769611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C53425-2123-44B0-AFAD-E1EEE098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C7538-202F-4660-8CB7-FF9D6F59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Future development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5D507-1489-4049-AB0B-81189AB3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3E794-28FE-49D4-A893-76D7780E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F6453-C3D1-4A04-AF2A-3EEFD343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F3F71-2F1D-42E6-94C6-B789B92E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8192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Reference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AA20F-48D8-441A-B598-5BEFA20D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0505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Retain conditional context and review one-screen grouping.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827DE-D98E-4DE7-BF77-1C0FFA25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29F39-0840-4C99-AB33-CFB79450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9432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Model 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51F24-6EED-4D89-9946-5FA4DBCD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42900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Evaluate every supplied scenario and add unseen paraphrase tests.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D8F09-35AE-4855-A5E6-62ACEC1A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377F5-672D-4970-A280-0C36BFDC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671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Device integration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24CB9-3B59-47A1-81C6-6A9FD56A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55295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Measure cold P95 and pilot actual Settings destinations.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5C098-B93D-403B-B870-B04630A8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00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525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59A2BF-EDA6-4C93-83C8-91474448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1911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Domain &amp; scale coverage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551A2-29F9-445A-B211-1371568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Expand domain testing; 10k+ scenarios is a future benchmark target.</a:t>
            </a:r>
          </a:p>
        </p:txBody>
      </p:sp>
    </p:spTree>
    <p:extLst>
      <p:ext uri="{BB962C8B-B14F-4D97-AF65-F5344CB8AC3E}">
        <p14:creationId xmlns:p14="http://schemas.microsoft.com/office/powerpoint/2010/main" val="17769554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F9CBA-CB5C-48F2-B917-F189AC67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F50F2-429D-4BDE-A7EA-148B8631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 by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F36DB-3019-40FA-A87F-EF63CFA3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6FB55-5538-4823-9138-7DBE8AA9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0b99363f94c03"/>
          <a:srcRect xmlns:a="http://schemas.openxmlformats.org/drawingml/2006/main" l="1214" t="0" r="12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885950"/>
            <a:ext cx="5105400" cy="3924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DCBC99-3056-4F74-AE78-30D7F4CA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572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instructions.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Catalog destinations.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55163-89B4-4EE5-B17B-903F1C60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5143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Grounding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81581-80EE-4569-BAC7-838A7018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model selects IDs; code copies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source text and literal URIs.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49A85-F4D1-4869-870A-BA13803D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Failure handling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3B235-E994-444B-98B7-AE3197EA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524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Invalid selections fail closed.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Unknown issues return no_match.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861E1-A00E-41C4-BD03-F084CB33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905500"/>
            <a:ext cx="5019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Concept: source instructions linked to a catalog</a:t>
            </a:r>
          </a:p>
        </p:txBody>
      </p:sp>
    </p:spTree>
    <p:extLst>
      <p:ext uri="{BB962C8B-B14F-4D97-AF65-F5344CB8AC3E}">
        <p14:creationId xmlns:p14="http://schemas.microsoft.com/office/powerpoint/2010/main" val="746146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B7BD51-BE8A-41AB-BC30-87C387DC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9ACE0-5ED3-45D7-8FF5-722FB2EA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E34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11E34"/>
                </a:solidFill>
                <a:latin typeface="Aptos"/>
                <a:ea typeface="Aptos"/>
                <a:cs typeface="Aptos"/>
              </a:rPr>
              <a:t>Public project &amp; reproducibility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DD5CC-104D-48F2-8683-667BC1E7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C6A59-3A46-4E47-AEAA-A0390FAC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223FF-5E1E-47BC-B2B1-0CE5CB16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85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github.com/Lakshmi98496/</a:t>
            </a:r>
          </a:p>
          <a:p xmlns:a="http://schemas.openxmlformats.org/drawingml/2006/main">
            <a:pPr>
              <a:defRPr sz="3600" b="1">
                <a:solidFill>
                  <a:srgbClr val="345A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345AFF"/>
                </a:solidFill>
                <a:latin typeface="Aptos"/>
                <a:ea typeface="Aptos"/>
                <a:cs typeface="Aptos"/>
              </a:rPr>
              <a:t>samsung-prism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2D6AE-9118-45AF-9EC8-99C02361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85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088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617088"/>
                </a:solidFill>
                <a:latin typeface="Aptos"/>
                <a:ea typeface="Aptos"/>
                <a:cs typeface="Aptos"/>
              </a:rPr>
              <a:t>The README provides setup, test and benchmark commands.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4086225"/>
          <a:ext xmlns:a="http://schemas.openxmlformats.org/drawingml/2006/main" cx="10972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810250"/>
                <a:gridCol w="5162550"/>
              </a:tblGrid>
              <a:tr h="523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Interface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Purpose</a:t>
                      </a:r>
                    </a:p>
                  </a:txBody>
                  <a:tcPr marL="91440" marR="91440" marT="45720" marB="45720">
                    <a:solidFill>
                      <a:srgbClr val="111E34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Dashboard · http://127.0.0.1:8000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Describe a complaint and inspect the 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API explorer · /docs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Inspect the request and response contract</a:t>
                      </a:r>
                    </a:p>
                  </a:txBody>
                  <a:tcPr marL="91440" marR="91440" marT="45720" marB="45720">
                    <a:solidFill>
                      <a:srgbClr val="EAF0F9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POST /v1/troubleshoot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11E34"/>
                          </a:solidFill>
                          <a:latin typeface="Aptos"/>
                          <a:ea typeface="Aptos"/>
                          <a:cs typeface="Aptos"/>
                        </a:rPr>
                        <a:t>Return structured guidance and runtime metadata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2905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E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563ba8bb8465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62A3D-C17E-4E91-A8AB-C65472B6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SAMSUNG PRISM  /  THE SEMICOLONS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7A73A-465D-4062-B2C0-700424FA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04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 · Theme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77A2C-8D22-426C-A9B9-53E7EDAA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619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434C6-516B-4B54-9B17-FA251DF9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647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9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9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Thank you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9C97D-8A38-4696-94F4-E155585E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5524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82E3F2"/>
                </a:solidFill>
                <a:latin typeface="Aptos"/>
                <a:ea typeface="Aptos"/>
                <a:cs typeface="Aptos"/>
              </a:rPr>
              <a:t>The Semicolons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D65AC-E891-443A-AF8A-F37692E4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C5D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B7C5DC"/>
                </a:solidFill>
                <a:latin typeface="Aptos"/>
                <a:ea typeface="Aptos"/>
                <a:cs typeface="Aptos"/>
              </a:rPr>
              <a:t>SRMIST, Chennai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1BCB7-60DA-4627-B544-5B89F407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72025"/>
            <a:ext cx="5572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Vaibhavi Sharma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Kottadi Lakshmi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Vivek Vaddipalli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74C9E-5E03-4B8B-BB8C-14EEEF2B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82E3F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82E3F2"/>
                </a:solidFill>
                <a:latin typeface="Aptos"/>
                <a:ea typeface="Aptos"/>
                <a:cs typeface="Aptos"/>
              </a:rPr>
              <a:t>github.com/Lakshmi98496/samsung-prism</a:t>
            </a:r>
          </a:p>
        </p:txBody>
      </p:sp>
    </p:spTree>
    <p:extLst>
      <p:ext uri="{BB962C8B-B14F-4D97-AF65-F5344CB8AC3E}">
        <p14:creationId xmlns:p14="http://schemas.microsoft.com/office/powerpoint/2010/main" val="17040925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2026-10-04T12:30:14.4810000Z</dcterms:created>
  <dcterms:modified xsi:type="dcterms:W3CDTF">2026-10-04T12:30:14.4810000Z</dcterms:modified>
</coreProperties>
</file>