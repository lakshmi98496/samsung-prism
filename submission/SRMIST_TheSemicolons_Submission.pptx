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d4bca74bfd4b2f" /><Relationship Type="http://schemas.openxmlformats.org/officeDocument/2006/relationships/extended-properties" Target="/docProps/app.xml" Id="R67a7ed669b3d4682" /><Relationship Type="http://schemas.openxmlformats.org/officeDocument/2006/relationships/officeDocument" Target="/ppt/presentation.xml" Id="Rc04284fe952840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09fe95fd7d4f55"/>
  </p:sldMasterIdLst>
  <p:notesMasterIdLst>
    <p:notesMasterId xmlns:r="http://schemas.openxmlformats.org/officeDocument/2006/relationships" r:id="R9bcb82bf1cbd4fa3"/>
  </p:notesMasterIdLst>
  <p:sldIdLst>
    <p:sldId xmlns:r="http://schemas.openxmlformats.org/officeDocument/2006/relationships" id="256" r:id="R0479fcc8c6af4aa5"/>
    <p:sldId xmlns:r="http://schemas.openxmlformats.org/officeDocument/2006/relationships" id="257" r:id="R08984eeeda44453e"/>
    <p:sldId xmlns:r="http://schemas.openxmlformats.org/officeDocument/2006/relationships" id="258" r:id="R4eee9eaee2f849a3"/>
    <p:sldId xmlns:r="http://schemas.openxmlformats.org/officeDocument/2006/relationships" id="259" r:id="R8e6e6b856c41474a"/>
    <p:sldId xmlns:r="http://schemas.openxmlformats.org/officeDocument/2006/relationships" id="260" r:id="R692a69f193f84d03"/>
    <p:sldId xmlns:r="http://schemas.openxmlformats.org/officeDocument/2006/relationships" id="261" r:id="Rbf9a7cd2f1884ead"/>
    <p:sldId xmlns:r="http://schemas.openxmlformats.org/officeDocument/2006/relationships" id="262" r:id="R9c60976608274670"/>
    <p:sldId xmlns:r="http://schemas.openxmlformats.org/officeDocument/2006/relationships" id="263" r:id="R5329c11843324995"/>
    <p:sldId xmlns:r="http://schemas.openxmlformats.org/officeDocument/2006/relationships" id="264" r:id="Rd65035abfd164c93"/>
    <p:sldId xmlns:r="http://schemas.openxmlformats.org/officeDocument/2006/relationships" id="265" r:id="Re712ef208e4b436c"/>
    <p:sldId xmlns:r="http://schemas.openxmlformats.org/officeDocument/2006/relationships" id="266" r:id="R7f938f77f9a54435"/>
    <p:sldId xmlns:r="http://schemas.openxmlformats.org/officeDocument/2006/relationships" id="267" r:id="Rbd76c9462cf44f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8ebf65926e4311" /><Relationship Type="http://schemas.openxmlformats.org/officeDocument/2006/relationships/slideMaster" Target="/ppt/slideMasters/slideMaster1.xml" Id="R2109fe95fd7d4f55" /><Relationship Type="http://schemas.openxmlformats.org/officeDocument/2006/relationships/notesMaster" Target="/ppt/notesMasters/notesMaster1.xml" Id="R9bcb82bf1cbd4fa3" /><Relationship Type="http://schemas.openxmlformats.org/officeDocument/2006/relationships/presProps" Target="/ppt/presProps.xml" Id="Ra9f51d5df7924698" /><Relationship Type="http://schemas.openxmlformats.org/officeDocument/2006/relationships/viewProps" Target="/ppt/viewProps.xml" Id="Rc203f51686f941a3" /><Relationship Type="http://schemas.openxmlformats.org/officeDocument/2006/relationships/tableStyles" Target="/ppt/tableStyles.xml" Id="R2d6a6777666b4a39" /><Relationship Type="http://schemas.openxmlformats.org/officeDocument/2006/relationships/slide" Target="/ppt/slides/slide1.xml" Id="R0479fcc8c6af4aa5" /><Relationship Type="http://schemas.openxmlformats.org/officeDocument/2006/relationships/slide" Target="/ppt/slides/slide2.xml" Id="R08984eeeda44453e" /><Relationship Type="http://schemas.openxmlformats.org/officeDocument/2006/relationships/slide" Target="/ppt/slides/slide3.xml" Id="R4eee9eaee2f849a3" /><Relationship Type="http://schemas.openxmlformats.org/officeDocument/2006/relationships/slide" Target="/ppt/slides/slide4.xml" Id="R8e6e6b856c41474a" /><Relationship Type="http://schemas.openxmlformats.org/officeDocument/2006/relationships/slide" Target="/ppt/slides/slide5.xml" Id="R692a69f193f84d03" /><Relationship Type="http://schemas.openxmlformats.org/officeDocument/2006/relationships/slide" Target="/ppt/slides/slide6.xml" Id="Rbf9a7cd2f1884ead" /><Relationship Type="http://schemas.openxmlformats.org/officeDocument/2006/relationships/slide" Target="/ppt/slides/slide7.xml" Id="R9c60976608274670" /><Relationship Type="http://schemas.openxmlformats.org/officeDocument/2006/relationships/slide" Target="/ppt/slides/slide8.xml" Id="R5329c11843324995" /><Relationship Type="http://schemas.openxmlformats.org/officeDocument/2006/relationships/slide" Target="/ppt/slides/slide9.xml" Id="Rd65035abfd164c93" /><Relationship Type="http://schemas.openxmlformats.org/officeDocument/2006/relationships/slide" Target="/ppt/slides/slide10.xml" Id="Re712ef208e4b436c" /><Relationship Type="http://schemas.openxmlformats.org/officeDocument/2006/relationships/slide" Target="/ppt/slides/slide11.xml" Id="R7f938f77f9a54435" /><Relationship Type="http://schemas.openxmlformats.org/officeDocument/2006/relationships/slide" Target="/ppt/slides/slide12.xml" Id="Rbd76c9462cf44f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5c8745a6e84b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be91a11fc14b6c" /><Relationship Type="http://schemas.openxmlformats.org/officeDocument/2006/relationships/notesMaster" Target="/ppt/notesMasters/notesMaster1.xml" Id="Rfc15aaf18cb04f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151d78e7d84e53" /><Relationship Type="http://schemas.openxmlformats.org/officeDocument/2006/relationships/notesMaster" Target="/ppt/notesMasters/notesMaster1.xml" Id="Raa0ff78038f147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e8917b20ed4736" /><Relationship Type="http://schemas.openxmlformats.org/officeDocument/2006/relationships/notesMaster" Target="/ppt/notesMasters/notesMaster1.xml" Id="R7c1e72586eb442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56535c34fc4b50" /><Relationship Type="http://schemas.openxmlformats.org/officeDocument/2006/relationships/notesMaster" Target="/ppt/notesMasters/notesMaster1.xml" Id="Rb8f1f39af54c49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f10b0698e64a95" /><Relationship Type="http://schemas.openxmlformats.org/officeDocument/2006/relationships/notesMaster" Target="/ppt/notesMasters/notesMaster1.xml" Id="R4ca66d4c099549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cc4da2cf9c4ffe" /><Relationship Type="http://schemas.openxmlformats.org/officeDocument/2006/relationships/notesMaster" Target="/ppt/notesMasters/notesMaster1.xml" Id="R96e270464be94a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67d56a59934a57" /><Relationship Type="http://schemas.openxmlformats.org/officeDocument/2006/relationships/notesMaster" Target="/ppt/notesMasters/notesMaster1.xml" Id="R6fd59114e6ce40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f448775b41498f" /><Relationship Type="http://schemas.openxmlformats.org/officeDocument/2006/relationships/notesMaster" Target="/ppt/notesMasters/notesMaster1.xml" Id="Rf14e6761239c44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bc0ee19e714d04" /><Relationship Type="http://schemas.openxmlformats.org/officeDocument/2006/relationships/notesMaster" Target="/ppt/notesMasters/notesMaster1.xml" Id="Reaefaf0873dd4a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ef95af8c8549eb" /><Relationship Type="http://schemas.openxmlformats.org/officeDocument/2006/relationships/notesMaster" Target="/ppt/notesMasters/notesMaster1.xml" Id="Rd7373b2e1a6641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4d822a87e4496b" /><Relationship Type="http://schemas.openxmlformats.org/officeDocument/2006/relationships/notesMaster" Target="/ppt/notesMasters/notesMaster1.xml" Id="R38b368a0451d46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9212db55b747e5" /><Relationship Type="http://schemas.openxmlformats.org/officeDocument/2006/relationships/notesMaster" Target="/ppt/notesMasters/notesMaster1.xml" Id="R90ba1a74869049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source: docs/benchmark.json (20 supplied queries, engine-only offline latency) and docs/model_smoke.json (one short synthetic SIIS source, local Qwen2.5-0.5B Q4_K_M via llama.cpp b11388, not an accuracy benchmark). Cold LLM exceeds the eight-second target. Docker is unverified. Masked organiser catalog URIs are evaluation placeholders. Source: supplied Samsung PRISM Theme 2 guide and general submission brochure. Team reports an extended deadline of October 4, 2026. Official model source: https://huggingface.co/Qwen/Qwen2.5-0.5B-Instruct-GGUF.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source: docs/benchmark.json (20 supplied queries, engine-only offline latency) and docs/model_smoke.json (one short synthetic SIIS source, local Qwen2.5-0.5B Q4_K_M via llama.cpp b11388, not an accuracy benchmark). Cold LLM exceeds the eight-second target. Docker is unverified. Masked organiser catalog URIs are evaluation placeholders. Source: supplied Samsung PRISM Theme 2 guide and general submission brochure. Team reports an extended deadline of October 4, 2026. Official model source: https://huggingface.co/Qwen/Qwen2.5-0.5B-Instruct-GGUF.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source: docs/benchmark.json (20 supplied queries, engine-only offline latency) and docs/model_smoke.json (one short synthetic SIIS source, local Qwen2.5-0.5B Q4_K_M via llama.cpp b11388, not an accuracy benchmark). Cold LLM exceeds the eight-second target. Docker is unverified. Masked organiser catalog URIs are evaluation placeholders. Source: supplied Samsung PRISM Theme 2 guide and general submission brochure. Team reports an extended deadline of October 4, 2026. Official model source: https://huggingface.co/Qwen/Qwen2.5-0.5B-Instruct-GGUF.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source: docs/benchmark.json (20 supplied queries, engine-only offline latency) and docs/model_smoke.json (one short synthetic SIIS source, local Qwen2.5-0.5B Q4_K_M via llama.cpp b11388, not an accuracy benchmark). Cold LLM exceeds the eight-second target. Docker is unverified. Masked organiser catalog URIs are evaluation placeholders. Source: supplied Samsung PRISM Theme 2 guide and general submission brochure. Team reports an extended deadline of October 4, 2026. Official model source: https://huggingface.co/Qwen/Qwen2.5-0.5B-Instruct-GGUF.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source: docs/benchmark.json (20 supplied queries, engine-only offline latency) and docs/model_smoke.json (one short synthetic SIIS source, local Qwen2.5-0.5B Q4_K_M via llama.cpp b11388, not an accuracy benchmark). Cold LLM exceeds the eight-second target. Docker is unverified. Masked organiser catalog URIs are evaluation placeholders. Source: supplied Samsung PRISM Theme 2 guide and general submission brochure. Team reports an extended deadline of October 4, 2026. Official model source: https://huggingface.co/Qwen/Qwen2.5-0.5B-Instruct-GGUF.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source: docs/benchmark.json (20 supplied queries, engine-only offline latency) and docs/model_smoke.json (one short synthetic SIIS source, local Qwen2.5-0.5B Q4_K_M via llama.cpp b11388, not an accuracy benchmark). Cold LLM exceeds the eight-second target. Docker is unverified. Masked organiser catalog URIs are evaluation placeholders. Source: supplied Samsung PRISM Theme 2 guide and general submission brochure. Team reports an extended deadline of October 4, 2026. Official model source: https://huggingface.co/Qwen/Qwen2.5-0.5B-Instruct-GGUF.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source: docs/benchmark.json (20 supplied queries, engine-only offline latency) and docs/model_smoke.json (one short synthetic SIIS source, local Qwen2.5-0.5B Q4_K_M via llama.cpp b11388, not an accuracy benchmark). Cold LLM exceeds the eight-second target. Docker is unverified. Masked organiser catalog URIs are evaluation placeholders. Source: supplied Samsung PRISM Theme 2 guide and general submission brochure. Team reports an extended deadline of October 4, 2026. Official model source: https://huggingface.co/Qwen/Qwen2.5-0.5B-Instruct-GGUF.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source: docs/benchmark.json (20 supplied queries, engine-only offline latency) and docs/model_smoke.json (one short synthetic SIIS source, local Qwen2.5-0.5B Q4_K_M via llama.cpp b11388, not an accuracy benchmark). Cold LLM exceeds the eight-second target. Docker is unverified. Masked organiser catalog URIs are evaluation placeholders. Source: supplied Samsung PRISM Theme 2 guide and general submission brochure. Team reports an extended deadline of October 4, 2026. Official model source: https://huggingface.co/Qwen/Qwen2.5-0.5B-Instruct-GGUF.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source: docs/benchmark.json (20 supplied queries, engine-only offline latency) and docs/model_smoke.json (one short synthetic SIIS source, local Qwen2.5-0.5B Q4_K_M via llama.cpp b11388, not an accuracy benchmark). Cold LLM exceeds the eight-second target. Docker is unverified. Masked organiser catalog URIs are evaluation placeholders. Source: supplied Samsung PRISM Theme 2 guide and general submission brochure. Team reports an extended deadline of October 4, 2026. Official model source: https://huggingface.co/Qwen/Qwen2.5-0.5B-Instruct-GGUF.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source: docs/benchmark.json (20 supplied queries, engine-only offline latency) and docs/model_smoke.json (one short synthetic SIIS source, local Qwen2.5-0.5B Q4_K_M via llama.cpp b11388, not an accuracy benchmark). Cold LLM exceeds the eight-second target. Docker is unverified. Masked organiser catalog URIs are evaluation placeholders. Source: supplied Samsung PRISM Theme 2 guide and general submission brochure. Team reports an extended deadline of October 4, 2026. Official model source: https://huggingface.co/Qwen/Qwen2.5-0.5B-Instruct-GGUF.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source: docs/benchmark.json (20 supplied queries, engine-only offline latency) and docs/model_smoke.json (one short synthetic SIIS source, local Qwen2.5-0.5B Q4_K_M via llama.cpp b11388, not an accuracy benchmark). Cold LLM exceeds the eight-second target. Docker is unverified. Masked organiser catalog URIs are evaluation placeholders. Source: supplied Samsung PRISM Theme 2 guide and general submission brochure. Team reports an extended deadline of October 4, 2026. Official model source: https://huggingface.co/Qwen/Qwen2.5-0.5B-Instruct-GGUF.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source: docs/benchmark.json (20 supplied queries, engine-only offline latency) and docs/model_smoke.json (one short synthetic SIIS source, local Qwen2.5-0.5B Q4_K_M via llama.cpp b11388, not an accuracy benchmark). Cold LLM exceeds the eight-second target. Docker is unverified. Masked organiser catalog URIs are evaluation placeholders. Source: supplied Samsung PRISM Theme 2 guide and general submission brochure. Team reports an extended deadline of October 4, 2026. Official model source: https://huggingface.co/Qwen/Qwen2.5-0.5B-Instruct-GGUF.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4d1b03b46442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1cd31c68364658" /><Relationship Type="http://schemas.openxmlformats.org/officeDocument/2006/relationships/slideLayout" Target="/ppt/slideLayouts/slideLayout1.xml" Id="R5901666f0c15455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1666f0c15455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78753d96548eb" /><Relationship Type="http://schemas.openxmlformats.org/officeDocument/2006/relationships/image" Target="/ppt/media/image.png" Id="Rfd905f9836e545ff" /><Relationship Type="http://schemas.openxmlformats.org/officeDocument/2006/relationships/notesSlide" Target="/ppt/notesSlides/notesSlide1.xml" Id="R06b4351e5b3848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1bcd4e7ab4505" /><Relationship Type="http://schemas.openxmlformats.org/officeDocument/2006/relationships/image" Target="/ppt/media/image2.png" Id="Rbc5f40c18c4a4647" /><Relationship Type="http://schemas.openxmlformats.org/officeDocument/2006/relationships/image" Target="/ppt/media/image3.png" Id="Rcf8137ff8d0a4816" /><Relationship Type="http://schemas.openxmlformats.org/officeDocument/2006/relationships/image" Target="/ppt/media/image4.png" Id="Rd6646a709659467b" /><Relationship Type="http://schemas.openxmlformats.org/officeDocument/2006/relationships/image" Target="/ppt/media/image5.png" Id="R719d1843ab6e4107" /><Relationship Type="http://schemas.openxmlformats.org/officeDocument/2006/relationships/image" Target="/ppt/media/image6.png" Id="R00624e9fbcf74149" /><Relationship Type="http://schemas.openxmlformats.org/officeDocument/2006/relationships/notesSlide" Target="/ppt/notesSlides/notesSlide2.xml" Id="R38d0504c6286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fb0239f2d4d44" /><Relationship Type="http://schemas.openxmlformats.org/officeDocument/2006/relationships/image" Target="/ppt/media/image7.png" Id="Rfc7238ccf71842f1" /><Relationship Type="http://schemas.openxmlformats.org/officeDocument/2006/relationships/image" Target="/ppt/media/image8.png" Id="R7d668b9764614c74" /><Relationship Type="http://schemas.openxmlformats.org/officeDocument/2006/relationships/notesSlide" Target="/ppt/notesSlides/notesSlide3.xml" Id="Re18333ff16a448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649961bc84105" /><Relationship Type="http://schemas.openxmlformats.org/officeDocument/2006/relationships/image" Target="/ppt/media/image9.png" Id="Reabddb89cd8043d0" /><Relationship Type="http://schemas.openxmlformats.org/officeDocument/2006/relationships/image" Target="/ppt/media/image10.png" Id="R48fbee63f51c4f8a" /><Relationship Type="http://schemas.openxmlformats.org/officeDocument/2006/relationships/image" Target="/ppt/media/image11.png" Id="R75d6b7a5c9c3470b" /><Relationship Type="http://schemas.openxmlformats.org/officeDocument/2006/relationships/image" Target="/ppt/media/image12.png" Id="R517b629f2bb54b58" /><Relationship Type="http://schemas.openxmlformats.org/officeDocument/2006/relationships/image" Target="/ppt/media/image13.png" Id="R7ba71b3d92e24996" /><Relationship Type="http://schemas.openxmlformats.org/officeDocument/2006/relationships/image" Target="/ppt/media/image14.png" Id="Rcffab05206d24ea8" /><Relationship Type="http://schemas.openxmlformats.org/officeDocument/2006/relationships/image" Target="/ppt/media/image15.png" Id="Ra1e788afd75342e2" /><Relationship Type="http://schemas.openxmlformats.org/officeDocument/2006/relationships/image" Target="/ppt/media/image16.png" Id="Rc39111a2ad6640b8" /><Relationship Type="http://schemas.openxmlformats.org/officeDocument/2006/relationships/notesSlide" Target="/ppt/notesSlides/notesSlide4.xml" Id="R340791dd5d9149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e1b289f664442" /><Relationship Type="http://schemas.openxmlformats.org/officeDocument/2006/relationships/image" Target="/ppt/media/image17.png" Id="Re47a1a0290794ee1" /><Relationship Type="http://schemas.openxmlformats.org/officeDocument/2006/relationships/image" Target="/ppt/media/image18.png" Id="R4e757ebfbd8c4ea5" /><Relationship Type="http://schemas.openxmlformats.org/officeDocument/2006/relationships/notesSlide" Target="/ppt/notesSlides/notesSlide5.xml" Id="Rb79ebe05dd1449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2dc53110247b4" /><Relationship Type="http://schemas.openxmlformats.org/officeDocument/2006/relationships/image" Target="/ppt/media/image19.png" Id="R85975198f38a4568" /><Relationship Type="http://schemas.openxmlformats.org/officeDocument/2006/relationships/image" Target="/ppt/media/image20.png" Id="Rd1f9d59dbd324fbe" /><Relationship Type="http://schemas.openxmlformats.org/officeDocument/2006/relationships/image" Target="/ppt/media/image21.png" Id="R7e34cb29c684448f" /><Relationship Type="http://schemas.openxmlformats.org/officeDocument/2006/relationships/image" Target="/ppt/media/image22.png" Id="R065c3408d48b4922" /><Relationship Type="http://schemas.openxmlformats.org/officeDocument/2006/relationships/image" Target="/ppt/media/image23.png" Id="Rf484daaf81b144b8" /><Relationship Type="http://schemas.openxmlformats.org/officeDocument/2006/relationships/image" Target="/ppt/media/image24.png" Id="Red20866100ac47cf" /><Relationship Type="http://schemas.openxmlformats.org/officeDocument/2006/relationships/image" Target="/ppt/media/image25.png" Id="R8b5577cae8cc4cc6" /><Relationship Type="http://schemas.openxmlformats.org/officeDocument/2006/relationships/image" Target="/ppt/media/image26.png" Id="R68c712c434954e9a" /><Relationship Type="http://schemas.openxmlformats.org/officeDocument/2006/relationships/notesSlide" Target="/ppt/notesSlides/notesSlide6.xml" Id="Re1ec72bb49244a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9f3f962d34c29" /><Relationship Type="http://schemas.openxmlformats.org/officeDocument/2006/relationships/image" Target="/ppt/media/image27.png" Id="R20a87dcc037048c4" /><Relationship Type="http://schemas.openxmlformats.org/officeDocument/2006/relationships/image" Target="/ppt/media/image28.png" Id="R953eb670d5ee4163" /><Relationship Type="http://schemas.openxmlformats.org/officeDocument/2006/relationships/image" Target="/ppt/media/image29.png" Id="Rbc9df5f1be584af9" /><Relationship Type="http://schemas.openxmlformats.org/officeDocument/2006/relationships/image" Target="/ppt/media/image30.png" Id="Ra04a657a65c44dcc" /><Relationship Type="http://schemas.openxmlformats.org/officeDocument/2006/relationships/image" Target="/ppt/media/image31.png" Id="R528ca865b95d4496" /><Relationship Type="http://schemas.openxmlformats.org/officeDocument/2006/relationships/notesSlide" Target="/ppt/notesSlides/notesSlide7.xml" Id="R30d7e551657949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ff8f4953241bf" /><Relationship Type="http://schemas.openxmlformats.org/officeDocument/2006/relationships/image" Target="/ppt/media/image32.png" Id="Rc3da8c2f65184365" /><Relationship Type="http://schemas.openxmlformats.org/officeDocument/2006/relationships/image" Target="/ppt/media/image33.png" Id="R2e5d7ff2b71a47ee" /><Relationship Type="http://schemas.openxmlformats.org/officeDocument/2006/relationships/notesSlide" Target="/ppt/notesSlides/notesSlide8.xml" Id="Rba1416009df642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02e630d764ab3" /><Relationship Type="http://schemas.openxmlformats.org/officeDocument/2006/relationships/image" Target="/ppt/media/image34.png" Id="R7fe9fdee07444233" /><Relationship Type="http://schemas.openxmlformats.org/officeDocument/2006/relationships/image" Target="/ppt/media/image35.png" Id="R90b51e15b4b04543" /><Relationship Type="http://schemas.openxmlformats.org/officeDocument/2006/relationships/image" Target="/ppt/media/image36.png" Id="Rb198cc8a8b0d4d89" /><Relationship Type="http://schemas.openxmlformats.org/officeDocument/2006/relationships/image" Target="/ppt/media/image37.png" Id="R7baa6144944442fb" /><Relationship Type="http://schemas.openxmlformats.org/officeDocument/2006/relationships/image" Target="/ppt/media/image38.png" Id="Rc78068c6107d4ac1" /><Relationship Type="http://schemas.openxmlformats.org/officeDocument/2006/relationships/image" Target="/ppt/media/image39.png" Id="R316d6fc568124fb8" /><Relationship Type="http://schemas.openxmlformats.org/officeDocument/2006/relationships/notesSlide" Target="/ppt/notesSlides/notesSlide9.xml" Id="Ra3eb89ad04d74c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6f14ce39c4957" /><Relationship Type="http://schemas.openxmlformats.org/officeDocument/2006/relationships/image" Target="/ppt/media/image40.png" Id="R765cf7cd3eba41a6" /><Relationship Type="http://schemas.openxmlformats.org/officeDocument/2006/relationships/image" Target="/ppt/media/image41.png" Id="Ra50f63bd2a714c3b" /><Relationship Type="http://schemas.openxmlformats.org/officeDocument/2006/relationships/image" Target="/ppt/media/image42.png" Id="R3331e588fd674f9b" /><Relationship Type="http://schemas.openxmlformats.org/officeDocument/2006/relationships/image" Target="/ppt/media/image43.png" Id="R979f978d442f4e02" /><Relationship Type="http://schemas.openxmlformats.org/officeDocument/2006/relationships/image" Target="/ppt/media/image44.png" Id="R4e27c54600cb447b" /><Relationship Type="http://schemas.openxmlformats.org/officeDocument/2006/relationships/image" Target="/ppt/media/image45.png" Id="R8ce7c6ca94b8482f" /><Relationship Type="http://schemas.openxmlformats.org/officeDocument/2006/relationships/notesSlide" Target="/ppt/notesSlides/notesSlide10.xml" Id="R09c9ec3a03674f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5346fdea24ee6" /><Relationship Type="http://schemas.openxmlformats.org/officeDocument/2006/relationships/image" Target="/ppt/media/image46.png" Id="R1a7d45bf5e514103" /><Relationship Type="http://schemas.openxmlformats.org/officeDocument/2006/relationships/image" Target="/ppt/media/image47.png" Id="R285b03c642124540" /><Relationship Type="http://schemas.openxmlformats.org/officeDocument/2006/relationships/image" Target="/ppt/media/image48.png" Id="Rc650a201f3334bab" /><Relationship Type="http://schemas.openxmlformats.org/officeDocument/2006/relationships/image" Target="/ppt/media/image49.png" Id="R6f4e30911b4d4794" /><Relationship Type="http://schemas.openxmlformats.org/officeDocument/2006/relationships/image" Target="/ppt/media/image50.png" Id="Rcb54ea572cf9441f" /><Relationship Type="http://schemas.openxmlformats.org/officeDocument/2006/relationships/image" Target="/ppt/media/image51.png" Id="Rb6525d02b85c4e54" /><Relationship Type="http://schemas.openxmlformats.org/officeDocument/2006/relationships/image" Target="/ppt/media/image52.png" Id="R81e5d2d37d3643a3" /><Relationship Type="http://schemas.openxmlformats.org/officeDocument/2006/relationships/notesSlide" Target="/ppt/notesSlides/notesSlide11.xml" Id="Rde872d2a5cf445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f27e3ea224148" /><Relationship Type="http://schemas.openxmlformats.org/officeDocument/2006/relationships/image" Target="/ppt/media/image53.png" Id="R55e6f6b6fa7e4d83" /><Relationship Type="http://schemas.openxmlformats.org/officeDocument/2006/relationships/notesSlide" Target="/ppt/notesSlides/notesSlide12.xml" Id="R56d236490440432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d905f9836e545f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E00AC3-BD1E-4D99-81EC-81A30036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SAMSUNG PRISM  |  GENERATIVE AI HACKATHON 3rd EDITION 2026-27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535389-3678-43B5-AC53-20FAE1F7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51560"/>
            <a:ext cx="65836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Smart Guided</a:t>
            </a:r>
            <a:endParaRPr sz="4600"/>
          </a:p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Troubleshooting Engine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CE9BA99-33A3-476E-BCFE-FD60A171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640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Source-grounded plans with validated catalog mappings</a:t>
            </a:r>
            <a:endParaRPr sz="19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5B9C24E-2BC8-4B86-AC02-976C0046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6400800" cy="2697480"/>
          </a:xfrm>
          <a:prstGeom xmlns:a="http://schemas.openxmlformats.org/drawingml/2006/main" prst="roundRect">
            <a:avLst>
              <a:gd name="adj" fmla="val 4068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9F9A674-FC21-4E1D-A870-486D8915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60350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A26A03C-108B-474B-A31F-561A993E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603504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35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Theme ID:  </a:t>
            </a: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Theme 2 - Guided Troubleshooting</a:t>
            </a:r>
            <a:endParaRPr sz="13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35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Team:  </a:t>
            </a: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Semicolons</a:t>
            </a:r>
            <a:endParaRPr sz="13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35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College:  </a:t>
            </a: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SRM Institute of Science and Technology, Chennai</a:t>
            </a:r>
            <a:endParaRPr sz="13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35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Member 1:  </a:t>
            </a: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Vaibhavi Sharma - bv5156@srmist.edu.in</a:t>
            </a:r>
            <a:endParaRPr sz="13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35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Member 2:  </a:t>
            </a: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Kottadi Lakshmi - lk9601@srmist.edu.in</a:t>
            </a:r>
            <a:endParaRPr sz="13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35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Member 3:  </a:t>
            </a: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Vivek Vaddipalli - vv8326@srmist.edu.in</a:t>
            </a:r>
            <a:endParaRPr sz="13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35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GitHub:  </a:t>
            </a: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github.com/Lakshmi98496/samsung-prism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98DC3F1-E7EC-46BB-B4BE-19779319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640080"/>
            <a:ext cx="3566160" cy="54864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05081A"/>
          </a:solidFill>
          <a:ln xmlns:a="http://schemas.openxmlformats.org/drawingml/2006/main" w="25400">
            <a:solidFill>
              <a:srgbClr val="22D3E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61B3B8A-CB09-4A61-A677-25BEB01B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960120"/>
            <a:ext cx="3108960" cy="484632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F1736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1647A0D-AB99-4DFC-92DE-366B4E48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097280"/>
            <a:ext cx="2834640" cy="86868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63266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9B21E12-F087-46C0-9529-9F9EB890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188720"/>
            <a:ext cx="25603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"my screen flickers and goes black"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39F42EA-A229-4065-AB7D-2FC0670E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94560"/>
            <a:ext cx="283464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09C4AB8-BAD5-4E94-BD00-2A0AA8FD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7712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 Back Up Phone Data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4B7766-E473-469B-908E-7A46080F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6040"/>
            <a:ext cx="1005840" cy="228600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100EA54-6202-4F9A-946D-D6AF59C6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6040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A0F24"/>
                </a:solidFill>
                <a:latin typeface="Calibri"/>
                <a:ea typeface="Calibri"/>
                <a:cs typeface="Calibri"/>
              </a:rPr>
              <a:t>AUTO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BC1871-FF75-4BC6-8126-1B5E0DC7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06040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One tap &gt;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B00EE53-2278-4EAF-B0E3-69FC2ABA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063240"/>
            <a:ext cx="283464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0CC9793-9663-42DE-B9B1-3F2D53B1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36392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 Check Display Settings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9DBB3B2-F110-4DEE-B09B-745D717F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74720"/>
            <a:ext cx="1005840" cy="228600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A10DE9A-3CAD-4141-ABEE-4248D205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74720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A0F24"/>
                </a:solidFill>
                <a:latin typeface="Calibri"/>
                <a:ea typeface="Calibri"/>
                <a:cs typeface="Calibri"/>
              </a:rPr>
              <a:t>AUTO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1659955-C674-447D-9630-1D8C8CD9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74720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One tap &gt;</a:t>
            </a:r>
            <a:endParaRPr sz="10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44A9D98-8212-434D-A8EA-EAF3DCCE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931920"/>
            <a:ext cx="283464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7FB33B9-BE7D-417C-9BDF-A9F147C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5072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 Visit Service Center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91250E1-3B24-4304-8952-7A4FCD4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1005840" cy="228600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C805D18-32C1-43E9-BB27-1775F7A7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A0F24"/>
                </a:solidFill>
                <a:latin typeface="Calibri"/>
                <a:ea typeface="Calibri"/>
                <a:cs typeface="Calibri"/>
              </a:rPr>
              <a:t>MANUAL</a:t>
            </a:r>
            <a:endParaRPr sz="9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B7BC9AE-E8E1-430D-B520-698F7916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800600"/>
            <a:ext cx="283464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E0D56E5-A87E-4602-AFF4-77347BDE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73752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 Reset Device</a:t>
            </a:r>
            <a:endParaRPr sz="12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33509DD-5C7E-4811-86BC-23E0441E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12080"/>
            <a:ext cx="1005840" cy="228600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6F80A6C-575F-4A55-9333-C1BBEB03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12080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A0F24"/>
                </a:solidFill>
                <a:latin typeface="Calibri"/>
                <a:ea typeface="Calibri"/>
                <a:cs typeface="Calibri"/>
              </a:rPr>
              <a:t>CRITICAL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75969463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c5f40c18c4a464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B121D30-0C64-4A0E-824B-E2B4F84E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6858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8A0"/>
          </a:solidFill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137ff8d0a48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088" y="56692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DC4F454-55AD-48EF-AE45-76FCFA55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7472"/>
            <a:ext cx="9601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Theme &amp; Problem Statement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EF4563D-95A0-4F41-AE38-11C0D729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841248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Our understanding, in our own words</a:t>
            </a:r>
            <a:endParaRPr sz="14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A78C87E-4624-444B-BD55-7DFAC6E3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2240"/>
            <a:ext cx="1218895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A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B380074-0012-4FB2-9487-2AC1E658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The Semicolons  |  SRMIST, Chennai  |  Samsung PRISM GenAI Hackathon 3.0  |  Theme 2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32C4E77-3A5B-43E3-9684-E9259A0F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796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2</a:t>
            </a:r>
            <a:endParaRPr sz="1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814BA82-3E4C-436E-95EC-A77D37F7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5669280" cy="475488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9FE9BFB-3ECB-4941-9095-ACC0C689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5303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20D60C1-68E3-40B6-A737-EFF67573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What goes wrong today</a:t>
            </a:r>
            <a:endParaRPr sz="18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DC9CD53-41E2-4B49-8F25-8EBD166A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512064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66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7ADB436-9785-4FF1-9527-D5DFF170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94560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"Screen flickers and the battery dies fast"</a:t>
            </a:r>
            <a:endParaRPr sz="14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69FE44E-58FA-4672-9DC6-B35FB359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61488"/>
            <a:ext cx="512064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66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8446084-D12A-4789-AC8A-D194DB49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761488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"My phone got slow after the update"</a:t>
            </a:r>
            <a:endParaRPr sz="14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368BC8D-05E4-432E-99E4-1137078A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28416"/>
            <a:ext cx="512064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66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2AA7EF8-8762-43CC-8FC4-3A337076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28416"/>
            <a:ext cx="4846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"Swipe gestures go the wrong way"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DD27B26-2B3E-4320-A00F-D403D110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512064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Customers describe problems vaguely, not in technical terms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 agent reads knowledge-base text, picks steps and orders them by hand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customer then digs through nested Settings menus alone</a:t>
            </a:r>
            <a:endParaRPr sz="14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A94AEDE-37E5-4F44-A89F-E66530B0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63040"/>
            <a:ext cx="5120640" cy="146304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46a70965946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0" y="187452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B7EF4D75-B299-4CEA-AC59-BF6726A9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645920"/>
            <a:ext cx="3840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~15 min</a:t>
            </a:r>
            <a:endParaRPr sz="34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905802E-0228-40D6-8A87-9D67757F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331720"/>
            <a:ext cx="3840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manual effort per scenario</a:t>
            </a:r>
            <a:endParaRPr sz="15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89C293AD-F817-4D95-88CE-4460D124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90672"/>
            <a:ext cx="5120640" cy="146304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d1843ab6e41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0" y="3502152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74A55DC0-9E30-4A04-AE99-24070005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273552"/>
            <a:ext cx="3840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87171"/>
                </a:solidFill>
                <a:latin typeface="Calibri"/>
                <a:ea typeface="Calibri"/>
                <a:cs typeface="Calibri"/>
              </a:rPr>
              <a:t>Millions</a:t>
            </a:r>
            <a:endParaRPr sz="34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E0B44B5-CE04-4B35-BED0-4A68A145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959352"/>
            <a:ext cx="3840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of customer calls worldwide</a:t>
            </a:r>
            <a:endParaRPr sz="1500"/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D4F96071-68AD-4752-AF7A-371A9015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718304"/>
            <a:ext cx="5120640" cy="146304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pic>
        <p:nvPicPr>
          <p:cNvPr id="6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24e9fbcf741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0" y="5129784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07622D9F-12B0-460E-8BCE-C7F63955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901184"/>
            <a:ext cx="3840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&lt;= 300 ms</a:t>
            </a:r>
            <a:endParaRPr sz="3400"/>
          </a:p>
        </p:txBody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50DD4CB3-91B4-4C61-8769-9C744D2E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586984"/>
            <a:ext cx="3840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target for known issues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11112670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c7238ccf71842f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2D9DBF-4DAF-4909-BD6E-D214A032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6858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8A0"/>
          </a:solidFill>
        </p:spPr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68b9764614c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088" y="56692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06429FD-F312-465D-89E0-9470E4BC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7472"/>
            <a:ext cx="9601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Existing Solutions &amp; Gaps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14766D8-284C-4D7A-B4B0-089FEA64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841248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Why current approaches fall short</a:t>
            </a:r>
            <a:endParaRPr sz="14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3A1F0FE-5A74-4C34-A27A-FDD2B354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2240"/>
            <a:ext cx="1218895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A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502C6B6-4A95-4C2F-8D1E-F6D96D76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The Semicolons  |  SRMIST, Chennai  |  Samsung PRISM GenAI Hackathon 3.0  |  Theme 2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B3E6031-6441-4FF8-991B-B2A79E16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796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3</a:t>
            </a:r>
            <a:endParaRPr sz="1000"/>
          </a:p>
        </p:txBody>
      </p:sp>
      <p:graphicFrame>
        <p:nvGraphicFramePr>
          <p:cNvPr id="20" name="Table 0"/>
          <p:cNvGraphicFramePr/>
          <p:nvPr/>
        </p:nvGraphicFramePr>
        <p:xfrm>
          <a:off xmlns:a="http://schemas.openxmlformats.org/drawingml/2006/main" x="548640" y="1463040"/>
          <a:ext xmlns:a="http://schemas.openxmlformats.org/drawingml/2006/main" cx="110642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3280"/>
                <a:gridCol w="1828800"/>
                <a:gridCol w="1920240"/>
                <a:gridCol w="1920240"/>
                <a:gridCol w="2011680"/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Capability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Manual agent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KB / FAQ search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Plain LLM bot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Our engine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28A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Fast (sub-second)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BBF24"/>
                          </a:solidFill>
                          <a:latin typeface="Calibri"/>
                          <a:ea typeface="Calibri"/>
                          <a:cs typeface="Calibri"/>
                        </a:rPr>
                        <a:t>PARTLY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A2A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Clean ordered steps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BBF24"/>
                          </a:solidFill>
                          <a:latin typeface="Calibri"/>
                          <a:ea typeface="Calibri"/>
                          <a:cs typeface="Calibri"/>
                        </a:rPr>
                        <a:t>PARTLY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BBF24"/>
                          </a:solidFill>
                          <a:latin typeface="Calibri"/>
                          <a:ea typeface="Calibri"/>
                          <a:cs typeface="Calibri"/>
                        </a:rPr>
                        <a:t>PARTLY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</a:rPr>
                        <a:t>PARTLY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A2A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Safe to critical ordering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BBF24"/>
                          </a:solidFill>
                          <a:latin typeface="Calibri"/>
                          <a:ea typeface="Calibri"/>
                          <a:cs typeface="Calibri"/>
                        </a:rPr>
                        <a:t>PARTLY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A2A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Exact Settings deeplink (1 tap)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</a:rPr>
                        <a:t>PARTLY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A2A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 hallucinated steps / URLs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A2A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Cheap at millions of calls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</a:rPr>
                        <a:t>UNTESTED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A2A6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Consistent, repeatable output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F87171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A2A6E"/>
                    </a:solidFill>
                  </a:tcPr>
                </a:tc>
              </a:tr>
            </a:tbl>
          </a:graphicData>
        </a:graphic>
      </p:graphicFrame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3B4E700-C259-4CD5-B7DC-FF51F4DB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86400"/>
            <a:ext cx="11064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Prototype focus: source-grounded plans, conservative catalog matching and cached JSON responses. Comparisons are design expectations.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971496538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abddb89cd8043d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BA3F503-96BB-4221-93FE-7CC0D1DB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6858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8A0"/>
          </a:solidFill>
        </p:spPr>
      </p:sp>
      <p:pic>
        <p:nvPicPr>
          <p:cNvPr id="6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bee63f51c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088" y="56692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F9F6EAC-0282-4C0B-8CF9-61EC7BEE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7472"/>
            <a:ext cx="9601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Our Solution &amp; Architecture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AE4340F-7AC0-4B11-BFA5-6FB08D91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841248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Offline baseline and a locally tested two-stage Qwen adapter</a:t>
            </a:r>
            <a:endParaRPr sz="14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108FDD2-170D-4F36-9ED0-E4DF6C5E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2240"/>
            <a:ext cx="1218895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A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C0C9EF-D7BB-4318-AE77-FD1F1CF6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The Semicolons  |  SRMIST, Chennai  |  Samsung PRISM GenAI Hackathon 3.0  |  Theme 2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3B7D294-5B3A-4F1D-87ED-C75D43D6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796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4</a:t>
            </a:r>
            <a:endParaRPr sz="1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36CCECF-8994-46FB-A255-79438F58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1691640" cy="201168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C5B2AAA-5EEC-4D9F-B64D-D39C663D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13258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7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6b7a5c9c347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178308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2172B8A-519D-480C-B61D-ED0432D7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6888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Complaint</a:t>
            </a:r>
            <a:endParaRPr sz="15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D632BB2-25F8-477C-970B-DF06F2C8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34640"/>
            <a:ext cx="1508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+ optional SIIS text</a:t>
            </a:r>
            <a:endParaRPr sz="115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19A0657-482A-46D7-BCB5-4050A0B0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224028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&gt;</a:t>
            </a:r>
            <a:endParaRPr sz="22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59EA832-E82A-44BD-85BF-474D67A0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554480"/>
            <a:ext cx="1691640" cy="201168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9424539-5F6E-4B8F-B8EC-316EB9D6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554480"/>
            <a:ext cx="13258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8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b629f2bb54b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4368" y="178308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27355EC7-B054-486B-9BD2-626B527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46888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 Enrich</a:t>
            </a:r>
            <a:endParaRPr sz="15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4AC14B9E-9F0C-4196-9DFB-850490AA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834640"/>
            <a:ext cx="1508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canonical synonyms; LLM variations optional</a:t>
            </a:r>
            <a:endParaRPr sz="115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377FBE7B-D748-431C-BF2C-9A40E4BC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4028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&gt;</a:t>
            </a:r>
            <a:endParaRPr sz="2200"/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6258A37C-59B0-4CFC-A0BE-70438CBA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554480"/>
            <a:ext cx="1691640" cy="201168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10607206-2C57-43A9-8A48-5787014B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554480"/>
            <a:ext cx="13258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</p:spPr>
      </p:sp>
      <p:pic>
        <p:nvPicPr>
          <p:cNvPr id="8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71b3d92e249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4608" y="178308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CC3CA6F3-BAC6-4A2F-8C48-740A1083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6888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Cache?</a:t>
            </a:r>
            <a:endParaRPr sz="15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C31855E0-86DA-4832-B81F-991BE06D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834640"/>
            <a:ext cx="1508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TF-IDF similarity; dense option</a:t>
            </a:r>
            <a:endParaRPr sz="115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094282D8-E3EF-4EA4-8FCA-E28C1F04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24028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&gt;</a:t>
            </a:r>
            <a:endParaRPr sz="2200"/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788405D0-1F94-46D6-B873-0381B2CA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54480"/>
            <a:ext cx="1691640" cy="201168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F775097A-64F7-4CEE-B4F2-7CD4C8B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13258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9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ab05206d24e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4848" y="178308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C192BF70-46D5-463D-B34C-C6734D7B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46888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Extract</a:t>
            </a:r>
            <a:endParaRPr sz="1500"/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590D998B-D5C1-4573-BD9C-169292E3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834640"/>
            <a:ext cx="1508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source sentences; optional LLM IDs</a:t>
            </a:r>
            <a:endParaRPr sz="1150"/>
          </a:p>
        </p:txBody>
      </p:sp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94F48914-9475-4EB4-B5BC-524C343F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24028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&gt;</a:t>
            </a:r>
            <a:endParaRPr sz="2200"/>
          </a:p>
        </p:txBody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944E0B7B-D452-4AA4-8173-4DF5AEF3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554480"/>
            <a:ext cx="1691640" cy="201168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131DE838-12B4-4BC8-8C4C-22D469B0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554480"/>
            <a:ext cx="13258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9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788afd75342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5088" y="178308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8C190F5E-A91C-4B79-AAAB-176DD415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46888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Map</a:t>
            </a:r>
            <a:endParaRPr sz="15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7D4AB3C1-A651-4AC7-A52E-0BC0CE09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4640"/>
            <a:ext cx="1508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exact-screen words to catalog IDs</a:t>
            </a:r>
            <a:endParaRPr sz="1150"/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0429A3C-2A43-4A9C-BDE6-120DFFB5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4028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&gt;</a:t>
            </a:r>
            <a:endParaRPr sz="2200"/>
          </a:p>
        </p:txBody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15E448F3-9DF9-4CC9-8267-575C0F6D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554480"/>
            <a:ext cx="1691640" cy="201168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73A3BA8B-F47F-4746-9A75-C6D799C7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1554480"/>
            <a:ext cx="13258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10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111a2ad6640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5328" y="178308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A4BE2501-960E-4F53-9412-421F425C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246888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Validate</a:t>
            </a:r>
            <a:endParaRPr sz="1500"/>
          </a:p>
        </p:txBody>
      </p:sp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E326A6D5-F85C-4EDF-B467-F663C9CB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834640"/>
            <a:ext cx="1508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schema, URL scrub, ordering</a:t>
            </a:r>
            <a:endParaRPr sz="1150"/>
          </a:p>
        </p:txBody>
      </p:sp>
      <p:sp>
        <p:nvSpPr>
          <p:cNvPr id="44" name="Shape 35">
            <a:extLst xmlns:a="http://schemas.openxmlformats.org/drawingml/2006/main">
              <a:ext uri="{FF2B5EF4-FFF2-40B4-BE49-F238E27FC236}">
                <a16:creationId xmlns:a16="http://schemas.microsoft.com/office/drawing/2014/main" id="{55C80C19-97BD-455D-9AE7-376067A5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539496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3D2E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6E9D7711-F450-4116-BC17-39247E3C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1920"/>
            <a:ext cx="50292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HIT: cached validated plan, no inference. Local engine P95 shown in results.</a:t>
            </a:r>
            <a:endParaRPr sz="1500"/>
          </a:p>
        </p:txBody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3367243C-C349-4FF7-ABB8-A2A81551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40480"/>
            <a:ext cx="566928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3B2A0A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47" name="Text 38">
            <a:extLst xmlns:a="http://schemas.openxmlformats.org/drawingml/2006/main">
              <a:ext uri="{FF2B5EF4-FFF2-40B4-BE49-F238E27FC236}">
                <a16:creationId xmlns:a16="http://schemas.microsoft.com/office/drawing/2014/main" id="{D3E5FDB1-CCC4-4FEE-9ECF-5C7EE3B0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31920"/>
            <a:ext cx="5303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MISS: extract, map and validate source text. Cold LLM P95 is unmeasured.</a:t>
            </a:r>
            <a:endParaRPr sz="1500"/>
          </a:p>
        </p:txBody>
      </p:sp>
      <p:sp>
        <p:nvSpPr>
          <p:cNvPr id="48" name="Shape 39">
            <a:extLst xmlns:a="http://schemas.openxmlformats.org/drawingml/2006/main">
              <a:ext uri="{FF2B5EF4-FFF2-40B4-BE49-F238E27FC236}">
                <a16:creationId xmlns:a16="http://schemas.microsoft.com/office/drawing/2014/main" id="{972AB1FB-5C5C-4A64-A3D1-93A81FFF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214884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A6E"/>
          </a:solidFill>
        </p:spPr>
      </p:sp>
      <p:sp>
        <p:nvSpPr>
          <p:cNvPr id="49" name="Text 40">
            <a:extLst xmlns:a="http://schemas.openxmlformats.org/drawingml/2006/main">
              <a:ext uri="{FF2B5EF4-FFF2-40B4-BE49-F238E27FC236}">
                <a16:creationId xmlns:a16="http://schemas.microsoft.com/office/drawing/2014/main" id="{EA2A5403-2640-4D17-A273-E975F14E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Zero URL leaks</a:t>
            </a:r>
            <a:endParaRPr sz="1250"/>
          </a:p>
        </p:txBody>
      </p:sp>
      <p:sp>
        <p:nvSpPr>
          <p:cNvPr id="50" name="Shape 41">
            <a:extLst xmlns:a="http://schemas.openxmlformats.org/drawingml/2006/main">
              <a:ext uri="{FF2B5EF4-FFF2-40B4-BE49-F238E27FC236}">
                <a16:creationId xmlns:a16="http://schemas.microsoft.com/office/drawing/2014/main" id="{D9775D64-F410-4881-94DE-832921F4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57800"/>
            <a:ext cx="214884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A6E"/>
          </a:solidFill>
        </p:spPr>
      </p:sp>
      <p:sp>
        <p:nvSpPr>
          <p:cNvPr id="51" name="Text 42">
            <a:extLst xmlns:a="http://schemas.openxmlformats.org/drawingml/2006/main">
              <a:ext uri="{FF2B5EF4-FFF2-40B4-BE49-F238E27FC236}">
                <a16:creationId xmlns:a16="http://schemas.microsoft.com/office/drawing/2014/main" id="{83FEA3FD-D37D-4FB5-A0BF-205C043E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57800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Catalog-exact deeplinks</a:t>
            </a:r>
            <a:endParaRPr sz="1250"/>
          </a:p>
        </p:txBody>
      </p:sp>
      <p:sp>
        <p:nvSpPr>
          <p:cNvPr id="52" name="Shape 43">
            <a:extLst xmlns:a="http://schemas.openxmlformats.org/drawingml/2006/main">
              <a:ext uri="{FF2B5EF4-FFF2-40B4-BE49-F238E27FC236}">
                <a16:creationId xmlns:a16="http://schemas.microsoft.com/office/drawing/2014/main" id="{ED8853D4-E2E4-420F-A451-902C0988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57800"/>
            <a:ext cx="214884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A6E"/>
          </a:solidFill>
        </p:spPr>
      </p:sp>
      <p:sp>
        <p:nvSpPr>
          <p:cNvPr id="53" name="Text 44">
            <a:extLst xmlns:a="http://schemas.openxmlformats.org/drawingml/2006/main">
              <a:ext uri="{FF2B5EF4-FFF2-40B4-BE49-F238E27FC236}">
                <a16:creationId xmlns:a16="http://schemas.microsoft.com/office/drawing/2014/main" id="{C4F0BD5A-119F-4159-B6E8-F5096C71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57800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steps outside source text</a:t>
            </a:r>
            <a:endParaRPr sz="1250"/>
          </a:p>
        </p:txBody>
      </p:sp>
      <p:sp>
        <p:nvSpPr>
          <p:cNvPr id="54" name="Shape 45">
            <a:extLst xmlns:a="http://schemas.openxmlformats.org/drawingml/2006/main">
              <a:ext uri="{FF2B5EF4-FFF2-40B4-BE49-F238E27FC236}">
                <a16:creationId xmlns:a16="http://schemas.microsoft.com/office/drawing/2014/main" id="{59342D01-05C3-4109-9E6D-B93CF15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57800"/>
            <a:ext cx="214884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A6E"/>
          </a:solidFill>
        </p:spPr>
      </p:sp>
      <p:sp>
        <p:nvSpPr>
          <p:cNvPr id="55" name="Text 46">
            <a:extLst xmlns:a="http://schemas.openxmlformats.org/drawingml/2006/main">
              <a:ext uri="{FF2B5EF4-FFF2-40B4-BE49-F238E27FC236}">
                <a16:creationId xmlns:a16="http://schemas.microsoft.com/office/drawing/2014/main" id="{D4EC5A2D-0D96-410D-AC31-6A075C88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57800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Screen grouping needs review</a:t>
            </a:r>
            <a:endParaRPr sz="1250"/>
          </a:p>
        </p:txBody>
      </p:sp>
      <p:sp>
        <p:nvSpPr>
          <p:cNvPr id="56" name="Shape 47">
            <a:extLst xmlns:a="http://schemas.openxmlformats.org/drawingml/2006/main">
              <a:ext uri="{FF2B5EF4-FFF2-40B4-BE49-F238E27FC236}">
                <a16:creationId xmlns:a16="http://schemas.microsoft.com/office/drawing/2014/main" id="{8B004190-50B1-4A5C-BC0B-24EDAB7C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57800"/>
            <a:ext cx="2148840" cy="5486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A6E"/>
          </a:solidFill>
        </p:spPr>
      </p:sp>
      <p:sp>
        <p:nvSpPr>
          <p:cNvPr id="57" name="Text 48">
            <a:extLst xmlns:a="http://schemas.openxmlformats.org/drawingml/2006/main">
              <a:ext uri="{FF2B5EF4-FFF2-40B4-BE49-F238E27FC236}">
                <a16:creationId xmlns:a16="http://schemas.microsoft.com/office/drawing/2014/main" id="{918620F2-5BD5-4BB1-8D05-AE0DAE87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57800"/>
            <a:ext cx="2148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Pure JSON output</a:t>
            </a:r>
            <a:endParaRPr sz="1250"/>
          </a:p>
        </p:txBody>
      </p:sp>
      <p:sp>
        <p:nvSpPr>
          <p:cNvPr id="58" name="Text 49">
            <a:extLst xmlns:a="http://schemas.openxmlformats.org/drawingml/2006/main">
              <a:ext uri="{FF2B5EF4-FFF2-40B4-BE49-F238E27FC236}">
                <a16:creationId xmlns:a16="http://schemas.microsoft.com/office/drawing/2014/main" id="{02FF3A39-93DD-4E8A-885C-D6BDACD4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932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REST API:  POST /v1/troubleshoot   |   GET /health   |   meta: latency_ms, cache_hit, model, cost_usd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31664357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47a1a0290794ee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A757E0F-E6A1-4202-9A89-5297D763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6858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8A0"/>
          </a:solidFill>
        </p:spPr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57ebfbd8c4e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088" y="56692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3A1963F-252D-4EB9-B1C0-B0320695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7472"/>
            <a:ext cx="9601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&amp; Product Walkthrough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0DED02-77C1-412D-B769-EF5AFE9B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841248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What the judges will see</a:t>
            </a:r>
            <a:endParaRPr sz="14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A25D728-2EB9-47B4-AE84-BD15C7E3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2240"/>
            <a:ext cx="1218895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A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D32B940-4CE9-40C9-B322-13E7526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The Semicolons  |  SRMIST, Chennai  |  Samsung PRISM GenAI Hackathon 3.0  |  Theme 2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F53B7AF-A1E8-40C6-A660-DF35D60F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796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5</a:t>
            </a:r>
            <a:endParaRPr sz="1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C1405EB-8D16-48B2-B516-B4477E8E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3657600" cy="475488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A41860D-25EC-42F9-9516-141E1EAF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3291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FDAA558-1AD7-4280-A8D8-F64D4F12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4592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1  Request</a:t>
            </a:r>
            <a:endParaRPr sz="18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999BD36-9244-4191-840E-9F6F69AC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48840"/>
            <a:ext cx="3200400" cy="219456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5081A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B38460F-8B32-40A8-9BA8-CA51414B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30175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POST /v1/troubleshoot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{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  "query": "device issue",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  "siis_response":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  "Tap Wi-Fi."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4D399"/>
                </a:solidFill>
                <a:latin typeface="Consolas"/>
                <a:ea typeface="Consolas"/>
                <a:cs typeface="Consolas"/>
              </a:rPr>
              <a:t>}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517BCE3-752F-4260-B245-D6FED856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32004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Supplied scenario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Repeat for cache hit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 source text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Unknown query</a:t>
            </a:r>
            <a:endParaRPr sz="14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AE1D34FD-5AE2-4259-BAC0-35B13DDA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63040"/>
            <a:ext cx="3840480" cy="475488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B668568-B75D-447B-9244-7DFEA539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463040"/>
            <a:ext cx="34747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064F445-5A4A-4751-9785-DECF4FE5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645920"/>
            <a:ext cx="3383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A78BFA"/>
                </a:solidFill>
                <a:latin typeface="Calibri"/>
                <a:ea typeface="Calibri"/>
                <a:cs typeface="Calibri"/>
              </a:rPr>
              <a:t>2  Plan (JSON)</a:t>
            </a:r>
            <a:endParaRPr sz="18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10D08E9-C3A2-476E-99D4-8E95AD6A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194560"/>
            <a:ext cx="3383280" cy="82296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B2450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57F827A-A92A-4974-A11F-0F2733C3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67712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Source-Based Instructions</a:t>
            </a:r>
            <a:endParaRPr sz="14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D4A88B5-DE06-4DB0-9A30-A30B87CB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70048"/>
            <a:ext cx="914400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413AA3C-79D2-4BEC-8E66-5B6F5500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70048"/>
            <a:ext cx="914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A0F24"/>
                </a:solidFill>
                <a:latin typeface="Calibri"/>
                <a:ea typeface="Calibri"/>
                <a:cs typeface="Calibri"/>
              </a:rPr>
              <a:t>AUTO</a:t>
            </a:r>
            <a:endParaRPr sz="9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DE880F8-99D0-4765-BEC4-BCB6317A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670048"/>
            <a:ext cx="2103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deeplink ready</a:t>
            </a:r>
            <a:endParaRPr sz="1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56F2A786-4ADF-4458-9321-FD5CC4CC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00400"/>
            <a:ext cx="3383280" cy="82296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B245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8BE14B7-AE14-4997-A9F9-61074762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73552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Exact Catalog Match</a:t>
            </a:r>
            <a:endParaRPr sz="14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E17B7CE5-6096-4A7C-BC85-D907DE4A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75888"/>
            <a:ext cx="914400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4E96943-67BC-47DE-A157-C7BD9496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75888"/>
            <a:ext cx="914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A0F24"/>
                </a:solidFill>
                <a:latin typeface="Calibri"/>
                <a:ea typeface="Calibri"/>
                <a:cs typeface="Calibri"/>
              </a:rPr>
              <a:t>AUTO</a:t>
            </a:r>
            <a:endParaRPr sz="9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61EA452-28EA-412E-A10D-D9DB3D24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675888"/>
            <a:ext cx="2103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deeplink ready</a:t>
            </a:r>
            <a:endParaRPr sz="11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90E07A69-466C-4BE7-9096-BEB67DAA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206240"/>
            <a:ext cx="3383280" cy="82296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B2450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31A7B19-34DF-4DCA-92DE-61DDA8D8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79392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Manual Guidance</a:t>
            </a:r>
            <a:endParaRPr sz="14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F09647A6-C990-4655-936B-5E7B0D2A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81728"/>
            <a:ext cx="914400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716FB7D-106E-4ACE-BC20-834AAD9B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81728"/>
            <a:ext cx="914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A0F24"/>
                </a:solidFill>
                <a:latin typeface="Calibri"/>
                <a:ea typeface="Calibri"/>
                <a:cs typeface="Calibri"/>
              </a:rPr>
              <a:t>MANUAL</a:t>
            </a:r>
            <a:endParaRPr sz="9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4A50A29F-5A51-4EB7-82E8-79F1DBF7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212080"/>
            <a:ext cx="3383280" cy="82296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B2450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F35271CC-0187-4302-BF60-31E93B88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285232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Critical Actions Last</a:t>
            </a:r>
            <a:endParaRPr sz="140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B98492C5-989D-48F3-AC98-270D7C76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687568"/>
            <a:ext cx="914400" cy="23774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1CB53A88-5B39-4D15-AFE5-DFB6164A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687568"/>
            <a:ext cx="914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A0F24"/>
                </a:solidFill>
                <a:latin typeface="Calibri"/>
                <a:ea typeface="Calibri"/>
                <a:cs typeface="Calibri"/>
              </a:rPr>
              <a:t>CRITICAL</a:t>
            </a:r>
            <a:endParaRPr sz="9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290F62B9-3FA5-4514-908C-77FF397C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463040"/>
            <a:ext cx="3108960" cy="475488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AFFC19F4-CE1B-486C-9DD7-6EE699FB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63040"/>
            <a:ext cx="2743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41589B5-FD79-41AF-AAA6-CE995815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645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3  Proof</a:t>
            </a:r>
            <a:endParaRPr sz="180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C33D63DB-0533-4B47-94F9-B31CE77E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194560"/>
            <a:ext cx="274320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meta.cache_hit true / false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latency_ms on screen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 URL leaks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Schema test passing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no_match fallback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464500575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5975198f38a456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9D349CF-06C8-43A5-A92E-CDE1FCCA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6858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8A0"/>
          </a:solidFill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9d59dbd324f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088" y="56692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2D97029-37AE-45A4-BD40-3DBFD993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7472"/>
            <a:ext cx="9601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Tools &amp; Tech Stack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A1BA84D-0C81-43BC-B146-D7C0C3C2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841248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Offline baseline and one local model case tested. Docker unverified.</a:t>
            </a:r>
            <a:endParaRPr sz="14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C095F9B-ECF0-4C10-9B6E-0F261D3C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2240"/>
            <a:ext cx="1218895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A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BD83729-3834-4EDF-9AC2-65DAA39E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The Semicolons  |  SRMIST, Chennai  |  Samsung PRISM GenAI Hackathon 3.0  |  Theme 2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1AE3713-8A1F-4545-B4F6-D152D685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796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6</a:t>
            </a:r>
            <a:endParaRPr sz="1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5C7AB6D-B3FA-4698-9ECD-8FC2B823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356616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8F52892-0B48-4595-830C-BC7717C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54480"/>
            <a:ext cx="3200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5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4cb29c68444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18745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6EDC2DC-A2D9-4E01-A6C9-9653DE95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032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&amp; validation</a:t>
            </a:r>
            <a:endParaRPr sz="18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362A891-0167-4C8C-87AF-AC9711B9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71800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FastAPI, Pydantic (schema.py), Uvicorn</a:t>
            </a:r>
            <a:endParaRPr sz="13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4BB95C2-F2B6-4EC8-B3A1-12B247F5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554480"/>
            <a:ext cx="356616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3190C10A-6ABF-4343-AD16-AA7BDAF0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554480"/>
            <a:ext cx="3200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c3408d48b49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8745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3B15B6A6-354E-4D99-AAC2-6F271D23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6032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</a:t>
            </a:r>
            <a:endParaRPr sz="18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E22D2A2C-306B-4CB0-BB4E-E5B1F02F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Qwen2.5-0.5B, llama.cpp CPU
One live smoke test</a:t>
            </a:r>
            <a:endParaRPr sz="135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C3C09A03-B9A6-4D7B-9ED9-1CAE3F51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554480"/>
            <a:ext cx="356616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8E57F328-821E-4F6F-8475-9F924DAF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4480"/>
            <a:ext cx="3200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4daaf81b144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1040" y="18745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0E1A402A-F7B4-45BB-A459-CDA3C27F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56032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Retrieval</a:t>
            </a:r>
            <a:endParaRPr sz="18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5B7D2A99-75E8-40A7-8C9E-C1149103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971800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TF-IDF and synonyms
Optional dense query retrieval</a:t>
            </a:r>
            <a:endParaRPr sz="135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A3C1081E-8180-4E20-A252-AF599009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356616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73E3D1A7-1BB6-41C0-B74F-07BFD439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3200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0866100ac47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425196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FD018654-950A-46DF-AEAA-775307CF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3776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Semantic cache</a:t>
            </a:r>
            <a:endParaRPr sz="18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EA47AFB9-6853-41F1-9EBD-00D5C835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SQLite, prewarmed from
20 supplied queries</a:t>
            </a:r>
            <a:endParaRPr sz="135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0DD6736B-B051-4E88-912C-AA8C1FE8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931920"/>
            <a:ext cx="356616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F7EA24DF-DCAD-4D31-B0D0-89227C15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931920"/>
            <a:ext cx="3200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7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577cae8cc4c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425196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8AA81244-39CD-4B16-8E9A-9D805531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776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Guards</a:t>
            </a:r>
            <a:endParaRPr sz="18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060DBCC5-30E6-4729-A811-3AA9FA43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9240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Regex URL scrub, word-count and catalog checks</a:t>
            </a:r>
            <a:endParaRPr sz="135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EC771E50-B364-4319-B5E2-CB4CB360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931920"/>
            <a:ext cx="356616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03D28B28-43D3-463D-A58D-AE32E23E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31920"/>
            <a:ext cx="3200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8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712c434954e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1040" y="425196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3E4FF82A-039F-457E-AFEB-D0AF2F1D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93776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Packaging</a:t>
            </a:r>
            <a:endParaRPr sz="1800"/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1101D92E-0F57-4D66-8BBE-EE17FB6C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49240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Docker, pytest, GitHub release tag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717900510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0a87dcc037048c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959A52D-ED01-43AB-AA4C-1AB48D1D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6858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8A0"/>
          </a:solidFill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eb670d5ee41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088" y="56692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0165ECB-2E9F-41AD-82D7-78277EF7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7472"/>
            <a:ext cx="9601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Impact &amp; Use Case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D90A880-1744-4C13-9F97-3FC6D603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841248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Who benefits and how</a:t>
            </a:r>
            <a:endParaRPr sz="14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1CBB693-C5EE-485D-9E45-75760AEB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2240"/>
            <a:ext cx="1218895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A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F0AA8F8-4EA9-43B2-B39E-85638765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The Semicolons  |  SRMIST, Chennai  |  Samsung PRISM GenAI Hackathon 3.0  |  Theme 2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E7DEEF7-43FC-4EFD-A849-1C4D527A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796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7</a:t>
            </a:r>
            <a:endParaRPr sz="1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E954B7D-4BC4-426E-B421-6A4A7229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3566160" cy="384048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6691A9F-B881-412B-BDA9-A46C4756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54480"/>
            <a:ext cx="3200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df5f1be584a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1828800"/>
            <a:ext cx="594360" cy="594360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15E32F9-ECBC-4471-96A6-3DD63A8F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920240"/>
            <a:ext cx="2468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Support agents</a:t>
            </a:r>
            <a:endParaRPr sz="19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B7E8136-70B6-440C-9C71-DE0816DF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310896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Goal: reduce manual plan preparation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Repeatable cached JSON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 time savings need a pilot</a:t>
            </a:r>
            <a:endParaRPr sz="14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CAFC0B60-3C58-4720-BD5B-57F182A1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554480"/>
            <a:ext cx="3566160" cy="384048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CD2CDFDC-BA6F-41F9-B0C7-D8A0A68A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554480"/>
            <a:ext cx="3200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a657a65c44d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828800"/>
            <a:ext cx="594360" cy="594360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89A58137-E7AA-4FDD-A176-49C7770F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920240"/>
            <a:ext cx="2468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Customers</a:t>
            </a:r>
            <a:endParaRPr sz="19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74AC48C3-8835-4CEA-85AC-8FD27CB5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43200"/>
            <a:ext cx="310896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Mapped catalog destinations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Critical operations ordered last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Masked URIs need device integration</a:t>
            </a:r>
            <a:endParaRPr sz="140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028D9228-E463-4F49-8591-BC7F6EC3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554480"/>
            <a:ext cx="3566160" cy="384048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D2546794-E13F-4E6F-A0EE-988FE16C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4480"/>
            <a:ext cx="3200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ca865b95d44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1040" y="1828800"/>
            <a:ext cx="594360" cy="59436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1E35EA28-BB19-4E83-A3DB-2A53B559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920240"/>
            <a:ext cx="2468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Samsung at scale</a:t>
            </a:r>
            <a:endParaRPr sz="19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F8B468F5-6DCC-44D9-BB39-59E37DD2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743200"/>
            <a:ext cx="310896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10k+ scenarios is a future target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Cache hits use no inference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Latency and runtime mode recorded</a:t>
            </a:r>
            <a:endParaRPr sz="14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4CFA11E1-CA2D-40EE-BF9A-25ACDB0D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77840"/>
            <a:ext cx="11064240" cy="73152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428A0"/>
          </a:solidFill>
        </p:spPr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5417F921-B0EA-4851-8669-D711D88B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77840"/>
            <a:ext cx="10607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Demo: choose a supplied complaint, inspect source-based JSON, repeat for a cache hit and check an unknown-query fallback.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427719881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3da8c2f6518436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85E4DD8-B73D-4FDA-81DA-3191FCE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6858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8A0"/>
          </a:solidFill>
        </p:spPr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d7ff2b71a47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088" y="56692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5A354D3-2783-4008-883E-8D2D6476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7472"/>
            <a:ext cx="9601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Innovation, Results &amp; Limitations</a:t>
            </a:r>
            <a:endParaRPr sz="3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457B148-D809-4D32-A2B5-C6C86FFC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2240"/>
            <a:ext cx="1218895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A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558DC03-E291-497D-9C58-02D9A970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The Semicolons  |  SRMIST, Chennai  |  Samsung PRISM GenAI Hackathon 3.0  |  Theme 2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C70A01A-8A64-4A26-AEB4-31B8836B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796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8</a:t>
            </a:r>
            <a:endParaRPr sz="10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179105F-2442-4969-8961-20455733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3566160" cy="475488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4941AA0-8178-443F-B42A-3DFD521A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3200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7B7FB3A-DA2A-4ED6-A075-AC6504F8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45920"/>
            <a:ext cx="310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Innovation</a:t>
            </a:r>
            <a:endParaRPr sz="18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2298121-5817-4339-A16D-674B129F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310896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Synonym-based complaint retrieval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Source-exact steps and catalog checks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chooses IDs, never writes URIs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Unknown issues return no_match</a:t>
            </a:r>
            <a:endParaRPr sz="14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D51C914-CC9F-4991-8DA5-80716BF0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63040"/>
            <a:ext cx="4114800" cy="475488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7B330DB-3D9F-46F2-B841-805CC1BB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63040"/>
            <a:ext cx="37490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8482C63-12A7-4FEA-958F-9704B82C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64592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34D399"/>
                </a:solidFill>
                <a:latin typeface="Calibri"/>
                <a:ea typeface="Calibri"/>
                <a:cs typeface="Calibri"/>
              </a:rPr>
              <a:t>Measured prototype</a:t>
            </a:r>
            <a:endParaRPr sz="1600"/>
          </a:p>
        </p:txBody>
      </p:sp>
      <p:graphicFrame>
        <p:nvGraphicFramePr>
          <p:cNvPr id="35" name="Table 0"/>
          <p:cNvGraphicFramePr/>
          <p:nvPr/>
        </p:nvGraphicFramePr>
        <p:xfrm>
          <a:off xmlns:a="http://schemas.openxmlformats.org/drawingml/2006/main" x="4526280" y="2286000"/>
          <a:ext xmlns:a="http://schemas.openxmlformats.org/drawingml/2006/main" cx="3657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7360"/>
                <a:gridCol w="1005840"/>
                <a:gridCol w="91440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22D3EE"/>
                          </a:solidFill>
                          <a:latin typeface="Calibri"/>
                          <a:ea typeface="Calibri"/>
                          <a:cs typeface="Calibri"/>
                        </a:rPr>
                        <a:t>Metric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22D3EE"/>
                          </a:solidFill>
                          <a:latin typeface="Calibri"/>
                          <a:ea typeface="Calibri"/>
                          <a:cs typeface="Calibri"/>
                        </a:rPr>
                        <a:t>Scope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B2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 b="1">
                          <a:solidFill>
                            <a:srgbClr val="22D3EE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B24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Schema-valid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 queries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20/20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URL leaks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Step text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Unseen hits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Not tested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N/A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Cache P95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Rules engine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0.833 ms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Cold LLM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 smoke run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13.97 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2A3566"/>
                      </a:solidFill>
                      <a:prstDash val="solid"/>
                    </a:lnL>
                    <a:lnR w="12700" cmpd="sng">
                      <a:solidFill>
                        <a:srgbClr val="2A3566"/>
                      </a:solidFill>
                      <a:prstDash val="solid"/>
                    </a:lnR>
                    <a:lnT w="12700" cmpd="sng">
                      <a:solidFill>
                        <a:srgbClr val="2A3566"/>
                      </a:solidFill>
                      <a:prstDash val="solid"/>
                    </a:lnT>
                    <a:lnB w="12700" cmpd="sng">
                      <a:solidFill>
                        <a:srgbClr val="2A3566"/>
                      </a:solidFill>
                      <a:prstDash val="solid"/>
                    </a:lnB>
                    <a:solidFill>
                      <a:srgbClr val="141B3A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F86F34C-C066-4A68-8D46-C2180BD6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463040"/>
            <a:ext cx="3017520" cy="47548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FADB41-7B4D-4372-9489-B8B3F6FC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463040"/>
            <a:ext cx="26517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699968E5-3A2C-40DB-AFA8-2BD20A92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64592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BBF24"/>
                </a:solidFill>
                <a:latin typeface="Calibri"/>
                <a:ea typeface="Calibri"/>
                <a:cs typeface="Calibri"/>
              </a:rPr>
              <a:t>Limitations</a:t>
            </a:r>
            <a:endParaRPr sz="18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B4470A67-2052-4E40-9D8E-7DE7B9AA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194560"/>
            <a:ext cx="256032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Only one LLM smoke case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Screen grouping needs review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Masked links need integration
Unseen accuracy unmeasured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25147582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fe9fdee0744423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ABF5F0-5997-4EBE-9B83-9822E4FA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6858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8A0"/>
          </a:solidFill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51e15b4b045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088" y="56692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63429B1-BA8A-46F7-A971-9D55DF43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7472"/>
            <a:ext cx="9601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What's Next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7D17D87-2084-4F10-93ED-F78F0FFF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841248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Roadmap</a:t>
            </a:r>
            <a:endParaRPr sz="14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B03C749-B5D0-4114-BEC2-96A7A44F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2240"/>
            <a:ext cx="1218895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A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355F90F-97DB-4F63-A245-0E4CE990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The Semicolons  |  SRMIST, Chennai  |  Samsung PRISM GenAI Hackathon 3.0  |  Theme 2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6A127B6-7E2B-4550-AE0B-6A13AB9B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796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9</a:t>
            </a:r>
            <a:endParaRPr sz="10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8C41BFB-7D1F-4376-A59E-EB14504B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46120"/>
            <a:ext cx="99669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566"/>
          </a:solidFill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32CFD0A-FF62-48D6-9A17-FAC95C5F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8346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8A0"/>
          </a:solidFill>
          <a:ln xmlns:a="http://schemas.openxmlformats.org/drawingml/2006/main" w="25400">
            <a:solidFill>
              <a:srgbClr val="22D3EE"/>
            </a:solidFill>
            <a:prstDash val="solid"/>
          </a:ln>
        </p:spPr>
      </p:sp>
      <p:pic>
        <p:nvPicPr>
          <p:cNvPr id="4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8cc8a8b0d4d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20240" y="30632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3B0E991-6437-484B-883C-EB450C28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Now</a:t>
            </a:r>
            <a:endParaRPr sz="2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73DB794-3E07-4A48-95FD-FF396D1F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2560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Working API, cache, 20 scenarios</a:t>
            </a:r>
            <a:endParaRPr sz="15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7CD010F-479D-4BEF-9ECC-D8E398BE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8346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8A0"/>
          </a:solidFill>
          <a:ln xmlns:a="http://schemas.openxmlformats.org/drawingml/2006/main" w="25400">
            <a:solidFill>
              <a:srgbClr val="22D3EE"/>
            </a:solidFill>
            <a:prstDash val="solid"/>
          </a:ln>
        </p:spPr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a6144944442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30632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41FDC4FA-8BCD-445E-BE31-9FC738C0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116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Next</a:t>
            </a:r>
            <a:endParaRPr sz="22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888171BB-6D03-48AB-97CD-B327AD25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23360"/>
            <a:ext cx="2560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Evaluate LLM on all scenarios
Annotate exact-screen mappings</a:t>
            </a:r>
            <a:endParaRPr sz="150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D8314CD2-EEB3-411D-A6D3-1A7E0EE3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8346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8A0"/>
          </a:solidFill>
          <a:ln xmlns:a="http://schemas.openxmlformats.org/drawingml/2006/main" w="25400">
            <a:solidFill>
              <a:srgbClr val="22D3EE"/>
            </a:solidFill>
            <a:prstDash val="solid"/>
          </a:ln>
        </p:spPr>
      </p:sp>
      <p:pic>
        <p:nvPicPr>
          <p:cNvPr id="4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068c6107d4a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0" y="30632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D110DC26-A0C2-4896-9901-812D87C4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Then</a:t>
            </a:r>
            <a:endParaRPr sz="22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F39C098A-7245-43CB-AFD0-545B35F3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23360"/>
            <a:ext cx="2560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all four domains
Benchmark scaling to 10k+</a:t>
            </a:r>
            <a:endParaRPr sz="150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42F6BE70-8BE3-46D1-B8C0-B3F6B1D0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834640"/>
            <a:ext cx="868680" cy="868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8A0"/>
          </a:solidFill>
          <a:ln xmlns:a="http://schemas.openxmlformats.org/drawingml/2006/main" w="25400">
            <a:solidFill>
              <a:srgbClr val="22D3EE"/>
            </a:solidFill>
            <a:prstDash val="solid"/>
          </a:ln>
        </p:spPr>
      </p:sp>
      <p:pic>
        <p:nvPicPr>
          <p:cNvPr id="5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d6fc568124f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24160" y="30632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0E7A3392-2CD8-42F2-8DE3-72A15294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0116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Later</a:t>
            </a:r>
            <a:endParaRPr sz="2200"/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D9733341-6F36-4A85-A61A-BE1A2429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023360"/>
            <a:ext cx="25603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Multilingual + voice complaints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6709884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65cf7cd3eba41a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5DC90EE-B036-4FA0-A99D-4FA40FBE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6858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8A0"/>
          </a:solidFill>
        </p:spPr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f63bd2a714c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088" y="56692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24DE6FF-E11C-4B15-80DA-725A4CF8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7472"/>
            <a:ext cx="9601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Reliability &amp; Evaluation</a:t>
            </a:r>
            <a:endParaRPr sz="3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D80998E-2C93-43C8-8992-AA79D6A7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2240"/>
            <a:ext cx="1218895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A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F1FB261-1708-4727-93C2-F0A6F628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The Semicolons  |  SRMIST, Chennai  |  Samsung PRISM GenAI Hackathon 3.0  |  Theme 2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ECF3A3C-7F38-4746-8AD0-349B134C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796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10</a:t>
            </a:r>
            <a:endParaRPr sz="10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F6433A3-EE63-492C-9801-A0E0FBF4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539496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34FDC84-A96B-4D95-9520-AB216E83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54480"/>
            <a:ext cx="5029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4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1e588fd674f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011680"/>
            <a:ext cx="822960" cy="822960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F37CBCC-E3C8-44B7-B43F-985EAC2A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965960"/>
            <a:ext cx="3749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Reliability first</a:t>
            </a:r>
            <a:endParaRPr sz="21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76D1657-0DDD-4EF7-AF05-EF216DDC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514600"/>
            <a:ext cx="3749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Schema and catalog checks
Source-specific cache identity</a:t>
            </a:r>
            <a:endParaRPr sz="15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9E10E2A-2C89-44EB-B14A-96015688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54480"/>
            <a:ext cx="539496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6A29E96-04C1-451F-90C8-D569F500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54480"/>
            <a:ext cx="5029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4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f978d442f4e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6520" y="2011680"/>
            <a:ext cx="822960" cy="822960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D952E7B-5B5D-4459-B477-5865B0DA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965960"/>
            <a:ext cx="3749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Honest by design</a:t>
            </a:r>
            <a:endParaRPr sz="21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06B0DB72-D6A0-47FD-BC70-78D4DC3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514600"/>
            <a:ext cx="3749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no_match fallback, never invented steps or URLs</a:t>
            </a:r>
            <a:endParaRPr sz="150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B6CE2D96-F5A7-42B5-B2EB-8CA6FF13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39496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B6C34173-FC94-4C76-82C7-804CC541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5029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5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7c54600cb44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4389120"/>
            <a:ext cx="822960" cy="822960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F8056339-E8BC-4E78-8876-FCB159AB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343400"/>
            <a:ext cx="3749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Measured baseline</a:t>
            </a:r>
            <a:endParaRPr sz="21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02B492A-B497-4D0A-A94F-64B56742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892040"/>
            <a:ext cx="3749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20 supplied cases checked
LLM ablation remains future work</a:t>
            </a:r>
            <a:endParaRPr sz="150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EC1B4661-6419-4792-BDA9-048944EC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931920"/>
            <a:ext cx="5394960" cy="21945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20DFFEDB-02C6-44E1-982F-B98E5A5F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931920"/>
            <a:ext cx="50292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</p:spPr>
      </p:sp>
      <p:pic>
        <p:nvPicPr>
          <p:cNvPr id="5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7c6ca94b848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6520" y="4389120"/>
            <a:ext cx="822960" cy="822960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964A73D5-CCD2-42E5-A6C7-A7305BAD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343400"/>
            <a:ext cx="3749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Cost aware</a:t>
            </a:r>
            <a:endParaRPr sz="21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59FB35A4-C1C8-4687-9546-F04939DB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4892040"/>
            <a:ext cx="3749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Inference token metadata
Hosted cost needs provider rates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92841817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a7d45bf5e51410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5D5D20-ED0A-487D-A895-AB398A39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6858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8A0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b03c6421245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088" y="56692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80DB83E-2093-452A-AA57-205EEAD8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7472"/>
            <a:ext cx="96012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Submission Readiness</a:t>
            </a:r>
            <a:endParaRPr sz="3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8D235B4-2FC2-47FF-B298-4729BFC1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2240"/>
            <a:ext cx="1218895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A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8876F79-1F6C-4CBE-9DF6-92D8EE25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37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The Semicolons  |  SRMIST, Chennai  |  Samsung PRISM GenAI Hackathon 3.0  |  Theme 2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71166D-7197-4613-BF50-176E4ECD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7960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11</a:t>
            </a:r>
            <a:endParaRPr sz="10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F7DCFE2-9403-45D7-B745-DAB8F706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11064240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pic>
        <p:nvPicPr>
          <p:cNvPr id="4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0a201f333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1709928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774CB549-39BD-4FFA-9C95-3241BB71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1508760"/>
            <a:ext cx="868680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Working prototype code (public GitHub repo)</a:t>
            </a:r>
            <a:endParaRPr sz="18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42861333-A82E-4A61-BF7C-538F7A93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1691640"/>
            <a:ext cx="1005840" cy="43891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1E3CEE6-6F39-40EF-ABA8-075FBD48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169164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0F24"/>
                </a:solidFill>
                <a:latin typeface="Calibri"/>
                <a:ea typeface="Calibri"/>
                <a:cs typeface="Calibri"/>
              </a:rPr>
              <a:t>Ready</a:t>
            </a:r>
            <a:endParaRPr sz="14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FAC35AD-6743-4E30-86DD-C67E66E5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59736"/>
            <a:ext cx="11064240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e30911b4d4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2660904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8A341AF-5477-442B-AB57-78FA9FBD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459736"/>
            <a:ext cx="868680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README with reproducible setup + Docker files</a:t>
            </a:r>
            <a:endParaRPr sz="18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CEC45F00-221D-414E-940F-AE09C9AD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642616"/>
            <a:ext cx="1005840" cy="43891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F623E5B1-9D8C-4968-84D4-FB2E1CF4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642616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0F24"/>
                </a:solidFill>
                <a:latin typeface="Calibri"/>
                <a:ea typeface="Calibri"/>
                <a:cs typeface="Calibri"/>
              </a:rPr>
              <a:t>Ready</a:t>
            </a:r>
            <a:endParaRPr sz="140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37AD08FE-8995-4203-A9C5-ADFD1388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10712"/>
            <a:ext cx="11064240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4ea572cf9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3611880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62EB617D-3834-4B67-8AAC-DC7A8443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410712"/>
            <a:ext cx="868680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 video, max 5 min (YouTube / Drive link)</a:t>
            </a:r>
            <a:endParaRPr sz="180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151B1522-E0AD-455D-BE20-449A516D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593592"/>
            <a:ext cx="1005840" cy="43891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4DCF74C2-7E82-4883-964D-8ECA2731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593592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0F24"/>
                </a:solidFill>
                <a:latin typeface="Calibri"/>
                <a:ea typeface="Calibri"/>
                <a:cs typeface="Calibri"/>
              </a:rPr>
              <a:t>Pending</a:t>
            </a:r>
            <a:endParaRPr sz="140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E68149EE-E35D-491E-9C7B-5419D40B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61688"/>
            <a:ext cx="11064240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pic>
        <p:nvPicPr>
          <p:cNvPr id="6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25d02b85c4e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4562856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4B124A63-F8D5-4287-935E-25F69545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361688"/>
            <a:ext cx="868680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Presentation: SRMIST_TheSemicolons (PPT/PDF)</a:t>
            </a:r>
            <a:endParaRPr sz="1800"/>
          </a:p>
        </p:txBody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43305497-62F9-44A4-A880-A657000C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4544568"/>
            <a:ext cx="1005840" cy="43891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1481FA42-2246-4BC6-BC1A-91C6FE84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4544568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0F24"/>
                </a:solidFill>
                <a:latin typeface="Calibri"/>
                <a:ea typeface="Calibri"/>
                <a:cs typeface="Calibri"/>
              </a:rPr>
              <a:t>Ready</a:t>
            </a:r>
            <a:endParaRPr sz="140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B273E906-5015-4BCB-B1AA-D6E8B9DD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12664"/>
            <a:ext cx="11064240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1B3A"/>
          </a:solidFill>
          <a:ln xmlns:a="http://schemas.openxmlformats.org/drawingml/2006/main" w="12700">
            <a:solidFill>
              <a:srgbClr val="2A3566"/>
            </a:solidFill>
            <a:prstDash val="solid"/>
          </a:ln>
        </p:spPr>
      </p:sp>
      <p:pic>
        <p:nvPicPr>
          <p:cNvPr id="6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5d2d37d3643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55138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30" name="Text 22">
            <a:extLst xmlns:a="http://schemas.openxmlformats.org/drawingml/2006/main">
              <a:ext uri="{FF2B5EF4-FFF2-40B4-BE49-F238E27FC236}">
                <a16:creationId xmlns:a16="http://schemas.microsoft.com/office/drawing/2014/main" id="{EC2758DF-CC4F-48AE-94D4-2D95BC58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312664"/>
            <a:ext cx="868680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Release tag PRISM_GENAI_HACKATHON_Y2026 on final commit</a:t>
            </a:r>
            <a:endParaRPr sz="1800"/>
          </a:p>
        </p:txBody>
      </p:sp>
      <p:sp>
        <p:nvSpPr>
          <p:cNvPr id="31" name="Shape 23">
            <a:extLst xmlns:a="http://schemas.openxmlformats.org/drawingml/2006/main">
              <a:ext uri="{FF2B5EF4-FFF2-40B4-BE49-F238E27FC236}">
                <a16:creationId xmlns:a16="http://schemas.microsoft.com/office/drawing/2014/main" id="{09775619-28A8-441D-A75D-AEA76FF6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495544"/>
            <a:ext cx="1005840" cy="43891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</p:spPr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A0FAA6F3-3BCC-4699-A32B-3EDAF49A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495544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0F24"/>
                </a:solidFill>
                <a:latin typeface="Calibri"/>
                <a:ea typeface="Calibri"/>
                <a:cs typeface="Calibri"/>
              </a:rPr>
              <a:t>Pending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78856312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5e6f6b6fa7e4d8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641CDBA-FE2B-44BC-9D51-7E2FBBF9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3120"/>
            <a:ext cx="12188952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</a:t>
            </a:r>
            <a:endParaRPr sz="6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E86F9B-2A59-4F4F-B5BA-ABCFACBE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74720"/>
            <a:ext cx="12188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The Semicolons  |  SRM Institute of Science and Technology, Chennai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A8DC04A-7044-4B0A-9DAE-ACD70133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23360"/>
            <a:ext cx="121889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Vaibhavi Sharma  -  Kottadi Lakshmi  -  Vivek Vaddipalli</a:t>
            </a:r>
            <a:endParaRPr sz="1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8461D4-A212-4D18-9755-15B861F3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6480"/>
            <a:ext cx="121889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A9B4D6"/>
                </a:solidFill>
                <a:latin typeface="Calibri"/>
                <a:ea typeface="Calibri"/>
                <a:cs typeface="Calibri"/>
              </a:rPr>
              <a:t>Organised by the Language AI Team and the PRISM Team, Samsung R&amp;D Institute India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9235539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2026-10-04T11:47:47.7980000Z</dcterms:created>
  <dcterms:modified xsi:type="dcterms:W3CDTF">2026-10-04T11:47:47.7980000Z</dcterms:modified>
</coreProperties>
</file>